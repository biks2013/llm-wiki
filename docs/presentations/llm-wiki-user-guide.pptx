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</p:sp>
      <p:sp>
        <p:nvSpPr>
          <p:cNvPr id="3" name="Note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This deck shows how to use llm-wiki day to day: set it up once, then feed it sources, search it, ask it questions and keep it healthy.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RAG retrieves fragments every time; nothing accumulates. llm-wiki compiles knowledge into pages the model maintains, so every source and every question makes the wiki richer.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layers. Raw is immutable. Wiki is owned by the model. The schema file tells any agent how the wiki is structured and how to maintain it.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one: install, configure, initialise. Ten minutes, done once.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Node 22 and pnpm. Build once; link to get llm-wiki on your PATH, or run node dist/cli.js.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tiers, lowest to highest priority. Put long-lived settings in the tool-agents env file; override per run with flags. A missing setting raises an error — there are no hidden defaults.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Eight providers out of the box, each read through the vendor's canonical variable names — never a tool-specific prefix. Any of them can be the chat, embedding or parser model independently.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init creates the layout and the schema. Open the folder in Obsidian to browse; open it in Claude Code to let the agent maintain it.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two: the daily loop. Ingest, search, query, lint. Index and log run alongside.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Ingest is the heart. Files outside raw are copied in. The model gets the index and related pages as context, writes a summary page and touches the entity and concept pages. Then the index, the search index, the ledger and the log are updated. Unchanged sources are skipped.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Search is local and instant. BM25 needs no model. Compute embeddings once with index --embed and hybrid search fuses both rankings.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Query reads the index, searches, loads the top pages within a character budget, and answers with wikilink citations. With --file the answer becomes a synthesis page, indexed and logged, so your questions compound too.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Lint keeps the wiki healthy. The structural pass is free and deterministic. The LLM pass reads all pages within a budget and reports contradictions, stale claims, missing pages and good next questions. --report files it as a page.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index.md is content-oriented and generated; log.md is chronological and append-only. Both are what the gist calls the two special files.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three: PDF and DOCX. A dedicated parser model converts them; the original is kept and referenced.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Ingest a PDF and it is converted first, then ingested like any markdown source. parse converts only, so you can review. Providers with native document input get the PDF itself; local servers get pdf.js text; DOCX always goes through mammoth to HTML first.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what provenance looks like. The conversion carries the original path, type, hash and parser. The wiki source page carries original too, and links it in its body.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four: working with agents. The schema makes Claude Code the maintainer; the MCP server gives it the tools.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wiki root in Claude Code or Codex. The CLAUDE.md / AGENTS.md written by init is the contract: layout, page format, link rules, and the three workflows. Co-evolve it with the agent as your domain settles.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Register the MCP server once and the agent gets native tools: search, read, list, write pages, append the log, lint, reindex. Writing through wiki_write_page keeps index and search index current.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ever write a page by hand, this is the shape. Frontmatter drives the index; wikilinks drive the graph and the lint.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real run on a four-line deployment note: eight pages, hybrid search ranked the right chunk first, the filed query cited five pages, and lint suggested the one concept that deserved its own page.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errors you will meet and what they mean. All of them are deliberate: the tool prefers to stop with a clear message than to guess.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whole workflow on one slide. Thank you.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marL="0" algn="l" rtl="0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titleStyle>
    <p:bodyStyle>
      <a:lvl1pPr marL="0" algn="l" rtl="0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lvl1pPr marL="0" algn="l" rtl="0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jpe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jpe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jpe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jpe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7239000" y="635000"/>
            <a:ext cx="4572000" cy="5588000"/>
          </a:xfrm>
          <a:prstGeom prst="roundRect">
            <a:avLst>
              <a:gd name="adj" fmla="val 2500"/>
            </a:avLst>
          </a:prstGeom>
          <a:solidFill>
            <a:srgbClr val="2E3238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3" name="Picture 3" descr=""/>
          <p:cNvPicPr>
            <a:picLocks noChangeAspect="1"/>
          </p:cNvPicPr>
          <p:nvPr/>
        </p:nvPicPr>
        <p:blipFill>
          <a:blip r:embed="rId2"/>
          <a:srcRect l="0" t="4381" r="0" b="4381"/>
          <a:stretch>
            <a:fillRect/>
          </a:stretch>
        </p:blipFill>
        <p:spPr>
          <a:xfrm>
            <a:off x="7239000" y="635000"/>
            <a:ext cx="4572000" cy="5588000"/>
          </a:xfrm>
          <a:prstGeom prst="roundRect">
            <a:avLst>
              <a:gd name="adj" fmla="val 2500"/>
            </a:avLst>
          </a:prstGeom>
        </p:spPr>
      </p:pic>
      <p:sp>
        <p:nvSpPr>
          <p:cNvPr id="4" name="Shape 4"/>
          <p:cNvSpPr/>
          <p:nvPr/>
        </p:nvSpPr>
        <p:spPr>
          <a:xfrm>
            <a:off x="5715000" y="0"/>
            <a:ext cx="1524000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100000">
                <a:srgbClr val="111316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Text 5"/>
          <p:cNvSpPr txBox="1"/>
          <p:nvPr/>
        </p:nvSpPr>
        <p:spPr>
          <a:xfrm>
            <a:off x="571500" y="956247"/>
            <a:ext cx="1752021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5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User guide · llm-wiki</a:t>
            </a:r>
            <a:endParaRPr lang="en-US" kern="100" sz="800" b="1" cap="all" spc="15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6" name="Text 6"/>
          <p:cNvSpPr txBox="1"/>
          <p:nvPr/>
        </p:nvSpPr>
        <p:spPr>
          <a:xfrm>
            <a:off x="571500" y="1450416"/>
            <a:ext cx="3813191" cy="100318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7916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4400" b="0" spc="-75" dirty="0">
                <a:solidFill>
                  <a:srgbClr val="F6F3EC"/>
                </a:solidFill>
                <a:latin typeface="Avenir Next Ultra Light"/>
                <a:ea typeface="Avenir Next Ultra Light"/>
                <a:cs typeface="Avenir Next Ultra Light"/>
              </a:rPr>
              <a:t>A wiki your LLM</a:t>
            </a:r>
            <a:br>
              <a:rPr lang="en-US" kern="100" sz="4400" b="0" spc="-75" dirty="0">
                <a:solidFill>
                  <a:srgbClr val="F6F3EC"/>
                </a:solidFill>
                <a:latin typeface="Avenir Next Ultra Light"/>
                <a:ea typeface="Avenir Next Ultra Light"/>
                <a:cs typeface="Avenir Next Ultra Light"/>
              </a:rPr>
            </a:br>
            <a:r>
              <a:rPr lang="en-US" kern="100" sz="4400" b="0" i="1" spc="-75" dirty="0">
                <a:solidFill>
                  <a:srgbClr val="E08A5E"/>
                </a:solidFill>
                <a:latin typeface="Avenir Next"/>
                <a:ea typeface="Avenir Next"/>
                <a:cs typeface="Avenir Next"/>
              </a:rPr>
              <a:t>keeps for you.</a:t>
            </a:r>
            <a:endParaRPr lang="en-US" kern="100" sz="4400" b="0" i="1" spc="-75" dirty="0">
              <a:solidFill>
                <a:srgbClr val="E08A5E"/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7" name="Text 7"/>
          <p:cNvSpPr txBox="1"/>
          <p:nvPr/>
        </p:nvSpPr>
        <p:spPr>
          <a:xfrm>
            <a:off x="571500" y="2867720"/>
            <a:ext cx="5195870" cy="438645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0416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400" b="0" dirty="0">
                <a:solidFill>
                  <a:srgbClr val="F6F3EC">
                    <a:alpha val="86000"/>
                  </a:srgbClr>
                </a:solidFill>
                <a:latin typeface="Avenir Next"/>
                <a:ea typeface="Avenir Next"/>
                <a:cs typeface="Avenir Next"/>
              </a:rPr>
              <a:t>Index and search your personal documentation with Karpathy's LLM Wiki pattern: compiled once, kept current, cross-linked.</a:t>
            </a:r>
            <a:endParaRPr lang="en-US" kern="100" sz="1400" b="0" dirty="0">
              <a:solidFill>
                <a:srgbClr val="F6F3EC">
                  <a:alpha val="86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8" name="Text 8"/>
          <p:cNvSpPr txBox="1"/>
          <p:nvPr/>
        </p:nvSpPr>
        <p:spPr>
          <a:xfrm>
            <a:off x="571500" y="3880304"/>
            <a:ext cx="1095851" cy="140437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458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0" spc="20" dirty="0">
                <a:solidFill>
                  <a:srgbClr val="F6F3EC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BikS2013 · field notes</a:t>
            </a:r>
            <a:endParaRPr lang="en-US" kern="100" sz="800" b="0" spc="20" dirty="0">
              <a:solidFill>
                <a:srgbClr val="F6F3EC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9" name="Text 9"/>
          <p:cNvSpPr txBox="1"/>
          <p:nvPr/>
        </p:nvSpPr>
        <p:spPr>
          <a:xfrm>
            <a:off x="571500" y="4058104"/>
            <a:ext cx="1151676" cy="140437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458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0" spc="20" dirty="0">
                <a:solidFill>
                  <a:srgbClr val="F6F3EC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Athens · October 2026</a:t>
            </a:r>
            <a:endParaRPr lang="en-US" kern="100" sz="800" b="0" spc="20" dirty="0">
              <a:solidFill>
                <a:srgbClr val="F6F3EC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pic>
        <p:nvPicPr>
          <p:cNvPr id="10" name="Picture 10" descr="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71500" y="5994400"/>
            <a:ext cx="1801707" cy="355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71500" y="448247"/>
            <a:ext cx="1041678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25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00 · The idea</a:t>
            </a:r>
            <a:endParaRPr lang="en-US" kern="100" sz="800" b="1" cap="all" spc="125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71500" y="725449"/>
            <a:ext cx="4525701" cy="71725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Not retrieval at question time</a:t>
            </a:r>
            <a:b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</a:b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— </a:t>
            </a:r>
            <a:r>
              <a:rPr lang="en-US" kern="100" sz="2800" b="0" i="1" spc="-50" dirty="0">
                <a:solidFill>
                  <a:srgbClr val="C8623A"/>
                </a:solidFill>
                <a:latin typeface="Avenir Next"/>
                <a:ea typeface="Avenir Next"/>
                <a:cs typeface="Avenir Next"/>
              </a:rPr>
              <a:t>compilation</a:t>
            </a: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 at ingest time.</a:t>
            </a:r>
            <a:endParaRPr lang="en-US" kern="100" sz="2800" b="0" spc="-50" dirty="0">
              <a:solidFill>
                <a:srgbClr val="1B1D21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4" name="Shape 4"/>
          <p:cNvSpPr/>
          <p:nvPr/>
        </p:nvSpPr>
        <p:spPr>
          <a:xfrm>
            <a:off x="571500" y="1841500"/>
            <a:ext cx="3810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hape 5"/>
          <p:cNvSpPr/>
          <p:nvPr/>
        </p:nvSpPr>
        <p:spPr>
          <a:xfrm>
            <a:off x="4111923" y="2369741"/>
            <a:ext cx="364232" cy="158750"/>
          </a:xfrm>
          <a:prstGeom prst="roundRect">
            <a:avLst>
              <a:gd name="adj" fmla="val 20000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71500" y="2130654"/>
            <a:ext cx="447008" cy="36807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3200" b="0" spc="-100" dirty="0">
                <a:solidFill>
                  <a:srgbClr val="C8623A"/>
                </a:solidFill>
                <a:latin typeface="Avenir Next Ultra Light"/>
                <a:ea typeface="Avenir Next Ultra Light"/>
                <a:cs typeface="Avenir Next Ultra Light"/>
              </a:rPr>
              <a:t>01</a:t>
            </a:r>
            <a:endParaRPr lang="en-US" kern="100" sz="3200" b="0" spc="-100" dirty="0">
              <a:solidFill>
                <a:srgbClr val="C8623A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7" name="Text 7"/>
          <p:cNvSpPr txBox="1"/>
          <p:nvPr/>
        </p:nvSpPr>
        <p:spPr>
          <a:xfrm>
            <a:off x="1422400" y="2096922"/>
            <a:ext cx="1774103" cy="19288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3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You curate the sources</a:t>
            </a:r>
            <a:endParaRPr lang="en-US" kern="100" sz="13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8" name="Text 8"/>
          <p:cNvSpPr txBox="1"/>
          <p:nvPr/>
        </p:nvSpPr>
        <p:spPr>
          <a:xfrm>
            <a:off x="1422400" y="2350564"/>
            <a:ext cx="5058045" cy="384302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Drop articles, notes, PDFs and DOCX files into </a:t>
            </a:r>
            <a:r>
              <a:rPr lang="en-US" kern="100" sz="900" b="0" spc="35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00" b="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raw/</a:t>
            </a:r>
            <a:r>
              <a:rPr lang="en-US" kern="100" sz="900" b="0" spc="35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. They are never modified — this</a:t>
            </a:r>
            <a:b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is your source of truth.</a:t>
            </a:r>
            <a:endParaRPr lang="en-US" kern="100" sz="100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9" name="Text 9"/>
          <p:cNvSpPr txBox="1"/>
          <p:nvPr/>
        </p:nvSpPr>
        <p:spPr>
          <a:xfrm>
            <a:off x="571500" y="2989094"/>
            <a:ext cx="447008" cy="36807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3200" b="0" spc="-100" dirty="0">
                <a:solidFill>
                  <a:srgbClr val="C8623A"/>
                </a:solidFill>
                <a:latin typeface="Avenir Next Ultra Light"/>
                <a:ea typeface="Avenir Next Ultra Light"/>
                <a:cs typeface="Avenir Next Ultra Light"/>
              </a:rPr>
              <a:t>02</a:t>
            </a:r>
            <a:endParaRPr lang="en-US" kern="100" sz="3200" b="0" spc="-100" dirty="0">
              <a:solidFill>
                <a:srgbClr val="C8623A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10" name="Text 10"/>
          <p:cNvSpPr txBox="1"/>
          <p:nvPr/>
        </p:nvSpPr>
        <p:spPr>
          <a:xfrm>
            <a:off x="1422400" y="2955363"/>
            <a:ext cx="1858716" cy="19288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3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The LLM writes the wiki</a:t>
            </a:r>
            <a:endParaRPr lang="en-US" kern="100" sz="13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1" name="Text 11"/>
          <p:cNvSpPr txBox="1"/>
          <p:nvPr/>
        </p:nvSpPr>
        <p:spPr>
          <a:xfrm>
            <a:off x="1422400" y="3209004"/>
            <a:ext cx="5051750" cy="384302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Every ingest produces a summary page and updates the entity and concept pages it</a:t>
            </a:r>
            <a:b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touches, with wikilinks and citations.</a:t>
            </a:r>
            <a:endParaRPr lang="en-US" kern="100" sz="100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2" name="Text 12"/>
          <p:cNvSpPr txBox="1"/>
          <p:nvPr/>
        </p:nvSpPr>
        <p:spPr>
          <a:xfrm>
            <a:off x="571500" y="3847535"/>
            <a:ext cx="447008" cy="36807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3200" b="0" spc="-100" dirty="0">
                <a:solidFill>
                  <a:srgbClr val="C8623A"/>
                </a:solidFill>
                <a:latin typeface="Avenir Next Ultra Light"/>
                <a:ea typeface="Avenir Next Ultra Light"/>
                <a:cs typeface="Avenir Next Ultra Light"/>
              </a:rPr>
              <a:t>03</a:t>
            </a:r>
            <a:endParaRPr lang="en-US" kern="100" sz="3200" b="0" spc="-100" dirty="0">
              <a:solidFill>
                <a:srgbClr val="C8623A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13" name="Text 13"/>
          <p:cNvSpPr txBox="1"/>
          <p:nvPr/>
        </p:nvSpPr>
        <p:spPr>
          <a:xfrm>
            <a:off x="1422400" y="3813804"/>
            <a:ext cx="1771833" cy="19288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3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You ask, it compounds</a:t>
            </a:r>
            <a:endParaRPr lang="en-US" kern="100" sz="13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4" name="Text 14"/>
          <p:cNvSpPr txBox="1"/>
          <p:nvPr/>
        </p:nvSpPr>
        <p:spPr>
          <a:xfrm>
            <a:off x="1422400" y="4067445"/>
            <a:ext cx="4622078" cy="384302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Search locally, ask with citations, file good answers back as pages, and lint for</a:t>
            </a:r>
            <a:b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contradictions and gaps.</a:t>
            </a:r>
            <a:endParaRPr lang="en-US" kern="100" sz="100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5" name="Text 15"/>
          <p:cNvSpPr txBox="1"/>
          <p:nvPr/>
        </p:nvSpPr>
        <p:spPr>
          <a:xfrm>
            <a:off x="571500" y="6032768"/>
            <a:ext cx="4295180" cy="124866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666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700" b="0" dirty="0">
                <a:solidFill>
                  <a:srgbClr val="1B1D21">
                    <a:alpha val="50000"/>
                  </a:srgbClr>
                </a:solidFill>
                <a:latin typeface="Avenir Next"/>
                <a:ea typeface="Avenir Next"/>
                <a:cs typeface="Avenir Next"/>
              </a:rPr>
              <a:t>Pattern: Andrej Karpathy, "LLM Wiki" (gist, April 2026). Implementation: github.com/BikS2013/llm-wiki.</a:t>
            </a:r>
            <a:endParaRPr lang="en-US" kern="100" sz="700" b="0" dirty="0">
              <a:solidFill>
                <a:srgbClr val="1B1D21">
                  <a:alpha val="50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6985000" y="0"/>
            <a:ext cx="5207000" cy="6858000"/>
          </a:xfrm>
          <a:prstGeom prst="rect">
            <a:avLst/>
          </a:prstGeom>
          <a:solidFill>
            <a:srgbClr val="2E3238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17" name="Picture 17" descr=""/>
          <p:cNvPicPr>
            <a:picLocks noChangeAspect="1"/>
          </p:cNvPicPr>
          <p:nvPr/>
        </p:nvPicPr>
        <p:blipFill>
          <a:blip r:embed="rId2"/>
          <a:srcRect l="0" t="840" r="0" b="840"/>
          <a:stretch>
            <a:fillRect/>
          </a:stretch>
        </p:blipFill>
        <p:spPr>
          <a:xfrm>
            <a:off x="6985000" y="0"/>
            <a:ext cx="5207000" cy="6858000"/>
          </a:xfrm>
          <a:prstGeom prst="rect">
            <a:avLst/>
          </a:prstGeom>
        </p:spPr>
      </p:pic>
      <p:pic>
        <p:nvPicPr>
          <p:cNvPr id="18" name="Picture 18" descr="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19" name="Text 19"/>
          <p:cNvSpPr txBox="1"/>
          <p:nvPr/>
        </p:nvSpPr>
        <p:spPr>
          <a:xfrm>
            <a:off x="6569770" y="6459106"/>
            <a:ext cx="85030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55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2</a:t>
            </a:r>
            <a:endParaRPr lang="en-US" kern="100" sz="900" b="0" spc="20" dirty="0">
              <a:solidFill>
                <a:srgbClr val="1B1D21">
                  <a:alpha val="55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20" name="Text 20"/>
          <p:cNvSpPr txBox="1"/>
          <p:nvPr/>
        </p:nvSpPr>
        <p:spPr>
          <a:xfrm>
            <a:off x="1358900" y="6459106"/>
            <a:ext cx="113753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38500"/>
                  </a:srgbClr>
                </a:solidFill>
                <a:latin typeface="Avenir Next"/>
                <a:ea typeface="Avenir Next"/>
                <a:cs typeface="Avenir Next"/>
              </a:rPr>
              <a:t>llm-wiki · user guide</a:t>
            </a:r>
            <a:endParaRPr lang="en-US" kern="100" sz="900" b="0" spc="20" dirty="0">
              <a:solidFill>
                <a:srgbClr val="1B1D21">
                  <a:alpha val="385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71500" y="448247"/>
            <a:ext cx="1041678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25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00 · The idea</a:t>
            </a:r>
            <a:endParaRPr lang="en-US" kern="100" sz="800" b="1" cap="all" spc="125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71500" y="725449"/>
            <a:ext cx="3997381" cy="34389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Three layers in one folder.</a:t>
            </a:r>
            <a:endParaRPr lang="en-US" kern="100" sz="2800" b="0" spc="-50" dirty="0">
              <a:solidFill>
                <a:srgbClr val="1B1D21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4" name="Shape 4"/>
          <p:cNvSpPr/>
          <p:nvPr/>
        </p:nvSpPr>
        <p:spPr>
          <a:xfrm>
            <a:off x="571500" y="1841500"/>
            <a:ext cx="3810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Text 5"/>
          <p:cNvSpPr txBox="1"/>
          <p:nvPr/>
        </p:nvSpPr>
        <p:spPr>
          <a:xfrm>
            <a:off x="4038600" y="3365856"/>
            <a:ext cx="292100" cy="38064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363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200" b="0" dirty="0">
                <a:solidFill>
                  <a:srgbClr val="C8623A"/>
                </a:solidFill>
                <a:latin typeface="Avenir Next Ultra Light"/>
                <a:ea typeface="Avenir Next Ultra Light"/>
                <a:cs typeface="Avenir Next Ultra Light"/>
              </a:rPr>
              <a:t>→</a:t>
            </a:r>
            <a:endParaRPr lang="en-US" kern="100" sz="2200" b="0" dirty="0">
              <a:solidFill>
                <a:srgbClr val="C8623A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6" name="Text 6"/>
          <p:cNvSpPr txBox="1"/>
          <p:nvPr/>
        </p:nvSpPr>
        <p:spPr>
          <a:xfrm>
            <a:off x="7874000" y="3365856"/>
            <a:ext cx="292100" cy="38064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363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200" b="0" dirty="0">
                <a:solidFill>
                  <a:srgbClr val="C8623A"/>
                </a:solidFill>
                <a:latin typeface="Avenir Next Ultra Light"/>
                <a:ea typeface="Avenir Next Ultra Light"/>
                <a:cs typeface="Avenir Next Ultra Light"/>
              </a:rPr>
              <a:t>→</a:t>
            </a:r>
            <a:endParaRPr lang="en-US" kern="100" sz="2200" b="0" dirty="0">
              <a:solidFill>
                <a:srgbClr val="C8623A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7" name="Shape 7"/>
          <p:cNvSpPr/>
          <p:nvPr/>
        </p:nvSpPr>
        <p:spPr>
          <a:xfrm>
            <a:off x="571500" y="2222500"/>
            <a:ext cx="3378200" cy="2667000"/>
          </a:xfrm>
          <a:prstGeom prst="roundRect">
            <a:avLst>
              <a:gd name="adj" fmla="val 4286"/>
            </a:avLst>
          </a:prstGeom>
          <a:solidFill>
            <a:srgbClr val="F6F3EC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Shape 8"/>
          <p:cNvSpPr/>
          <p:nvPr/>
        </p:nvSpPr>
        <p:spPr>
          <a:xfrm>
            <a:off x="574675" y="2225675"/>
            <a:ext cx="3371850" cy="2660650"/>
          </a:xfrm>
          <a:prstGeom prst="roundRect">
            <a:avLst>
              <a:gd name="adj" fmla="val 4177"/>
            </a:avLst>
          </a:prstGeom>
          <a:noFill/>
          <a:ln w="6350">
            <a:solidFill>
              <a:srgbClr val="1B1D21">
                <a:alpha val="8000"/>
              </a:srgbClr>
            </a:solidFill>
            <a:miter lim="800000"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806450" y="2461387"/>
            <a:ext cx="1182838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Layer 1 · immutable</a:t>
            </a:r>
            <a:endParaRPr lang="en-US" kern="100" sz="650" b="1" cap="all" spc="8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0" name="Text 10"/>
          <p:cNvSpPr txBox="1"/>
          <p:nvPr/>
        </p:nvSpPr>
        <p:spPr>
          <a:xfrm>
            <a:off x="806450" y="2638368"/>
            <a:ext cx="1234123" cy="235325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5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700" b="0" spc="-25" dirty="0">
                <a:solidFill>
                  <a:srgbClr val="1B1D21"/>
                </a:solidFill>
                <a:latin typeface="Avenir Next Medium"/>
                <a:ea typeface="Avenir Next Medium"/>
                <a:cs typeface="Avenir Next Medium"/>
              </a:rPr>
              <a:t>Raw sources</a:t>
            </a:r>
            <a:endParaRPr lang="en-US" kern="100" sz="1700" b="0" spc="-25" dirty="0">
              <a:solidFill>
                <a:srgbClr val="1B1D21"/>
              </a:solidFill>
              <a:latin typeface="Avenir Next Medium"/>
              <a:ea typeface="Avenir Next Medium"/>
              <a:cs typeface="Avenir Next Medium"/>
            </a:endParaRPr>
          </a:p>
        </p:txBody>
      </p:sp>
      <p:sp>
        <p:nvSpPr>
          <p:cNvPr id="11" name="Text 11"/>
          <p:cNvSpPr txBox="1"/>
          <p:nvPr/>
        </p:nvSpPr>
        <p:spPr>
          <a:xfrm>
            <a:off x="806450" y="2985610"/>
            <a:ext cx="2845832" cy="547173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50" b="0" dirty="0">
                <a:solidFill>
                  <a:srgbClr val="1B1D21">
                    <a:alpha val="80000"/>
                  </a:srgbClr>
                </a:solidFill>
                <a:latin typeface="Avenir Next"/>
                <a:ea typeface="Avenir Next"/>
                <a:cs typeface="Avenir Next"/>
              </a:rPr>
              <a:t>Your documents, exactly as you added them. Read, never written — except the markdown conversion placed beside a PDF or DOCX.</a:t>
            </a:r>
            <a:endParaRPr lang="en-US" kern="100" sz="950" b="0" dirty="0">
              <a:solidFill>
                <a:srgbClr val="1B1D21">
                  <a:alpha val="80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2" name="Text 12"/>
          <p:cNvSpPr txBox="1"/>
          <p:nvPr/>
        </p:nvSpPr>
        <p:spPr>
          <a:xfrm>
            <a:off x="806450" y="3662355"/>
            <a:ext cx="1149096" cy="742740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4166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5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raw/article.md</a:t>
            </a:r>
            <a:br>
              <a:rPr lang="en-US" kern="100" sz="85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</a:br>
            <a:r>
              <a:rPr lang="en-US" kern="100" sz="85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raw/report.pdf</a:t>
            </a:r>
            <a:br>
              <a:rPr lang="en-US" kern="100" sz="85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</a:br>
            <a:r>
              <a:rPr lang="en-US" kern="100" sz="85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raw/report.pdf.md</a:t>
            </a:r>
            <a:br>
              <a:rPr lang="en-US" kern="100" sz="85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</a:br>
            <a:r>
              <a:rPr lang="en-US" kern="100" sz="85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raw/assets/</a:t>
            </a:r>
            <a:endParaRPr lang="en-US" kern="100" sz="85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4406900" y="2222500"/>
            <a:ext cx="3378200" cy="2667000"/>
          </a:xfrm>
          <a:prstGeom prst="roundRect">
            <a:avLst>
              <a:gd name="adj" fmla="val 4286"/>
            </a:avLst>
          </a:prstGeom>
          <a:solidFill>
            <a:srgbClr val="1B1D21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635500" y="2455037"/>
            <a:ext cx="1182838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E08A5E"/>
                </a:solidFill>
                <a:latin typeface="Menlo"/>
                <a:ea typeface="Menlo"/>
                <a:cs typeface="Menlo"/>
              </a:rPr>
              <a:t>Layer 2 · LLM-owned</a:t>
            </a:r>
            <a:endParaRPr lang="en-US" kern="100" sz="650" b="1" cap="all" spc="80" dirty="0">
              <a:solidFill>
                <a:srgbClr val="E08A5E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5" name="Text 15"/>
          <p:cNvSpPr txBox="1"/>
          <p:nvPr/>
        </p:nvSpPr>
        <p:spPr>
          <a:xfrm>
            <a:off x="4635500" y="2632018"/>
            <a:ext cx="821476" cy="235325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5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700" b="0" spc="-25" dirty="0">
                <a:solidFill>
                  <a:srgbClr val="F6F3EC"/>
                </a:solidFill>
                <a:latin typeface="Avenir Next Medium"/>
                <a:ea typeface="Avenir Next Medium"/>
                <a:cs typeface="Avenir Next Medium"/>
              </a:rPr>
              <a:t>The wiki</a:t>
            </a:r>
            <a:endParaRPr lang="en-US" kern="100" sz="1700" b="0" spc="-25" dirty="0">
              <a:solidFill>
                <a:srgbClr val="F6F3EC"/>
              </a:solidFill>
              <a:latin typeface="Avenir Next Medium"/>
              <a:ea typeface="Avenir Next Medium"/>
              <a:cs typeface="Avenir Next Medium"/>
            </a:endParaRPr>
          </a:p>
        </p:txBody>
      </p:sp>
      <p:sp>
        <p:nvSpPr>
          <p:cNvPr id="16" name="Text 16"/>
          <p:cNvSpPr txBox="1"/>
          <p:nvPr/>
        </p:nvSpPr>
        <p:spPr>
          <a:xfrm>
            <a:off x="4635500" y="2979260"/>
            <a:ext cx="2891677" cy="547173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50" b="0" dirty="0">
                <a:solidFill>
                  <a:srgbClr val="F6F3EC">
                    <a:alpha val="80000"/>
                  </a:srgbClr>
                </a:solidFill>
                <a:latin typeface="Avenir Next"/>
                <a:ea typeface="Avenir Next"/>
                <a:cs typeface="Avenir Next"/>
              </a:rPr>
              <a:t>Interlinked markdown pages the model creates and keeps consistent, plus a generated catalog and an append-only log.</a:t>
            </a:r>
            <a:endParaRPr lang="en-US" kern="100" sz="950" b="0" dirty="0">
              <a:solidFill>
                <a:srgbClr val="F6F3EC">
                  <a:alpha val="80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7" name="Text 17"/>
          <p:cNvSpPr txBox="1"/>
          <p:nvPr/>
        </p:nvSpPr>
        <p:spPr>
          <a:xfrm>
            <a:off x="4635500" y="3656005"/>
            <a:ext cx="1824974" cy="742740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4166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50" b="0" dirty="0">
                <a:solidFill>
                  <a:srgbClr val="F6F3EC">
                    <a:alpha val="85000"/>
                  </a:srgbClr>
                </a:solidFill>
                <a:latin typeface="Menlo"/>
                <a:ea typeface="Menlo"/>
                <a:cs typeface="Menlo"/>
              </a:rPr>
              <a:t>wiki/index.md · wiki/log.md</a:t>
            </a:r>
            <a:br>
              <a:rPr lang="en-US" kern="100" sz="850" b="0" dirty="0">
                <a:solidFill>
                  <a:srgbClr val="F6F3EC">
                    <a:alpha val="85000"/>
                  </a:srgbClr>
                </a:solidFill>
                <a:latin typeface="Menlo"/>
                <a:ea typeface="Menlo"/>
                <a:cs typeface="Menlo"/>
              </a:rPr>
            </a:br>
            <a:r>
              <a:rPr lang="en-US" kern="100" sz="850" b="0" dirty="0">
                <a:solidFill>
                  <a:srgbClr val="F6F3EC">
                    <a:alpha val="85000"/>
                  </a:srgbClr>
                </a:solidFill>
                <a:latin typeface="Menlo"/>
                <a:ea typeface="Menlo"/>
                <a:cs typeface="Menlo"/>
              </a:rPr>
              <a:t>wiki/sources/ · entities/</a:t>
            </a:r>
            <a:br>
              <a:rPr lang="en-US" kern="100" sz="850" b="0" dirty="0">
                <a:solidFill>
                  <a:srgbClr val="F6F3EC">
                    <a:alpha val="85000"/>
                  </a:srgbClr>
                </a:solidFill>
                <a:latin typeface="Menlo"/>
                <a:ea typeface="Menlo"/>
                <a:cs typeface="Menlo"/>
              </a:rPr>
            </a:br>
            <a:r>
              <a:rPr lang="en-US" kern="100" sz="850" b="0" dirty="0">
                <a:solidFill>
                  <a:srgbClr val="F6F3EC">
                    <a:alpha val="85000"/>
                  </a:srgbClr>
                </a:solidFill>
                <a:latin typeface="Menlo"/>
                <a:ea typeface="Menlo"/>
                <a:cs typeface="Menlo"/>
              </a:rPr>
              <a:t>wiki/concepts/ · syntheses/</a:t>
            </a:r>
            <a:br>
              <a:rPr lang="en-US" kern="100" sz="850" b="0" dirty="0">
                <a:solidFill>
                  <a:srgbClr val="F6F3EC">
                    <a:alpha val="85000"/>
                  </a:srgbClr>
                </a:solidFill>
                <a:latin typeface="Menlo"/>
                <a:ea typeface="Menlo"/>
                <a:cs typeface="Menlo"/>
              </a:rPr>
            </a:br>
            <a:r>
              <a:rPr lang="en-US" kern="100" sz="850" b="0" dirty="0">
                <a:solidFill>
                  <a:srgbClr val="F6F3EC">
                    <a:alpha val="85000"/>
                  </a:srgbClr>
                </a:solidFill>
                <a:latin typeface="Menlo"/>
                <a:ea typeface="Menlo"/>
                <a:cs typeface="Menlo"/>
              </a:rPr>
              <a:t>wiki/lint/</a:t>
            </a:r>
            <a:endParaRPr lang="en-US" kern="100" sz="850" b="0" dirty="0">
              <a:solidFill>
                <a:srgbClr val="F6F3EC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8242300" y="2222500"/>
            <a:ext cx="3378200" cy="26670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Shape 19"/>
          <p:cNvSpPr/>
          <p:nvPr/>
        </p:nvSpPr>
        <p:spPr>
          <a:xfrm>
            <a:off x="8248650" y="2228850"/>
            <a:ext cx="3365500" cy="2654300"/>
          </a:xfrm>
          <a:prstGeom prst="roundRect">
            <a:avLst>
              <a:gd name="adj" fmla="val 4067"/>
            </a:avLst>
          </a:prstGeom>
          <a:noFill/>
          <a:ln w="12700">
            <a:solidFill>
              <a:srgbClr val="C8623A">
                <a:alpha val="60000"/>
              </a:srgbClr>
            </a:solidFill>
            <a:custDash>
              <a:ds d="275000" sp="250000"/>
            </a:custDash>
            <a:miter lim="800000"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8483600" y="2467737"/>
            <a:ext cx="1369608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Layer 3 · the contract</a:t>
            </a:r>
            <a:endParaRPr lang="en-US" kern="100" sz="650" b="1" cap="all" spc="8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21" name="Text 21"/>
          <p:cNvSpPr txBox="1"/>
          <p:nvPr/>
        </p:nvSpPr>
        <p:spPr>
          <a:xfrm>
            <a:off x="8483600" y="2644718"/>
            <a:ext cx="1197904" cy="235325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5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700" b="0" spc="-25" dirty="0">
                <a:solidFill>
                  <a:srgbClr val="1B1D21"/>
                </a:solidFill>
                <a:latin typeface="Avenir Next Medium"/>
                <a:ea typeface="Avenir Next Medium"/>
                <a:cs typeface="Avenir Next Medium"/>
              </a:rPr>
              <a:t>The schema</a:t>
            </a:r>
            <a:endParaRPr lang="en-US" kern="100" sz="1700" b="0" spc="-25" dirty="0">
              <a:solidFill>
                <a:srgbClr val="1B1D21"/>
              </a:solidFill>
              <a:latin typeface="Avenir Next Medium"/>
              <a:ea typeface="Avenir Next Medium"/>
              <a:cs typeface="Avenir Next Medium"/>
            </a:endParaRPr>
          </a:p>
        </p:txBody>
      </p:sp>
      <p:sp>
        <p:nvSpPr>
          <p:cNvPr id="22" name="Text 22"/>
          <p:cNvSpPr txBox="1"/>
          <p:nvPr/>
        </p:nvSpPr>
        <p:spPr>
          <a:xfrm>
            <a:off x="8483600" y="2998310"/>
            <a:ext cx="2895600" cy="547173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50" b="0" dirty="0">
                <a:solidFill>
                  <a:srgbClr val="1B1D21">
                    <a:alpha val="80000"/>
                  </a:srgbClr>
                </a:solidFill>
                <a:latin typeface="Avenir Next"/>
                <a:ea typeface="Avenir Next"/>
                <a:cs typeface="Avenir Next"/>
              </a:rPr>
              <a:t>A CLAUDE.md / AGENTS.md written by </a:t>
            </a:r>
            <a:r>
              <a:rPr lang="en-US" kern="100" sz="950" b="0" dirty="0">
                <a:solidFill>
                  <a:srgbClr val="1B1D21">
                    <a:alpha val="80000"/>
                  </a:srgbClr>
                </a:solidFill>
                <a:latin typeface="Courier New"/>
                <a:ea typeface="Courier New"/>
                <a:cs typeface="Courier New"/>
              </a:rPr>
              <a:t>init</a:t>
            </a:r>
            <a:r>
              <a:rPr lang="en-US" kern="100" sz="950" b="0" dirty="0">
                <a:solidFill>
                  <a:srgbClr val="1B1D21">
                    <a:alpha val="80000"/>
                  </a:srgbClr>
                </a:solidFill>
                <a:latin typeface="Avenir Next"/>
                <a:ea typeface="Avenir Next"/>
                <a:cs typeface="Avenir Next"/>
              </a:rPr>
              <a:t>: layout, page format, link rules and the ingest / query / lint workflows any agent must follow.</a:t>
            </a:r>
            <a:endParaRPr lang="en-US" kern="100" sz="950" b="0" dirty="0">
              <a:solidFill>
                <a:srgbClr val="1B1D21">
                  <a:alpha val="80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23" name="Text 23"/>
          <p:cNvSpPr txBox="1"/>
          <p:nvPr/>
        </p:nvSpPr>
        <p:spPr>
          <a:xfrm>
            <a:off x="8483600" y="3675055"/>
            <a:ext cx="1554623" cy="55928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4166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5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CLAUDE.md</a:t>
            </a:r>
            <a:br>
              <a:rPr lang="en-US" kern="100" sz="85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</a:br>
            <a:r>
              <a:rPr lang="en-US" kern="100" sz="85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AGENTS.md</a:t>
            </a:r>
            <a:br>
              <a:rPr lang="en-US" kern="100" sz="85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</a:br>
            <a:r>
              <a:rPr lang="en-US" kern="100" sz="85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.llm-wiki/ (tool state)</a:t>
            </a:r>
            <a:endParaRPr lang="en-US" kern="100" sz="85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pic>
        <p:nvPicPr>
          <p:cNvPr id="24" name="Picture 24" descr="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25" name="Text 25"/>
          <p:cNvSpPr txBox="1"/>
          <p:nvPr/>
        </p:nvSpPr>
        <p:spPr>
          <a:xfrm>
            <a:off x="11776770" y="6459106"/>
            <a:ext cx="85030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55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3</a:t>
            </a:r>
            <a:endParaRPr lang="en-US" kern="100" sz="900" b="0" spc="20" dirty="0">
              <a:solidFill>
                <a:srgbClr val="1B1D21">
                  <a:alpha val="55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26" name="Text 26"/>
          <p:cNvSpPr txBox="1"/>
          <p:nvPr/>
        </p:nvSpPr>
        <p:spPr>
          <a:xfrm>
            <a:off x="1358900" y="6459106"/>
            <a:ext cx="113753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38500"/>
                  </a:srgbClr>
                </a:solidFill>
                <a:latin typeface="Avenir Next"/>
                <a:ea typeface="Avenir Next"/>
                <a:cs typeface="Avenir Next"/>
              </a:rPr>
              <a:t>llm-wiki · user guide</a:t>
            </a:r>
            <a:endParaRPr lang="en-US" kern="100" sz="900" b="0" spc="20" dirty="0">
              <a:solidFill>
                <a:srgbClr val="1B1D21">
                  <a:alpha val="385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4826000" y="635000"/>
            <a:ext cx="6985000" cy="5588000"/>
          </a:xfrm>
          <a:prstGeom prst="roundRect">
            <a:avLst>
              <a:gd name="adj" fmla="val 2727"/>
            </a:avLst>
          </a:prstGeom>
          <a:solidFill>
            <a:srgbClr val="2E3238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3" name="Picture 3" descr=""/>
          <p:cNvPicPr>
            <a:picLocks noChangeAspect="1"/>
          </p:cNvPicPr>
          <p:nvPr/>
        </p:nvPicPr>
        <p:blipFill>
          <a:blip r:embed="rId2"/>
          <a:srcRect l="14844" t="0" r="14844" b="0"/>
          <a:stretch>
            <a:fillRect/>
          </a:stretch>
        </p:blipFill>
        <p:spPr>
          <a:xfrm>
            <a:off x="4826000" y="635000"/>
            <a:ext cx="6985000" cy="5588000"/>
          </a:xfrm>
          <a:prstGeom prst="roundRect">
            <a:avLst>
              <a:gd name="adj" fmla="val 2727"/>
            </a:avLst>
          </a:prstGeom>
        </p:spPr>
      </p:pic>
      <p:sp>
        <p:nvSpPr>
          <p:cNvPr id="4" name="Text 4"/>
          <p:cNvSpPr txBox="1"/>
          <p:nvPr/>
        </p:nvSpPr>
        <p:spPr>
          <a:xfrm>
            <a:off x="508000" y="2408428"/>
            <a:ext cx="1521603" cy="1271397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0" b="0" spc="-400" dirty="0">
                <a:solidFill>
                  <a:srgbClr val="E08A5E"/>
                </a:solidFill>
                <a:latin typeface="Avenir Next Ultra Light"/>
                <a:ea typeface="Avenir Next Ultra Light"/>
                <a:cs typeface="Avenir Next Ultra Light"/>
              </a:rPr>
              <a:t>01</a:t>
            </a:r>
            <a:endParaRPr lang="en-US" kern="100" sz="11000" b="0" spc="-400" dirty="0">
              <a:solidFill>
                <a:srgbClr val="E08A5E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5" name="Text 5"/>
          <p:cNvSpPr txBox="1"/>
          <p:nvPr/>
        </p:nvSpPr>
        <p:spPr>
          <a:xfrm>
            <a:off x="571500" y="3770103"/>
            <a:ext cx="2337506" cy="357080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900" b="0" spc="-50" dirty="0">
                <a:solidFill>
                  <a:srgbClr val="F6F3EC"/>
                </a:solidFill>
                <a:latin typeface="Avenir Next Ultra Light"/>
                <a:ea typeface="Avenir Next Ultra Light"/>
                <a:cs typeface="Avenir Next Ultra Light"/>
              </a:rPr>
              <a:t>Set it up once.</a:t>
            </a:r>
            <a:endParaRPr lang="en-US" kern="100" sz="2900" b="0" spc="-50" dirty="0">
              <a:solidFill>
                <a:srgbClr val="F6F3EC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6" name="Text 6"/>
          <p:cNvSpPr txBox="1"/>
          <p:nvPr/>
        </p:nvSpPr>
        <p:spPr>
          <a:xfrm>
            <a:off x="571500" y="4695368"/>
            <a:ext cx="3810000" cy="587793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1666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0" dirty="0">
                <a:solidFill>
                  <a:srgbClr val="F6F3EC">
                    <a:alpha val="70000"/>
                  </a:srgbClr>
                </a:solidFill>
                <a:latin typeface="Avenir Next"/>
                <a:ea typeface="Avenir Next"/>
                <a:cs typeface="Avenir Next"/>
              </a:rPr>
              <a:t>Install the CLI, tell it where your wiki lives and which models to use, then create the folder layout. Nothing is defaulted silently — every missing setting is a clear error.</a:t>
            </a:r>
            <a:endParaRPr lang="en-US" kern="100" sz="1100" b="0" dirty="0">
              <a:solidFill>
                <a:srgbClr val="F6F3EC">
                  <a:alpha val="70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pic>
        <p:nvPicPr>
          <p:cNvPr id="7" name="Picture 7" descr="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11776770" y="6459106"/>
            <a:ext cx="85030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FFFFFF">
                    <a:alpha val="70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4</a:t>
            </a:r>
            <a:endParaRPr lang="en-US" kern="100" sz="900" b="0" spc="20" dirty="0">
              <a:solidFill>
                <a:srgbClr val="FFFFFF">
                  <a:alpha val="70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9" name="Text 9"/>
          <p:cNvSpPr txBox="1"/>
          <p:nvPr/>
        </p:nvSpPr>
        <p:spPr>
          <a:xfrm>
            <a:off x="1358900" y="6459106"/>
            <a:ext cx="1026406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FFFFFF">
                    <a:alpha val="49000"/>
                  </a:srgbClr>
                </a:solidFill>
                <a:latin typeface="Avenir Next"/>
                <a:ea typeface="Avenir Next"/>
                <a:cs typeface="Avenir Next"/>
              </a:rPr>
              <a:t>Section 01 · Setup</a:t>
            </a:r>
            <a:endParaRPr lang="en-US" kern="100" sz="900" b="0" spc="20" dirty="0">
              <a:solidFill>
                <a:srgbClr val="FFFFFF">
                  <a:alpha val="49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71500" y="448247"/>
            <a:ext cx="801251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25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01 · Setup</a:t>
            </a:r>
            <a:endParaRPr lang="en-US" kern="100" sz="800" b="1" cap="all" spc="125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71500" y="725449"/>
            <a:ext cx="4099433" cy="34389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Install in three commands.</a:t>
            </a:r>
            <a:endParaRPr lang="en-US" kern="100" sz="2800" b="0" spc="-50" dirty="0">
              <a:solidFill>
                <a:srgbClr val="1B1D21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4" name="Shape 4"/>
          <p:cNvSpPr/>
          <p:nvPr/>
        </p:nvSpPr>
        <p:spPr>
          <a:xfrm>
            <a:off x="571500" y="1841500"/>
            <a:ext cx="3810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hape 5"/>
          <p:cNvSpPr/>
          <p:nvPr/>
        </p:nvSpPr>
        <p:spPr>
          <a:xfrm>
            <a:off x="571500" y="2159000"/>
            <a:ext cx="6350000" cy="2087563"/>
          </a:xfrm>
          <a:prstGeom prst="roundRect">
            <a:avLst>
              <a:gd name="adj" fmla="val 4867"/>
            </a:avLst>
          </a:prstGeom>
          <a:solidFill>
            <a:srgbClr val="1B1D21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800100" y="2334197"/>
            <a:ext cx="5176814" cy="1716826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5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requires Node 22+ and pnpm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git clone git@github.com:BikS2013/llm-wiki.git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cd llm-wiki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pnpm install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pnpm build            </a:t>
            </a:r>
            <a:r>
              <a:rPr lang="en-US" kern="100" sz="105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tsc → dist/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npm link              </a:t>
            </a:r>
            <a:r>
              <a:rPr lang="en-US" kern="100" sz="105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optional: puts `llm-wiki` on your PATH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llm-wiki --help</a:t>
            </a:r>
            <a:endParaRPr lang="en-US" kern="100" sz="1050" b="0" dirty="0">
              <a:solidFill>
                <a:srgbClr val="F6F3EC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7" name="Shape 7"/>
          <p:cNvSpPr/>
          <p:nvPr/>
        </p:nvSpPr>
        <p:spPr>
          <a:xfrm>
            <a:off x="9077623" y="2171700"/>
            <a:ext cx="1450777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Shape 8"/>
          <p:cNvSpPr/>
          <p:nvPr/>
        </p:nvSpPr>
        <p:spPr>
          <a:xfrm>
            <a:off x="8036421" y="2374205"/>
            <a:ext cx="1072455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7518400" y="2149794"/>
            <a:ext cx="3930412" cy="40824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1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No PATH link?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Run it as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node dist/cli.js …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or, from the</a:t>
            </a:r>
            <a:b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project,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pnpm dev -- …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.</a:t>
            </a:r>
            <a:endParaRPr lang="en-US" kern="100" sz="11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0" name="Shape 10"/>
          <p:cNvSpPr/>
          <p:nvPr/>
        </p:nvSpPr>
        <p:spPr>
          <a:xfrm>
            <a:off x="7302500" y="2247900"/>
            <a:ext cx="1016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Shape 11"/>
          <p:cNvSpPr/>
          <p:nvPr/>
        </p:nvSpPr>
        <p:spPr>
          <a:xfrm>
            <a:off x="8917285" y="2678311"/>
            <a:ext cx="769838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7518400" y="2656740"/>
            <a:ext cx="4253802" cy="2054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1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Check the build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with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pnpm test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: 32 tests, no network needed.</a:t>
            </a:r>
            <a:endParaRPr lang="en-US" kern="100" sz="11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7302500" y="2754511"/>
            <a:ext cx="1016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Shape 14"/>
          <p:cNvSpPr/>
          <p:nvPr/>
        </p:nvSpPr>
        <p:spPr>
          <a:xfrm>
            <a:off x="9369921" y="2982416"/>
            <a:ext cx="845542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518400" y="2960845"/>
            <a:ext cx="3638391" cy="40790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1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Dependencies are vetted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—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pnpm audit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reports zero</a:t>
            </a:r>
            <a:b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advisories at install time.</a:t>
            </a:r>
            <a:endParaRPr lang="en-US" kern="100" sz="11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7302500" y="3058616"/>
            <a:ext cx="1016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17" name="Picture 17" descr="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18" name="Text 18"/>
          <p:cNvSpPr txBox="1"/>
          <p:nvPr/>
        </p:nvSpPr>
        <p:spPr>
          <a:xfrm>
            <a:off x="11776770" y="6459106"/>
            <a:ext cx="85030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55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5</a:t>
            </a:r>
            <a:endParaRPr lang="en-US" kern="100" sz="900" b="0" spc="20" dirty="0">
              <a:solidFill>
                <a:srgbClr val="1B1D21">
                  <a:alpha val="55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9" name="Text 19"/>
          <p:cNvSpPr txBox="1"/>
          <p:nvPr/>
        </p:nvSpPr>
        <p:spPr>
          <a:xfrm>
            <a:off x="1358900" y="6459106"/>
            <a:ext cx="113753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38500"/>
                  </a:srgbClr>
                </a:solidFill>
                <a:latin typeface="Avenir Next"/>
                <a:ea typeface="Avenir Next"/>
                <a:cs typeface="Avenir Next"/>
              </a:rPr>
              <a:t>llm-wiki · user guide</a:t>
            </a:r>
            <a:endParaRPr lang="en-US" kern="100" sz="900" b="0" spc="20" dirty="0">
              <a:solidFill>
                <a:srgbClr val="1B1D21">
                  <a:alpha val="385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71500" y="448247"/>
            <a:ext cx="801251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25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01 · Setup</a:t>
            </a:r>
            <a:endParaRPr lang="en-US" kern="100" sz="800" b="1" cap="all" spc="125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71500" y="725449"/>
            <a:ext cx="7411855" cy="34389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Configure once — four tiers, </a:t>
            </a:r>
            <a:r>
              <a:rPr lang="en-US" kern="100" sz="2800" b="0" i="1" spc="-50" dirty="0">
                <a:solidFill>
                  <a:srgbClr val="C8623A"/>
                </a:solidFill>
                <a:latin typeface="Avenir Next"/>
                <a:ea typeface="Avenir Next"/>
                <a:cs typeface="Avenir Next"/>
              </a:rPr>
              <a:t>no</a:t>
            </a: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 hidden defaults.</a:t>
            </a:r>
            <a:endParaRPr lang="en-US" kern="100" sz="2800" b="0" spc="-50" dirty="0">
              <a:solidFill>
                <a:srgbClr val="1B1D21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4" name="Shape 4"/>
          <p:cNvSpPr/>
          <p:nvPr/>
        </p:nvSpPr>
        <p:spPr>
          <a:xfrm>
            <a:off x="571500" y="1841500"/>
            <a:ext cx="3810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hape 5"/>
          <p:cNvSpPr/>
          <p:nvPr/>
        </p:nvSpPr>
        <p:spPr>
          <a:xfrm>
            <a:off x="571500" y="2159000"/>
            <a:ext cx="1279525" cy="1136650"/>
          </a:xfrm>
          <a:prstGeom prst="roundRect">
            <a:avLst>
              <a:gd name="adj" fmla="val 8939"/>
            </a:avLst>
          </a:prstGeom>
          <a:solidFill>
            <a:srgbClr val="FFFFFF"/>
          </a:solidFill>
          <a:ln>
            <a:noFill/>
          </a:ln>
          <a:effectLst>
            <a:outerShdw blurRad="411480" dist="114300" dir="5400000" sx="76179" sy="73184" algn="ctr" rotWithShape="0">
              <a:srgbClr val="1B1D21">
                <a:alpha val="18000"/>
              </a:srgbClr>
            </a:outerShdw>
          </a:effectLst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Shape 6"/>
          <p:cNvSpPr/>
          <p:nvPr/>
        </p:nvSpPr>
        <p:spPr>
          <a:xfrm>
            <a:off x="574675" y="2162175"/>
            <a:ext cx="1273175" cy="1130300"/>
          </a:xfrm>
          <a:prstGeom prst="roundRect">
            <a:avLst>
              <a:gd name="adj" fmla="val 8708"/>
            </a:avLst>
          </a:prstGeom>
          <a:noFill/>
          <a:ln w="6350">
            <a:solidFill>
              <a:srgbClr val="1B1D21">
                <a:alpha val="6000"/>
              </a:srgbClr>
            </a:solidFill>
            <a:miter lim="800000"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Shape 7"/>
          <p:cNvSpPr/>
          <p:nvPr/>
        </p:nvSpPr>
        <p:spPr>
          <a:xfrm>
            <a:off x="1965325" y="2159000"/>
            <a:ext cx="1279525" cy="1136650"/>
          </a:xfrm>
          <a:prstGeom prst="roundRect">
            <a:avLst>
              <a:gd name="adj" fmla="val 8939"/>
            </a:avLst>
          </a:prstGeom>
          <a:solidFill>
            <a:srgbClr val="FFFFFF"/>
          </a:solidFill>
          <a:ln>
            <a:noFill/>
          </a:ln>
          <a:effectLst>
            <a:outerShdw blurRad="411480" dist="114300" dir="5400000" sx="76179" sy="73184" algn="ctr" rotWithShape="0">
              <a:srgbClr val="1B1D21">
                <a:alpha val="18000"/>
              </a:srgbClr>
            </a:outerShdw>
          </a:effectLst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Shape 8"/>
          <p:cNvSpPr/>
          <p:nvPr/>
        </p:nvSpPr>
        <p:spPr>
          <a:xfrm>
            <a:off x="1968500" y="2162175"/>
            <a:ext cx="1273175" cy="1130300"/>
          </a:xfrm>
          <a:prstGeom prst="roundRect">
            <a:avLst>
              <a:gd name="adj" fmla="val 8708"/>
            </a:avLst>
          </a:prstGeom>
          <a:noFill/>
          <a:ln w="6350">
            <a:solidFill>
              <a:srgbClr val="1B1D21">
                <a:alpha val="6000"/>
              </a:srgbClr>
            </a:solidFill>
            <a:miter lim="800000"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Shape 9"/>
          <p:cNvSpPr/>
          <p:nvPr/>
        </p:nvSpPr>
        <p:spPr>
          <a:xfrm>
            <a:off x="3359150" y="2159000"/>
            <a:ext cx="1279525" cy="1136650"/>
          </a:xfrm>
          <a:prstGeom prst="roundRect">
            <a:avLst>
              <a:gd name="adj" fmla="val 8939"/>
            </a:avLst>
          </a:prstGeom>
          <a:solidFill>
            <a:srgbClr val="FFFFFF"/>
          </a:solidFill>
          <a:ln>
            <a:noFill/>
          </a:ln>
          <a:effectLst>
            <a:outerShdw blurRad="411480" dist="114300" dir="5400000" sx="76179" sy="73184" algn="ctr" rotWithShape="0">
              <a:srgbClr val="1B1D21">
                <a:alpha val="18000"/>
              </a:srgbClr>
            </a:outerShdw>
          </a:effectLst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Shape 10"/>
          <p:cNvSpPr/>
          <p:nvPr/>
        </p:nvSpPr>
        <p:spPr>
          <a:xfrm>
            <a:off x="3362325" y="2162175"/>
            <a:ext cx="1273175" cy="1130300"/>
          </a:xfrm>
          <a:prstGeom prst="roundRect">
            <a:avLst>
              <a:gd name="adj" fmla="val 8708"/>
            </a:avLst>
          </a:prstGeom>
          <a:noFill/>
          <a:ln w="6350">
            <a:solidFill>
              <a:srgbClr val="1B1D21">
                <a:alpha val="6000"/>
              </a:srgbClr>
            </a:solidFill>
            <a:miter lim="800000"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Shape 11"/>
          <p:cNvSpPr/>
          <p:nvPr/>
        </p:nvSpPr>
        <p:spPr>
          <a:xfrm>
            <a:off x="4752975" y="2159000"/>
            <a:ext cx="1279525" cy="1136650"/>
          </a:xfrm>
          <a:prstGeom prst="roundRect">
            <a:avLst>
              <a:gd name="adj" fmla="val 8939"/>
            </a:avLst>
          </a:prstGeom>
          <a:solidFill>
            <a:srgbClr val="FFFFFF"/>
          </a:solidFill>
          <a:ln>
            <a:noFill/>
          </a:ln>
          <a:effectLst>
            <a:outerShdw blurRad="411480" dist="114300" dir="5400000" sx="76179" sy="73184" algn="ctr" rotWithShape="0">
              <a:srgbClr val="1B1D21">
                <a:alpha val="18000"/>
              </a:srgbClr>
            </a:outerShdw>
          </a:effectLst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Shape 12"/>
          <p:cNvSpPr/>
          <p:nvPr/>
        </p:nvSpPr>
        <p:spPr>
          <a:xfrm>
            <a:off x="4756150" y="2162175"/>
            <a:ext cx="1273175" cy="1130300"/>
          </a:xfrm>
          <a:prstGeom prst="roundRect">
            <a:avLst>
              <a:gd name="adj" fmla="val 8708"/>
            </a:avLst>
          </a:prstGeom>
          <a:noFill/>
          <a:ln w="6350">
            <a:solidFill>
              <a:srgbClr val="1B1D21">
                <a:alpha val="6000"/>
              </a:srgbClr>
            </a:solidFill>
            <a:miter lim="800000"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Shape 13"/>
          <p:cNvSpPr/>
          <p:nvPr/>
        </p:nvSpPr>
        <p:spPr>
          <a:xfrm>
            <a:off x="571500" y="3746798"/>
            <a:ext cx="2529880" cy="6350"/>
          </a:xfrm>
          <a:prstGeom prst="rect">
            <a:avLst/>
          </a:prstGeom>
          <a:solidFill>
            <a:srgbClr val="1B1D21">
              <a:alpha val="18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Shape 14"/>
          <p:cNvSpPr/>
          <p:nvPr/>
        </p:nvSpPr>
        <p:spPr>
          <a:xfrm>
            <a:off x="3101380" y="3746798"/>
            <a:ext cx="2931120" cy="6350"/>
          </a:xfrm>
          <a:prstGeom prst="rect">
            <a:avLst/>
          </a:prstGeom>
          <a:solidFill>
            <a:srgbClr val="1B1D21">
              <a:alpha val="18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15" name="Line 15"/>
          <p:cNvCxnSpPr/>
          <p:nvPr/>
        </p:nvCxnSpPr>
        <p:spPr>
          <a:xfrm>
            <a:off x="571500" y="4264323"/>
            <a:ext cx="252988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6" name="Line 16"/>
          <p:cNvCxnSpPr/>
          <p:nvPr/>
        </p:nvCxnSpPr>
        <p:spPr>
          <a:xfrm>
            <a:off x="3101380" y="4264323"/>
            <a:ext cx="293112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7" name="Line 17"/>
          <p:cNvCxnSpPr/>
          <p:nvPr/>
        </p:nvCxnSpPr>
        <p:spPr>
          <a:xfrm>
            <a:off x="571500" y="4607223"/>
            <a:ext cx="252988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8" name="Line 18"/>
          <p:cNvCxnSpPr/>
          <p:nvPr/>
        </p:nvCxnSpPr>
        <p:spPr>
          <a:xfrm>
            <a:off x="3101380" y="4607223"/>
            <a:ext cx="293112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9" name="Line 19"/>
          <p:cNvCxnSpPr/>
          <p:nvPr/>
        </p:nvCxnSpPr>
        <p:spPr>
          <a:xfrm>
            <a:off x="571500" y="5087243"/>
            <a:ext cx="252988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20" name="Line 20"/>
          <p:cNvCxnSpPr/>
          <p:nvPr/>
        </p:nvCxnSpPr>
        <p:spPr>
          <a:xfrm>
            <a:off x="3101380" y="5087243"/>
            <a:ext cx="293112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21" name="Line 21"/>
          <p:cNvCxnSpPr/>
          <p:nvPr/>
        </p:nvCxnSpPr>
        <p:spPr>
          <a:xfrm>
            <a:off x="571500" y="5430143"/>
            <a:ext cx="252988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22" name="Line 22"/>
          <p:cNvCxnSpPr/>
          <p:nvPr/>
        </p:nvCxnSpPr>
        <p:spPr>
          <a:xfrm>
            <a:off x="3101380" y="5430143"/>
            <a:ext cx="293112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sp>
        <p:nvSpPr>
          <p:cNvPr id="23" name="Text 23"/>
          <p:cNvSpPr txBox="1"/>
          <p:nvPr/>
        </p:nvSpPr>
        <p:spPr>
          <a:xfrm>
            <a:off x="704850" y="2308987"/>
            <a:ext cx="622633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1 · lowest</a:t>
            </a:r>
            <a:endParaRPr lang="en-US" kern="100" sz="650" b="1" cap="all" spc="8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24" name="Text 24"/>
          <p:cNvSpPr txBox="1"/>
          <p:nvPr/>
        </p:nvSpPr>
        <p:spPr>
          <a:xfrm>
            <a:off x="704850" y="2466848"/>
            <a:ext cx="553085" cy="146177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Shell env</a:t>
            </a:r>
            <a:endParaRPr lang="en-US" kern="100" sz="10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25" name="Text 25"/>
          <p:cNvSpPr txBox="1"/>
          <p:nvPr/>
        </p:nvSpPr>
        <p:spPr>
          <a:xfrm>
            <a:off x="704850" y="2688488"/>
            <a:ext cx="729472" cy="308712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What your shell already exports</a:t>
            </a:r>
            <a:endParaRPr lang="en-US" kern="100" sz="80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26" name="Text 26"/>
          <p:cNvSpPr txBox="1"/>
          <p:nvPr/>
        </p:nvSpPr>
        <p:spPr>
          <a:xfrm>
            <a:off x="2098675" y="2308987"/>
            <a:ext cx="72628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2</a:t>
            </a:r>
            <a:endParaRPr lang="en-US" kern="100" sz="650" b="1" cap="all" spc="8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27" name="Text 27"/>
          <p:cNvSpPr txBox="1"/>
          <p:nvPr/>
        </p:nvSpPr>
        <p:spPr>
          <a:xfrm>
            <a:off x="2098675" y="2466848"/>
            <a:ext cx="921155" cy="298577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~/.tool-agents/</a:t>
            </a:r>
            <a:br>
              <a:rPr lang="en-US" kern="100" sz="10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</a:br>
            <a:r>
              <a:rPr lang="en-US" kern="100" sz="10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llm-wiki/.env</a:t>
            </a:r>
            <a:endParaRPr lang="en-US" kern="100" sz="10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28" name="Text 28"/>
          <p:cNvSpPr txBox="1"/>
          <p:nvPr/>
        </p:nvSpPr>
        <p:spPr>
          <a:xfrm>
            <a:off x="2098675" y="2840888"/>
            <a:ext cx="716012" cy="308712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Your long-lived settings (0600)</a:t>
            </a:r>
            <a:endParaRPr lang="en-US" kern="100" sz="80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29" name="Text 29"/>
          <p:cNvSpPr txBox="1"/>
          <p:nvPr/>
        </p:nvSpPr>
        <p:spPr>
          <a:xfrm>
            <a:off x="3492500" y="2308987"/>
            <a:ext cx="72628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3</a:t>
            </a:r>
            <a:endParaRPr lang="en-US" kern="100" sz="650" b="1" cap="all" spc="8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0" name="Text 30"/>
          <p:cNvSpPr txBox="1"/>
          <p:nvPr/>
        </p:nvSpPr>
        <p:spPr>
          <a:xfrm>
            <a:off x="3492500" y="2466848"/>
            <a:ext cx="340519" cy="146177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./.env</a:t>
            </a:r>
            <a:endParaRPr lang="en-US" kern="100" sz="10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31" name="Text 31"/>
          <p:cNvSpPr txBox="1"/>
          <p:nvPr/>
        </p:nvSpPr>
        <p:spPr>
          <a:xfrm>
            <a:off x="3492500" y="2688488"/>
            <a:ext cx="1004737" cy="156312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Per-project overrides</a:t>
            </a:r>
            <a:endParaRPr lang="en-US" kern="100" sz="80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32" name="Text 32"/>
          <p:cNvSpPr txBox="1"/>
          <p:nvPr/>
        </p:nvSpPr>
        <p:spPr>
          <a:xfrm>
            <a:off x="4886325" y="2308987"/>
            <a:ext cx="684855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4 · highest</a:t>
            </a:r>
            <a:endParaRPr lang="en-US" kern="100" sz="650" b="1" cap="all" spc="8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3" name="Text 33"/>
          <p:cNvSpPr txBox="1"/>
          <p:nvPr/>
        </p:nvSpPr>
        <p:spPr>
          <a:xfrm>
            <a:off x="4886325" y="2466848"/>
            <a:ext cx="522851" cy="146177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CLI flags</a:t>
            </a:r>
            <a:endParaRPr lang="en-US" kern="100" sz="10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34" name="Text 34"/>
          <p:cNvSpPr txBox="1"/>
          <p:nvPr/>
        </p:nvSpPr>
        <p:spPr>
          <a:xfrm>
            <a:off x="4886325" y="2688488"/>
            <a:ext cx="892106" cy="308712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--root, --provider, --model</a:t>
            </a:r>
            <a:endParaRPr lang="en-US" kern="100" sz="80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35" name="Text 35"/>
          <p:cNvSpPr txBox="1"/>
          <p:nvPr/>
        </p:nvSpPr>
        <p:spPr>
          <a:xfrm>
            <a:off x="571500" y="3547793"/>
            <a:ext cx="426577" cy="11155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7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Setting</a:t>
            </a:r>
            <a:endParaRPr lang="en-US" kern="100" sz="650" b="1" cap="all" spc="7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6" name="Text 36"/>
          <p:cNvSpPr txBox="1"/>
          <p:nvPr/>
        </p:nvSpPr>
        <p:spPr>
          <a:xfrm>
            <a:off x="3101380" y="3547793"/>
            <a:ext cx="426577" cy="11155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7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Purpose</a:t>
            </a:r>
            <a:endParaRPr lang="en-US" kern="100" sz="650" b="1" cap="all" spc="7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7" name="Text 37"/>
          <p:cNvSpPr txBox="1"/>
          <p:nvPr/>
        </p:nvSpPr>
        <p:spPr>
          <a:xfrm>
            <a:off x="571500" y="3836301"/>
            <a:ext cx="930442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LLM_WIKI_ROOT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8" name="Text 38"/>
          <p:cNvSpPr txBox="1"/>
          <p:nvPr/>
        </p:nvSpPr>
        <p:spPr>
          <a:xfrm>
            <a:off x="3101380" y="3840333"/>
            <a:ext cx="2492835" cy="341439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Folder created by </a:t>
            </a: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init</a:t>
            </a: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· required by every command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39" name="Text 39"/>
          <p:cNvSpPr txBox="1"/>
          <p:nvPr/>
        </p:nvSpPr>
        <p:spPr>
          <a:xfrm>
            <a:off x="571500" y="4350651"/>
            <a:ext cx="1860780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LLM_WIKI_PROVIDER / _MODEL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40" name="Text 40"/>
          <p:cNvSpPr txBox="1"/>
          <p:nvPr/>
        </p:nvSpPr>
        <p:spPr>
          <a:xfrm>
            <a:off x="3101380" y="4354683"/>
            <a:ext cx="2264966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Chat model for ingest, query, lint --llm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41" name="Text 41"/>
          <p:cNvSpPr txBox="1"/>
          <p:nvPr/>
        </p:nvSpPr>
        <p:spPr>
          <a:xfrm>
            <a:off x="571500" y="4693551"/>
            <a:ext cx="2035600" cy="30703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LLM_WIKI_EMBEDDING_PROVIDER / _MODEL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42" name="Text 42"/>
          <p:cNvSpPr txBox="1"/>
          <p:nvPr/>
        </p:nvSpPr>
        <p:spPr>
          <a:xfrm>
            <a:off x="3101380" y="4697583"/>
            <a:ext cx="2629218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Optional · enables vector and hybrid search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43" name="Text 43"/>
          <p:cNvSpPr txBox="1"/>
          <p:nvPr/>
        </p:nvSpPr>
        <p:spPr>
          <a:xfrm>
            <a:off x="571500" y="5173571"/>
            <a:ext cx="2361756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LLM_WIKI_PARSER_PROVIDER / _MODEL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44" name="Text 44"/>
          <p:cNvSpPr txBox="1"/>
          <p:nvPr/>
        </p:nvSpPr>
        <p:spPr>
          <a:xfrm>
            <a:off x="3101380" y="5177603"/>
            <a:ext cx="2665436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Optional · converts PDF and DOCX originals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45" name="Shape 45"/>
          <p:cNvSpPr/>
          <p:nvPr/>
        </p:nvSpPr>
        <p:spPr>
          <a:xfrm>
            <a:off x="6413500" y="2159000"/>
            <a:ext cx="5207000" cy="3154164"/>
          </a:xfrm>
          <a:prstGeom prst="roundRect">
            <a:avLst>
              <a:gd name="adj" fmla="val 3221"/>
            </a:avLst>
          </a:prstGeom>
          <a:solidFill>
            <a:srgbClr val="1B1D21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46" name="Text 46"/>
          <p:cNvSpPr txBox="1"/>
          <p:nvPr/>
        </p:nvSpPr>
        <p:spPr>
          <a:xfrm>
            <a:off x="6642100" y="2334197"/>
            <a:ext cx="3924324" cy="2783427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5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~/.tool-agents/llm-wiki/.env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LLM_WIKI_ROOT=/Users/you/notes-wiki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LLM_WIKI_PROVIDER=anthropic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LLM_WIKI_MODEL=claude-opus-5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ANTHROPIC_API_KEY=…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LLM_WIKI_EMBEDDING_PROVIDER=openai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LLM_WIKI_EMBEDDING_MODEL=text-embedding-3-small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OPENAI_API_KEY=…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LLM_WIKI_PARSER_PROVIDER=gemini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LLM_WIKI_PARSER_MODEL=gemini-3.6-pro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GOOGLE_API_KEY=…</a:t>
            </a:r>
            <a:endParaRPr lang="en-US" kern="100" sz="1050" b="0" dirty="0">
              <a:solidFill>
                <a:srgbClr val="F6F3EC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47" name="Text 47"/>
          <p:cNvSpPr txBox="1"/>
          <p:nvPr/>
        </p:nvSpPr>
        <p:spPr>
          <a:xfrm>
            <a:off x="6413500" y="5428391"/>
            <a:ext cx="4168775" cy="17052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70000"/>
                  </a:srgbClr>
                </a:solidFill>
                <a:latin typeface="Courier New"/>
                <a:ea typeface="Courier New"/>
                <a:cs typeface="Courier New"/>
              </a:rPr>
              <a:t>llm-wiki config</a:t>
            </a:r>
            <a:r>
              <a:rPr lang="en-US" kern="100" sz="900" b="0" dirty="0">
                <a:solidFill>
                  <a:srgbClr val="1B1D21">
                    <a:alpha val="70000"/>
                  </a:srgbClr>
                </a:solidFill>
                <a:latin typeface="Avenir Next"/>
                <a:ea typeface="Avenir Next"/>
                <a:cs typeface="Avenir Next"/>
              </a:rPr>
              <a:t> shows every resolved setting, its tier, and masks the keys.</a:t>
            </a:r>
            <a:endParaRPr lang="en-US" kern="100" sz="900" b="0" dirty="0">
              <a:solidFill>
                <a:srgbClr val="1B1D21">
                  <a:alpha val="70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pic>
        <p:nvPicPr>
          <p:cNvPr id="48" name="Picture 48" descr="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49" name="Text 49"/>
          <p:cNvSpPr txBox="1"/>
          <p:nvPr/>
        </p:nvSpPr>
        <p:spPr>
          <a:xfrm>
            <a:off x="11776770" y="6459106"/>
            <a:ext cx="85030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55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6</a:t>
            </a:r>
            <a:endParaRPr lang="en-US" kern="100" sz="900" b="0" spc="20" dirty="0">
              <a:solidFill>
                <a:srgbClr val="1B1D21">
                  <a:alpha val="55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50" name="Text 50"/>
          <p:cNvSpPr txBox="1"/>
          <p:nvPr/>
        </p:nvSpPr>
        <p:spPr>
          <a:xfrm>
            <a:off x="1358900" y="6459106"/>
            <a:ext cx="113753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38500"/>
                  </a:srgbClr>
                </a:solidFill>
                <a:latin typeface="Avenir Next"/>
                <a:ea typeface="Avenir Next"/>
                <a:cs typeface="Avenir Next"/>
              </a:rPr>
              <a:t>llm-wiki · user guide</a:t>
            </a:r>
            <a:endParaRPr lang="en-US" kern="100" sz="900" b="0" spc="20" dirty="0">
              <a:solidFill>
                <a:srgbClr val="1B1D21">
                  <a:alpha val="385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71500" y="448247"/>
            <a:ext cx="801251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25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01 · Setup</a:t>
            </a:r>
            <a:endParaRPr lang="en-US" kern="100" sz="800" b="1" cap="all" spc="125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71500" y="725449"/>
            <a:ext cx="6741343" cy="34389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Eight providers, vendor-canonical variables.</a:t>
            </a:r>
            <a:endParaRPr lang="en-US" kern="100" sz="2800" b="0" spc="-50" dirty="0">
              <a:solidFill>
                <a:srgbClr val="1B1D21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4" name="Shape 4"/>
          <p:cNvSpPr/>
          <p:nvPr/>
        </p:nvSpPr>
        <p:spPr>
          <a:xfrm>
            <a:off x="571500" y="1841500"/>
            <a:ext cx="3810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hape 5"/>
          <p:cNvSpPr/>
          <p:nvPr/>
        </p:nvSpPr>
        <p:spPr>
          <a:xfrm>
            <a:off x="571500" y="2292648"/>
            <a:ext cx="1397000" cy="6350"/>
          </a:xfrm>
          <a:prstGeom prst="rect">
            <a:avLst/>
          </a:prstGeom>
          <a:solidFill>
            <a:srgbClr val="1B1D21">
              <a:alpha val="18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Shape 6"/>
          <p:cNvSpPr/>
          <p:nvPr/>
        </p:nvSpPr>
        <p:spPr>
          <a:xfrm>
            <a:off x="1968500" y="2292648"/>
            <a:ext cx="4064000" cy="6350"/>
          </a:xfrm>
          <a:prstGeom prst="rect">
            <a:avLst/>
          </a:prstGeom>
          <a:solidFill>
            <a:srgbClr val="1B1D21">
              <a:alpha val="18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Shape 7"/>
          <p:cNvSpPr/>
          <p:nvPr/>
        </p:nvSpPr>
        <p:spPr>
          <a:xfrm>
            <a:off x="6032500" y="2292648"/>
            <a:ext cx="825500" cy="6350"/>
          </a:xfrm>
          <a:prstGeom prst="rect">
            <a:avLst/>
          </a:prstGeom>
          <a:solidFill>
            <a:srgbClr val="1B1D21">
              <a:alpha val="18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Shape 8"/>
          <p:cNvSpPr/>
          <p:nvPr/>
        </p:nvSpPr>
        <p:spPr>
          <a:xfrm>
            <a:off x="6858000" y="2292648"/>
            <a:ext cx="825500" cy="6350"/>
          </a:xfrm>
          <a:prstGeom prst="rect">
            <a:avLst/>
          </a:prstGeom>
          <a:solidFill>
            <a:srgbClr val="1B1D21">
              <a:alpha val="18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Shape 9"/>
          <p:cNvSpPr/>
          <p:nvPr/>
        </p:nvSpPr>
        <p:spPr>
          <a:xfrm>
            <a:off x="7683500" y="2292648"/>
            <a:ext cx="3937000" cy="6350"/>
          </a:xfrm>
          <a:prstGeom prst="rect">
            <a:avLst/>
          </a:prstGeom>
          <a:solidFill>
            <a:srgbClr val="1B1D21">
              <a:alpha val="18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10" name="Line 10"/>
          <p:cNvCxnSpPr/>
          <p:nvPr/>
        </p:nvCxnSpPr>
        <p:spPr>
          <a:xfrm>
            <a:off x="571500" y="2638723"/>
            <a:ext cx="139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1" name="Line 11"/>
          <p:cNvCxnSpPr/>
          <p:nvPr/>
        </p:nvCxnSpPr>
        <p:spPr>
          <a:xfrm>
            <a:off x="1968500" y="2638723"/>
            <a:ext cx="4064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2" name="Line 12"/>
          <p:cNvCxnSpPr/>
          <p:nvPr/>
        </p:nvCxnSpPr>
        <p:spPr>
          <a:xfrm>
            <a:off x="6032500" y="2638723"/>
            <a:ext cx="8255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3" name="Line 13"/>
          <p:cNvCxnSpPr/>
          <p:nvPr/>
        </p:nvCxnSpPr>
        <p:spPr>
          <a:xfrm>
            <a:off x="6858000" y="2638723"/>
            <a:ext cx="8255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4" name="Line 14"/>
          <p:cNvCxnSpPr/>
          <p:nvPr/>
        </p:nvCxnSpPr>
        <p:spPr>
          <a:xfrm>
            <a:off x="7683500" y="2638723"/>
            <a:ext cx="393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5" name="Line 15"/>
          <p:cNvCxnSpPr/>
          <p:nvPr/>
        </p:nvCxnSpPr>
        <p:spPr>
          <a:xfrm>
            <a:off x="571500" y="2981623"/>
            <a:ext cx="139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6" name="Line 16"/>
          <p:cNvCxnSpPr/>
          <p:nvPr/>
        </p:nvCxnSpPr>
        <p:spPr>
          <a:xfrm>
            <a:off x="1968500" y="2981623"/>
            <a:ext cx="4064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7" name="Line 17"/>
          <p:cNvCxnSpPr/>
          <p:nvPr/>
        </p:nvCxnSpPr>
        <p:spPr>
          <a:xfrm>
            <a:off x="6032500" y="2981623"/>
            <a:ext cx="8255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8" name="Line 18"/>
          <p:cNvCxnSpPr/>
          <p:nvPr/>
        </p:nvCxnSpPr>
        <p:spPr>
          <a:xfrm>
            <a:off x="6858000" y="2981623"/>
            <a:ext cx="8255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9" name="Line 19"/>
          <p:cNvCxnSpPr/>
          <p:nvPr/>
        </p:nvCxnSpPr>
        <p:spPr>
          <a:xfrm>
            <a:off x="7683500" y="2981623"/>
            <a:ext cx="393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20" name="Line 20"/>
          <p:cNvCxnSpPr/>
          <p:nvPr/>
        </p:nvCxnSpPr>
        <p:spPr>
          <a:xfrm>
            <a:off x="571500" y="3324523"/>
            <a:ext cx="139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21" name="Line 21"/>
          <p:cNvCxnSpPr/>
          <p:nvPr/>
        </p:nvCxnSpPr>
        <p:spPr>
          <a:xfrm>
            <a:off x="1968500" y="3324523"/>
            <a:ext cx="4064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22" name="Line 22"/>
          <p:cNvCxnSpPr/>
          <p:nvPr/>
        </p:nvCxnSpPr>
        <p:spPr>
          <a:xfrm>
            <a:off x="6032500" y="3324523"/>
            <a:ext cx="8255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23" name="Line 23"/>
          <p:cNvCxnSpPr/>
          <p:nvPr/>
        </p:nvCxnSpPr>
        <p:spPr>
          <a:xfrm>
            <a:off x="6858000" y="3324523"/>
            <a:ext cx="8255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24" name="Line 24"/>
          <p:cNvCxnSpPr/>
          <p:nvPr/>
        </p:nvCxnSpPr>
        <p:spPr>
          <a:xfrm>
            <a:off x="7683500" y="3324523"/>
            <a:ext cx="393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25" name="Line 25"/>
          <p:cNvCxnSpPr/>
          <p:nvPr/>
        </p:nvCxnSpPr>
        <p:spPr>
          <a:xfrm>
            <a:off x="571500" y="3804543"/>
            <a:ext cx="139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26" name="Line 26"/>
          <p:cNvCxnSpPr/>
          <p:nvPr/>
        </p:nvCxnSpPr>
        <p:spPr>
          <a:xfrm>
            <a:off x="1968500" y="3804543"/>
            <a:ext cx="4064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27" name="Line 27"/>
          <p:cNvCxnSpPr/>
          <p:nvPr/>
        </p:nvCxnSpPr>
        <p:spPr>
          <a:xfrm>
            <a:off x="6032500" y="3804543"/>
            <a:ext cx="8255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28" name="Line 28"/>
          <p:cNvCxnSpPr/>
          <p:nvPr/>
        </p:nvCxnSpPr>
        <p:spPr>
          <a:xfrm>
            <a:off x="6858000" y="3804543"/>
            <a:ext cx="8255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29" name="Line 29"/>
          <p:cNvCxnSpPr/>
          <p:nvPr/>
        </p:nvCxnSpPr>
        <p:spPr>
          <a:xfrm>
            <a:off x="7683500" y="3804543"/>
            <a:ext cx="393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30" name="Line 30"/>
          <p:cNvCxnSpPr/>
          <p:nvPr/>
        </p:nvCxnSpPr>
        <p:spPr>
          <a:xfrm>
            <a:off x="571500" y="4147443"/>
            <a:ext cx="139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31" name="Line 31"/>
          <p:cNvCxnSpPr/>
          <p:nvPr/>
        </p:nvCxnSpPr>
        <p:spPr>
          <a:xfrm>
            <a:off x="1968500" y="4147443"/>
            <a:ext cx="4064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32" name="Line 32"/>
          <p:cNvCxnSpPr/>
          <p:nvPr/>
        </p:nvCxnSpPr>
        <p:spPr>
          <a:xfrm>
            <a:off x="6032500" y="4147443"/>
            <a:ext cx="8255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33" name="Line 33"/>
          <p:cNvCxnSpPr/>
          <p:nvPr/>
        </p:nvCxnSpPr>
        <p:spPr>
          <a:xfrm>
            <a:off x="6858000" y="4147443"/>
            <a:ext cx="8255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34" name="Line 34"/>
          <p:cNvCxnSpPr/>
          <p:nvPr/>
        </p:nvCxnSpPr>
        <p:spPr>
          <a:xfrm>
            <a:off x="7683500" y="4147443"/>
            <a:ext cx="393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35" name="Line 35"/>
          <p:cNvCxnSpPr/>
          <p:nvPr/>
        </p:nvCxnSpPr>
        <p:spPr>
          <a:xfrm>
            <a:off x="571500" y="4490343"/>
            <a:ext cx="139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36" name="Line 36"/>
          <p:cNvCxnSpPr/>
          <p:nvPr/>
        </p:nvCxnSpPr>
        <p:spPr>
          <a:xfrm>
            <a:off x="1968500" y="4490343"/>
            <a:ext cx="4064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37" name="Line 37"/>
          <p:cNvCxnSpPr/>
          <p:nvPr/>
        </p:nvCxnSpPr>
        <p:spPr>
          <a:xfrm>
            <a:off x="6032500" y="4490343"/>
            <a:ext cx="8255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38" name="Line 38"/>
          <p:cNvCxnSpPr/>
          <p:nvPr/>
        </p:nvCxnSpPr>
        <p:spPr>
          <a:xfrm>
            <a:off x="6858000" y="4490343"/>
            <a:ext cx="8255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39" name="Line 39"/>
          <p:cNvCxnSpPr/>
          <p:nvPr/>
        </p:nvCxnSpPr>
        <p:spPr>
          <a:xfrm>
            <a:off x="7683500" y="4490343"/>
            <a:ext cx="393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40" name="Line 40"/>
          <p:cNvCxnSpPr/>
          <p:nvPr/>
        </p:nvCxnSpPr>
        <p:spPr>
          <a:xfrm>
            <a:off x="571500" y="4833243"/>
            <a:ext cx="139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41" name="Line 41"/>
          <p:cNvCxnSpPr/>
          <p:nvPr/>
        </p:nvCxnSpPr>
        <p:spPr>
          <a:xfrm>
            <a:off x="1968500" y="4833243"/>
            <a:ext cx="4064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42" name="Line 42"/>
          <p:cNvCxnSpPr/>
          <p:nvPr/>
        </p:nvCxnSpPr>
        <p:spPr>
          <a:xfrm>
            <a:off x="6032500" y="4833243"/>
            <a:ext cx="8255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43" name="Line 43"/>
          <p:cNvCxnSpPr/>
          <p:nvPr/>
        </p:nvCxnSpPr>
        <p:spPr>
          <a:xfrm>
            <a:off x="6858000" y="4833243"/>
            <a:ext cx="8255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44" name="Line 44"/>
          <p:cNvCxnSpPr/>
          <p:nvPr/>
        </p:nvCxnSpPr>
        <p:spPr>
          <a:xfrm>
            <a:off x="7683500" y="4833243"/>
            <a:ext cx="393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45" name="Line 45"/>
          <p:cNvCxnSpPr/>
          <p:nvPr/>
        </p:nvCxnSpPr>
        <p:spPr>
          <a:xfrm>
            <a:off x="571500" y="5176143"/>
            <a:ext cx="139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46" name="Line 46"/>
          <p:cNvCxnSpPr/>
          <p:nvPr/>
        </p:nvCxnSpPr>
        <p:spPr>
          <a:xfrm>
            <a:off x="1968500" y="5176143"/>
            <a:ext cx="4064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47" name="Line 47"/>
          <p:cNvCxnSpPr/>
          <p:nvPr/>
        </p:nvCxnSpPr>
        <p:spPr>
          <a:xfrm>
            <a:off x="6032500" y="5176143"/>
            <a:ext cx="8255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48" name="Line 48"/>
          <p:cNvCxnSpPr/>
          <p:nvPr/>
        </p:nvCxnSpPr>
        <p:spPr>
          <a:xfrm>
            <a:off x="6858000" y="5176143"/>
            <a:ext cx="8255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49" name="Line 49"/>
          <p:cNvCxnSpPr/>
          <p:nvPr/>
        </p:nvCxnSpPr>
        <p:spPr>
          <a:xfrm>
            <a:off x="7683500" y="5176143"/>
            <a:ext cx="393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sp>
        <p:nvSpPr>
          <p:cNvPr id="50" name="Text 50"/>
          <p:cNvSpPr txBox="1"/>
          <p:nvPr/>
        </p:nvSpPr>
        <p:spPr>
          <a:xfrm>
            <a:off x="571500" y="2093643"/>
            <a:ext cx="487561" cy="11155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7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Provider</a:t>
            </a:r>
            <a:endParaRPr lang="en-US" kern="100" sz="650" b="1" cap="all" spc="7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51" name="Text 51"/>
          <p:cNvSpPr txBox="1"/>
          <p:nvPr/>
        </p:nvSpPr>
        <p:spPr>
          <a:xfrm>
            <a:off x="1968500" y="2093643"/>
            <a:ext cx="1096883" cy="11155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7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Variables it reads</a:t>
            </a:r>
            <a:endParaRPr lang="en-US" kern="100" sz="650" b="1" cap="all" spc="7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52" name="Text 52"/>
          <p:cNvSpPr txBox="1"/>
          <p:nvPr/>
        </p:nvSpPr>
        <p:spPr>
          <a:xfrm>
            <a:off x="6032500" y="2093643"/>
            <a:ext cx="247154" cy="11155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7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Chat</a:t>
            </a:r>
            <a:endParaRPr lang="en-US" kern="100" sz="650" b="1" cap="all" spc="7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53" name="Text 53"/>
          <p:cNvSpPr txBox="1"/>
          <p:nvPr/>
        </p:nvSpPr>
        <p:spPr>
          <a:xfrm>
            <a:off x="6858000" y="2093643"/>
            <a:ext cx="305693" cy="11155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7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Embed</a:t>
            </a:r>
            <a:endParaRPr lang="en-US" kern="100" sz="650" b="1" cap="all" spc="7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54" name="Text 54"/>
          <p:cNvSpPr txBox="1"/>
          <p:nvPr/>
        </p:nvSpPr>
        <p:spPr>
          <a:xfrm>
            <a:off x="7683500" y="2093643"/>
            <a:ext cx="731290" cy="11155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7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PDF natively</a:t>
            </a:r>
            <a:endParaRPr lang="en-US" kern="100" sz="650" b="1" cap="all" spc="7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55" name="Text 55"/>
          <p:cNvSpPr txBox="1"/>
          <p:nvPr/>
        </p:nvSpPr>
        <p:spPr>
          <a:xfrm>
            <a:off x="571500" y="2386183"/>
            <a:ext cx="424926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openai</a:t>
            </a:r>
            <a:endParaRPr lang="en-US" kern="100" sz="10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56" name="Text 56"/>
          <p:cNvSpPr txBox="1"/>
          <p:nvPr/>
        </p:nvSpPr>
        <p:spPr>
          <a:xfrm>
            <a:off x="1968500" y="2382151"/>
            <a:ext cx="3435215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OPENAI_API_KEY · OPENAI_BASE_URL · OPENAI_ORG_ID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57" name="Text 57"/>
          <p:cNvSpPr txBox="1"/>
          <p:nvPr/>
        </p:nvSpPr>
        <p:spPr>
          <a:xfrm>
            <a:off x="6032500" y="2386183"/>
            <a:ext cx="20379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yes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58" name="Text 58"/>
          <p:cNvSpPr txBox="1"/>
          <p:nvPr/>
        </p:nvSpPr>
        <p:spPr>
          <a:xfrm>
            <a:off x="6858000" y="2386183"/>
            <a:ext cx="20379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yes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59" name="Text 59"/>
          <p:cNvSpPr txBox="1"/>
          <p:nvPr/>
        </p:nvSpPr>
        <p:spPr>
          <a:xfrm>
            <a:off x="7683500" y="2386183"/>
            <a:ext cx="20379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yes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60" name="Text 60"/>
          <p:cNvSpPr txBox="1"/>
          <p:nvPr/>
        </p:nvSpPr>
        <p:spPr>
          <a:xfrm>
            <a:off x="571500" y="2729083"/>
            <a:ext cx="581358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anthropic</a:t>
            </a:r>
            <a:endParaRPr lang="en-US" kern="100" sz="10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61" name="Text 61"/>
          <p:cNvSpPr txBox="1"/>
          <p:nvPr/>
        </p:nvSpPr>
        <p:spPr>
          <a:xfrm>
            <a:off x="1968500" y="2725051"/>
            <a:ext cx="2719610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ANTHROPIC_API_KEY · ANTHROPIC_BASE_URL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62" name="Text 62"/>
          <p:cNvSpPr txBox="1"/>
          <p:nvPr/>
        </p:nvSpPr>
        <p:spPr>
          <a:xfrm>
            <a:off x="6032500" y="2729083"/>
            <a:ext cx="20379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yes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63" name="Text 63"/>
          <p:cNvSpPr txBox="1"/>
          <p:nvPr/>
        </p:nvSpPr>
        <p:spPr>
          <a:xfrm>
            <a:off x="6858000" y="2729083"/>
            <a:ext cx="88900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—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64" name="Text 64"/>
          <p:cNvSpPr txBox="1"/>
          <p:nvPr/>
        </p:nvSpPr>
        <p:spPr>
          <a:xfrm>
            <a:off x="7683500" y="2729083"/>
            <a:ext cx="20379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yes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65" name="Text 65"/>
          <p:cNvSpPr txBox="1"/>
          <p:nvPr/>
        </p:nvSpPr>
        <p:spPr>
          <a:xfrm>
            <a:off x="571500" y="3071983"/>
            <a:ext cx="424513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gemini</a:t>
            </a:r>
            <a:endParaRPr lang="en-US" kern="100" sz="10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66" name="Text 66"/>
          <p:cNvSpPr txBox="1"/>
          <p:nvPr/>
        </p:nvSpPr>
        <p:spPr>
          <a:xfrm>
            <a:off x="1968500" y="3067951"/>
            <a:ext cx="2433368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GOOGLE_API_KEY (or GEMINI_API_KEY)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67" name="Text 67"/>
          <p:cNvSpPr txBox="1"/>
          <p:nvPr/>
        </p:nvSpPr>
        <p:spPr>
          <a:xfrm>
            <a:off x="6032500" y="3071983"/>
            <a:ext cx="20379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yes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68" name="Text 68"/>
          <p:cNvSpPr txBox="1"/>
          <p:nvPr/>
        </p:nvSpPr>
        <p:spPr>
          <a:xfrm>
            <a:off x="6858000" y="3071983"/>
            <a:ext cx="20379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yes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69" name="Text 69"/>
          <p:cNvSpPr txBox="1"/>
          <p:nvPr/>
        </p:nvSpPr>
        <p:spPr>
          <a:xfrm>
            <a:off x="7683500" y="3071983"/>
            <a:ext cx="20379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yes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70" name="Text 70"/>
          <p:cNvSpPr txBox="1"/>
          <p:nvPr/>
        </p:nvSpPr>
        <p:spPr>
          <a:xfrm>
            <a:off x="571500" y="3414883"/>
            <a:ext cx="801870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azure-openai</a:t>
            </a:r>
            <a:endParaRPr lang="en-US" kern="100" sz="10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71" name="Text 71"/>
          <p:cNvSpPr txBox="1"/>
          <p:nvPr/>
        </p:nvSpPr>
        <p:spPr>
          <a:xfrm>
            <a:off x="1968500" y="3410851"/>
            <a:ext cx="3369153" cy="30703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AZURE_OPENAI_API_KEY · _ENDPOINT · _DEPLOYMENT · _API_VERSION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72" name="Text 72"/>
          <p:cNvSpPr txBox="1"/>
          <p:nvPr/>
        </p:nvSpPr>
        <p:spPr>
          <a:xfrm>
            <a:off x="6032500" y="3414883"/>
            <a:ext cx="20379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yes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73" name="Text 73"/>
          <p:cNvSpPr txBox="1"/>
          <p:nvPr/>
        </p:nvSpPr>
        <p:spPr>
          <a:xfrm>
            <a:off x="6858000" y="3414883"/>
            <a:ext cx="20379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yes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74" name="Text 74"/>
          <p:cNvSpPr txBox="1"/>
          <p:nvPr/>
        </p:nvSpPr>
        <p:spPr>
          <a:xfrm>
            <a:off x="7683500" y="3414883"/>
            <a:ext cx="20379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yes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75" name="Text 75"/>
          <p:cNvSpPr txBox="1"/>
          <p:nvPr/>
        </p:nvSpPr>
        <p:spPr>
          <a:xfrm>
            <a:off x="571500" y="3894903"/>
            <a:ext cx="958302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azure-anthropic</a:t>
            </a:r>
            <a:endParaRPr lang="en-US" kern="100" sz="10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76" name="Text 76"/>
          <p:cNvSpPr txBox="1"/>
          <p:nvPr/>
        </p:nvSpPr>
        <p:spPr>
          <a:xfrm>
            <a:off x="1968500" y="3890871"/>
            <a:ext cx="3721560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AZURE_AI_INFERENCE_KEY · AZURE_AI_INFERENCE_ENDPOINT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77" name="Text 77"/>
          <p:cNvSpPr txBox="1"/>
          <p:nvPr/>
        </p:nvSpPr>
        <p:spPr>
          <a:xfrm>
            <a:off x="6032500" y="3894903"/>
            <a:ext cx="20379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yes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78" name="Text 78"/>
          <p:cNvSpPr txBox="1"/>
          <p:nvPr/>
        </p:nvSpPr>
        <p:spPr>
          <a:xfrm>
            <a:off x="6858000" y="3894903"/>
            <a:ext cx="88900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—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79" name="Text 79"/>
          <p:cNvSpPr txBox="1"/>
          <p:nvPr/>
        </p:nvSpPr>
        <p:spPr>
          <a:xfrm>
            <a:off x="7683500" y="3894903"/>
            <a:ext cx="20379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yes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80" name="Text 80"/>
          <p:cNvSpPr txBox="1"/>
          <p:nvPr/>
        </p:nvSpPr>
        <p:spPr>
          <a:xfrm>
            <a:off x="571500" y="4237803"/>
            <a:ext cx="414298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ollama</a:t>
            </a:r>
            <a:endParaRPr lang="en-US" kern="100" sz="10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81" name="Text 81"/>
          <p:cNvSpPr txBox="1"/>
          <p:nvPr/>
        </p:nvSpPr>
        <p:spPr>
          <a:xfrm>
            <a:off x="1968500" y="4233771"/>
            <a:ext cx="787321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OLLAMA_HOST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82" name="Text 82"/>
          <p:cNvSpPr txBox="1"/>
          <p:nvPr/>
        </p:nvSpPr>
        <p:spPr>
          <a:xfrm>
            <a:off x="6032500" y="4237803"/>
            <a:ext cx="20379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yes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83" name="Text 83"/>
          <p:cNvSpPr txBox="1"/>
          <p:nvPr/>
        </p:nvSpPr>
        <p:spPr>
          <a:xfrm>
            <a:off x="6858000" y="4237803"/>
            <a:ext cx="20379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yes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84" name="Text 84"/>
          <p:cNvSpPr txBox="1"/>
          <p:nvPr/>
        </p:nvSpPr>
        <p:spPr>
          <a:xfrm>
            <a:off x="7683500" y="4237803"/>
            <a:ext cx="1234742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text extracted locally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85" name="Text 85"/>
          <p:cNvSpPr txBox="1"/>
          <p:nvPr/>
        </p:nvSpPr>
        <p:spPr>
          <a:xfrm>
            <a:off x="571500" y="4580703"/>
            <a:ext cx="379936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litellm</a:t>
            </a:r>
            <a:endParaRPr lang="en-US" kern="100" sz="10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86" name="Text 86"/>
          <p:cNvSpPr txBox="1"/>
          <p:nvPr/>
        </p:nvSpPr>
        <p:spPr>
          <a:xfrm>
            <a:off x="1968500" y="4576671"/>
            <a:ext cx="2719610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LITELLM_PROXY_URL · LITELLM_MASTER_KEY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87" name="Text 87"/>
          <p:cNvSpPr txBox="1"/>
          <p:nvPr/>
        </p:nvSpPr>
        <p:spPr>
          <a:xfrm>
            <a:off x="6032500" y="4580703"/>
            <a:ext cx="20379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yes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88" name="Text 88"/>
          <p:cNvSpPr txBox="1"/>
          <p:nvPr/>
        </p:nvSpPr>
        <p:spPr>
          <a:xfrm>
            <a:off x="6858000" y="4580703"/>
            <a:ext cx="20379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yes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89" name="Text 89"/>
          <p:cNvSpPr txBox="1"/>
          <p:nvPr/>
        </p:nvSpPr>
        <p:spPr>
          <a:xfrm>
            <a:off x="7683500" y="4580703"/>
            <a:ext cx="20379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yes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90" name="Text 90"/>
          <p:cNvSpPr txBox="1"/>
          <p:nvPr/>
        </p:nvSpPr>
        <p:spPr>
          <a:xfrm>
            <a:off x="571500" y="4923603"/>
            <a:ext cx="22800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mlx</a:t>
            </a:r>
            <a:endParaRPr lang="en-US" kern="100" sz="10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91" name="Text 91"/>
          <p:cNvSpPr txBox="1"/>
          <p:nvPr/>
        </p:nvSpPr>
        <p:spPr>
          <a:xfrm>
            <a:off x="1968500" y="4919571"/>
            <a:ext cx="3005852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OPENAI_BASE_URL (OpenAI-compatible server)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92" name="Text 92"/>
          <p:cNvSpPr txBox="1"/>
          <p:nvPr/>
        </p:nvSpPr>
        <p:spPr>
          <a:xfrm>
            <a:off x="6032500" y="4923603"/>
            <a:ext cx="20379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yes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93" name="Text 93"/>
          <p:cNvSpPr txBox="1"/>
          <p:nvPr/>
        </p:nvSpPr>
        <p:spPr>
          <a:xfrm>
            <a:off x="6858000" y="4923603"/>
            <a:ext cx="20379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yes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94" name="Text 94"/>
          <p:cNvSpPr txBox="1"/>
          <p:nvPr/>
        </p:nvSpPr>
        <p:spPr>
          <a:xfrm>
            <a:off x="7683500" y="4923603"/>
            <a:ext cx="1234742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text extracted locally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95" name="Text 95"/>
          <p:cNvSpPr txBox="1"/>
          <p:nvPr/>
        </p:nvSpPr>
        <p:spPr>
          <a:xfrm>
            <a:off x="571500" y="6032768"/>
            <a:ext cx="7292364" cy="124866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666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700" b="0" dirty="0">
                <a:solidFill>
                  <a:srgbClr val="1B1D21">
                    <a:alpha val="50000"/>
                  </a:srgbClr>
                </a:solidFill>
                <a:latin typeface="Avenir Next"/>
                <a:ea typeface="Avenir Next"/>
                <a:cs typeface="Avenir Next"/>
              </a:rPr>
              <a:t>Model names are yours to choose (e.g. claude-opus-5, gpt-5, gemini-3.6-flash, llama3). For azure-openai the chat model is the deployment in AZURE_OPENAI_DEPLOYMENT.</a:t>
            </a:r>
            <a:endParaRPr lang="en-US" kern="100" sz="700" b="0" dirty="0">
              <a:solidFill>
                <a:srgbClr val="1B1D21">
                  <a:alpha val="50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pic>
        <p:nvPicPr>
          <p:cNvPr id="96" name="Picture 96" descr="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97" name="Text 97"/>
          <p:cNvSpPr txBox="1"/>
          <p:nvPr/>
        </p:nvSpPr>
        <p:spPr>
          <a:xfrm>
            <a:off x="11776770" y="6459106"/>
            <a:ext cx="85030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55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7</a:t>
            </a:r>
            <a:endParaRPr lang="en-US" kern="100" sz="900" b="0" spc="20" dirty="0">
              <a:solidFill>
                <a:srgbClr val="1B1D21">
                  <a:alpha val="55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98" name="Text 98"/>
          <p:cNvSpPr txBox="1"/>
          <p:nvPr/>
        </p:nvSpPr>
        <p:spPr>
          <a:xfrm>
            <a:off x="1358900" y="6459106"/>
            <a:ext cx="113753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38500"/>
                  </a:srgbClr>
                </a:solidFill>
                <a:latin typeface="Avenir Next"/>
                <a:ea typeface="Avenir Next"/>
                <a:cs typeface="Avenir Next"/>
              </a:rPr>
              <a:t>llm-wiki · user guide</a:t>
            </a:r>
            <a:endParaRPr lang="en-US" kern="100" sz="900" b="0" spc="20" dirty="0">
              <a:solidFill>
                <a:srgbClr val="1B1D21">
                  <a:alpha val="385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71500" y="448247"/>
            <a:ext cx="801251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25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01 · Setup</a:t>
            </a:r>
            <a:endParaRPr lang="en-US" kern="100" sz="800" b="1" cap="all" spc="125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71500" y="725449"/>
            <a:ext cx="3040213" cy="34389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Create the wiki: </a:t>
            </a:r>
            <a:r>
              <a:rPr lang="en-US" kern="100" sz="2800" b="0" i="1" spc="-50" dirty="0">
                <a:solidFill>
                  <a:srgbClr val="C8623A"/>
                </a:solidFill>
                <a:latin typeface="Avenir Next"/>
                <a:ea typeface="Avenir Next"/>
                <a:cs typeface="Avenir Next"/>
              </a:rPr>
              <a:t>init</a:t>
            </a: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.</a:t>
            </a:r>
            <a:endParaRPr lang="en-US" kern="100" sz="2800" b="0" spc="-50" dirty="0">
              <a:solidFill>
                <a:srgbClr val="1B1D21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4" name="Shape 4"/>
          <p:cNvSpPr/>
          <p:nvPr/>
        </p:nvSpPr>
        <p:spPr>
          <a:xfrm>
            <a:off x="571500" y="1841500"/>
            <a:ext cx="3810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hape 5"/>
          <p:cNvSpPr/>
          <p:nvPr/>
        </p:nvSpPr>
        <p:spPr>
          <a:xfrm>
            <a:off x="571500" y="2159000"/>
            <a:ext cx="5715000" cy="2514203"/>
          </a:xfrm>
          <a:prstGeom prst="roundRect">
            <a:avLst>
              <a:gd name="adj" fmla="val 4041"/>
            </a:avLst>
          </a:prstGeom>
          <a:solidFill>
            <a:srgbClr val="1B1D21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800100" y="2334197"/>
            <a:ext cx="5093232" cy="2143466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llm-wiki init ~/notes-wiki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initialised wiki at /Users/you/notes-wiki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  created …/raw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  created …/raw/assets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  created …/wiki/sources  entities  concepts  syntheses  lint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  created …/CLAUDE.md  AGENTS.md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  created …/wiki/index.md  wiki/log.md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next: export LLM_WIKI_ROOT=~/notes-wiki (or pass --root)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export LLM_WIKI_ROOT=~/notes-wiki</a:t>
            </a:r>
            <a:endParaRPr lang="en-US" kern="100" sz="1050" b="0" dirty="0">
              <a:solidFill>
                <a:srgbClr val="F6F3EC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7" name="Shape 7"/>
          <p:cNvSpPr/>
          <p:nvPr/>
        </p:nvSpPr>
        <p:spPr>
          <a:xfrm>
            <a:off x="6731000" y="2159000"/>
            <a:ext cx="4889500" cy="1395016"/>
          </a:xfrm>
          <a:prstGeom prst="roundRect">
            <a:avLst>
              <a:gd name="adj" fmla="val 7283"/>
            </a:avLst>
          </a:prstGeom>
          <a:solidFill>
            <a:srgbClr val="FFFFFF"/>
          </a:solidFill>
          <a:ln>
            <a:noFill/>
          </a:ln>
          <a:effectLst>
            <a:outerShdw blurRad="411480" dist="114300" dir="5400000" sx="93766" sy="78151" algn="ctr" rotWithShape="0">
              <a:srgbClr val="1B1D21">
                <a:alpha val="18000"/>
              </a:srgbClr>
            </a:outerShdw>
          </a:effectLst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Shape 8"/>
          <p:cNvSpPr/>
          <p:nvPr/>
        </p:nvSpPr>
        <p:spPr>
          <a:xfrm>
            <a:off x="6734175" y="2162175"/>
            <a:ext cx="4883150" cy="1388666"/>
          </a:xfrm>
          <a:prstGeom prst="roundRect">
            <a:avLst>
              <a:gd name="adj" fmla="val 7088"/>
            </a:avLst>
          </a:prstGeom>
          <a:noFill/>
          <a:ln w="6350">
            <a:solidFill>
              <a:srgbClr val="1B1D21">
                <a:alpha val="6000"/>
              </a:srgbClr>
            </a:solidFill>
            <a:miter lim="800000"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Shape 9"/>
          <p:cNvSpPr/>
          <p:nvPr/>
        </p:nvSpPr>
        <p:spPr>
          <a:xfrm>
            <a:off x="6731000" y="3706416"/>
            <a:ext cx="4889500" cy="1220391"/>
          </a:xfrm>
          <a:prstGeom prst="roundRect">
            <a:avLst>
              <a:gd name="adj" fmla="val 8325"/>
            </a:avLst>
          </a:prstGeom>
          <a:solidFill>
            <a:srgbClr val="FFFFFF"/>
          </a:solidFill>
          <a:ln>
            <a:noFill/>
          </a:ln>
          <a:effectLst>
            <a:outerShdw blurRad="411480" dist="114300" dir="5400000" sx="93766" sy="75024" algn="ctr" rotWithShape="0">
              <a:srgbClr val="1B1D21">
                <a:alpha val="18000"/>
              </a:srgbClr>
            </a:outerShdw>
          </a:effectLst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Shape 10"/>
          <p:cNvSpPr/>
          <p:nvPr/>
        </p:nvSpPr>
        <p:spPr>
          <a:xfrm>
            <a:off x="6734175" y="3709591"/>
            <a:ext cx="4883150" cy="1214041"/>
          </a:xfrm>
          <a:prstGeom prst="roundRect">
            <a:avLst>
              <a:gd name="adj" fmla="val 8107"/>
            </a:avLst>
          </a:prstGeom>
          <a:noFill/>
          <a:ln w="6350">
            <a:solidFill>
              <a:srgbClr val="1B1D21">
                <a:alpha val="6000"/>
              </a:srgbClr>
            </a:solidFill>
            <a:miter lim="800000"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6965950" y="2372487"/>
            <a:ext cx="747078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What you get</a:t>
            </a:r>
            <a:endParaRPr lang="en-US" kern="100" sz="650" b="1" cap="all" spc="8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2" name="Text 12"/>
          <p:cNvSpPr txBox="1"/>
          <p:nvPr/>
        </p:nvSpPr>
        <p:spPr>
          <a:xfrm>
            <a:off x="6965950" y="2528722"/>
            <a:ext cx="2071283" cy="19288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3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A folder that is also a repo</a:t>
            </a:r>
            <a:endParaRPr lang="en-US" kern="100" sz="13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3" name="Text 13"/>
          <p:cNvSpPr txBox="1"/>
          <p:nvPr/>
        </p:nvSpPr>
        <p:spPr>
          <a:xfrm>
            <a:off x="6965950" y="2795705"/>
            <a:ext cx="4419600" cy="547173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Plain markdown throughout. Put it under git for history; open it in Obsidian for the graph view; open it in Claude Code and the schema turns the agent into the wiki's maintainer.</a:t>
            </a:r>
            <a:endParaRPr lang="en-US" kern="100" sz="95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4" name="Text 14"/>
          <p:cNvSpPr txBox="1"/>
          <p:nvPr/>
        </p:nvSpPr>
        <p:spPr>
          <a:xfrm>
            <a:off x="6965950" y="3919903"/>
            <a:ext cx="871625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Safe to re-run</a:t>
            </a:r>
            <a:endParaRPr lang="en-US" kern="100" sz="650" b="1" cap="all" spc="8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5" name="Text 15"/>
          <p:cNvSpPr txBox="1"/>
          <p:nvPr/>
        </p:nvSpPr>
        <p:spPr>
          <a:xfrm>
            <a:off x="6965950" y="4076138"/>
            <a:ext cx="1691656" cy="19288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3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Existing files are kept</a:t>
            </a:r>
            <a:endParaRPr lang="en-US" kern="100" sz="13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6" name="Text 16"/>
          <p:cNvSpPr txBox="1"/>
          <p:nvPr/>
        </p:nvSpPr>
        <p:spPr>
          <a:xfrm>
            <a:off x="6965950" y="4349229"/>
            <a:ext cx="4304270" cy="366439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Courier New"/>
                <a:ea typeface="Courier New"/>
                <a:cs typeface="Courier New"/>
              </a:rPr>
              <a:t>init</a:t>
            </a: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 refuses to overwrite a wiki that already has a schema; </a:t>
            </a: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Courier New"/>
                <a:ea typeface="Courier New"/>
                <a:cs typeface="Courier New"/>
              </a:rPr>
              <a:t>--force</a:t>
            </a: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 rewrites only CLAUDE.md and AGENTS.md.</a:t>
            </a:r>
            <a:endParaRPr lang="en-US" kern="100" sz="95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pic>
        <p:nvPicPr>
          <p:cNvPr id="17" name="Picture 17" descr="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18" name="Text 18"/>
          <p:cNvSpPr txBox="1"/>
          <p:nvPr/>
        </p:nvSpPr>
        <p:spPr>
          <a:xfrm>
            <a:off x="11776770" y="6459106"/>
            <a:ext cx="85030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55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8</a:t>
            </a:r>
            <a:endParaRPr lang="en-US" kern="100" sz="900" b="0" spc="20" dirty="0">
              <a:solidFill>
                <a:srgbClr val="1B1D21">
                  <a:alpha val="55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9" name="Text 19"/>
          <p:cNvSpPr txBox="1"/>
          <p:nvPr/>
        </p:nvSpPr>
        <p:spPr>
          <a:xfrm>
            <a:off x="1358900" y="6459106"/>
            <a:ext cx="113753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38500"/>
                  </a:srgbClr>
                </a:solidFill>
                <a:latin typeface="Avenir Next"/>
                <a:ea typeface="Avenir Next"/>
                <a:cs typeface="Avenir Next"/>
              </a:rPr>
              <a:t>llm-wiki · user guide</a:t>
            </a:r>
            <a:endParaRPr lang="en-US" kern="100" sz="900" b="0" spc="20" dirty="0">
              <a:solidFill>
                <a:srgbClr val="1B1D21">
                  <a:alpha val="385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4826000" y="635000"/>
            <a:ext cx="6985000" cy="5588000"/>
          </a:xfrm>
          <a:prstGeom prst="roundRect">
            <a:avLst>
              <a:gd name="adj" fmla="val 2727"/>
            </a:avLst>
          </a:prstGeom>
          <a:solidFill>
            <a:srgbClr val="2E3238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3" name="Picture 3" descr=""/>
          <p:cNvPicPr>
            <a:picLocks noChangeAspect="1"/>
          </p:cNvPicPr>
          <p:nvPr/>
        </p:nvPicPr>
        <p:blipFill>
          <a:blip r:embed="rId2"/>
          <a:srcRect l="14844" t="0" r="14844" b="0"/>
          <a:stretch>
            <a:fillRect/>
          </a:stretch>
        </p:blipFill>
        <p:spPr>
          <a:xfrm>
            <a:off x="4826000" y="635000"/>
            <a:ext cx="6985000" cy="5588000"/>
          </a:xfrm>
          <a:prstGeom prst="roundRect">
            <a:avLst>
              <a:gd name="adj" fmla="val 2727"/>
            </a:avLst>
          </a:prstGeom>
        </p:spPr>
      </p:pic>
      <p:sp>
        <p:nvSpPr>
          <p:cNvPr id="4" name="Text 4"/>
          <p:cNvSpPr txBox="1"/>
          <p:nvPr/>
        </p:nvSpPr>
        <p:spPr>
          <a:xfrm>
            <a:off x="508000" y="2408428"/>
            <a:ext cx="1521603" cy="1271397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0" b="0" spc="-400" dirty="0">
                <a:solidFill>
                  <a:srgbClr val="E08A5E"/>
                </a:solidFill>
                <a:latin typeface="Avenir Next Ultra Light"/>
                <a:ea typeface="Avenir Next Ultra Light"/>
                <a:cs typeface="Avenir Next Ultra Light"/>
              </a:rPr>
              <a:t>02</a:t>
            </a:r>
            <a:endParaRPr lang="en-US" kern="100" sz="11000" b="0" spc="-400" dirty="0">
              <a:solidFill>
                <a:srgbClr val="E08A5E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5" name="Text 5"/>
          <p:cNvSpPr txBox="1"/>
          <p:nvPr/>
        </p:nvSpPr>
        <p:spPr>
          <a:xfrm>
            <a:off x="571500" y="3770103"/>
            <a:ext cx="2373416" cy="357080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900" b="0" spc="-50" dirty="0">
                <a:solidFill>
                  <a:srgbClr val="F6F3EC"/>
                </a:solidFill>
                <a:latin typeface="Avenir Next Ultra Light"/>
                <a:ea typeface="Avenir Next Ultra Light"/>
                <a:cs typeface="Avenir Next Ultra Light"/>
              </a:rPr>
              <a:t>The daily loop.</a:t>
            </a:r>
            <a:endParaRPr lang="en-US" kern="100" sz="2900" b="0" spc="-50" dirty="0">
              <a:solidFill>
                <a:srgbClr val="F6F3EC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6" name="Text 6"/>
          <p:cNvSpPr txBox="1"/>
          <p:nvPr/>
        </p:nvSpPr>
        <p:spPr>
          <a:xfrm>
            <a:off x="571500" y="4695368"/>
            <a:ext cx="3730246" cy="587793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1666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0" dirty="0">
                <a:solidFill>
                  <a:srgbClr val="F6F3EC">
                    <a:alpha val="70000"/>
                  </a:srgbClr>
                </a:solidFill>
                <a:latin typeface="Avenir Next"/>
                <a:ea typeface="Avenir Next"/>
                <a:cs typeface="Avenir Next"/>
              </a:rPr>
              <a:t>Ingest a source, search the pages, ask a question, file the answer, lint now and then. Each step leaves the wiki richer than it found it.</a:t>
            </a:r>
            <a:endParaRPr lang="en-US" kern="100" sz="1100" b="0" dirty="0">
              <a:solidFill>
                <a:srgbClr val="F6F3EC">
                  <a:alpha val="70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pic>
        <p:nvPicPr>
          <p:cNvPr id="7" name="Picture 7" descr="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11776770" y="6459106"/>
            <a:ext cx="85030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FFFFFF">
                    <a:alpha val="70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9</a:t>
            </a:r>
            <a:endParaRPr lang="en-US" kern="100" sz="900" b="0" spc="20" dirty="0">
              <a:solidFill>
                <a:srgbClr val="FFFFFF">
                  <a:alpha val="70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9" name="Text 9"/>
          <p:cNvSpPr txBox="1"/>
          <p:nvPr/>
        </p:nvSpPr>
        <p:spPr>
          <a:xfrm>
            <a:off x="1358900" y="6459106"/>
            <a:ext cx="1499934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FFFFFF">
                    <a:alpha val="49000"/>
                  </a:srgbClr>
                </a:solidFill>
                <a:latin typeface="Avenir Next"/>
                <a:ea typeface="Avenir Next"/>
                <a:cs typeface="Avenir Next"/>
              </a:rPr>
              <a:t>Section 02 · The daily loop</a:t>
            </a:r>
            <a:endParaRPr lang="en-US" kern="100" sz="900" b="0" spc="20" dirty="0">
              <a:solidFill>
                <a:srgbClr val="FFFFFF">
                  <a:alpha val="49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71500" y="448247"/>
            <a:ext cx="1041678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25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02 · The loop</a:t>
            </a:r>
            <a:endParaRPr lang="en-US" kern="100" sz="800" b="1" cap="all" spc="125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71500" y="725449"/>
            <a:ext cx="8037068" cy="34389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Ingest: one source in, </a:t>
            </a:r>
            <a:r>
              <a:rPr lang="en-US" kern="100" sz="2800" b="0" i="1" spc="-50" dirty="0">
                <a:solidFill>
                  <a:srgbClr val="C8623A"/>
                </a:solidFill>
                <a:latin typeface="Avenir Next"/>
                <a:ea typeface="Avenir Next"/>
                <a:cs typeface="Avenir Next"/>
              </a:rPr>
              <a:t>five to fifteen</a:t>
            </a: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 pages touched.</a:t>
            </a:r>
            <a:endParaRPr lang="en-US" kern="100" sz="2800" b="0" spc="-50" dirty="0">
              <a:solidFill>
                <a:srgbClr val="1B1D21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4" name="Shape 4"/>
          <p:cNvSpPr/>
          <p:nvPr/>
        </p:nvSpPr>
        <p:spPr>
          <a:xfrm>
            <a:off x="571500" y="1841500"/>
            <a:ext cx="3810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hape 5"/>
          <p:cNvSpPr/>
          <p:nvPr/>
        </p:nvSpPr>
        <p:spPr>
          <a:xfrm>
            <a:off x="571500" y="2159000"/>
            <a:ext cx="5588000" cy="3580805"/>
          </a:xfrm>
          <a:prstGeom prst="roundRect">
            <a:avLst>
              <a:gd name="adj" fmla="val 2837"/>
            </a:avLst>
          </a:prstGeom>
          <a:solidFill>
            <a:srgbClr val="1B1D21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800100" y="2334197"/>
            <a:ext cx="5093232" cy="321006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llm-wiki ingest ~/Downloads/deploy-notes.md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reading related pages for raw/deploy-notes.md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asking anthropic/claude-opus-5 to compile raw/deploy-notes.md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E08A5E"/>
                </a:solidFill>
                <a:latin typeface="Menlo"/>
                <a:ea typeface="Menlo"/>
                <a:cs typeface="Menlo"/>
              </a:rPr>
              <a:t># Deployment notes for the Ntakker API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Takeaways: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- Deploys to Azure Web App as a Docker container …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Pages written: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- replace wiki/sources/deploy-notes.md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- create wiki/entities/ntakker-api.md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- create wiki/entities/azure-blob-storage.md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- create wiki/concepts/configuration-management.md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  …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llm-wiki ingest                 </a:t>
            </a:r>
            <a:r>
              <a:rPr lang="en-US" kern="100" sz="105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every pending source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llm-wiki ingest raw/x.md --dry-run</a:t>
            </a:r>
            <a:endParaRPr lang="en-US" kern="100" sz="1050" b="0" dirty="0">
              <a:solidFill>
                <a:srgbClr val="F6F3EC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7" name="Text 7"/>
          <p:cNvSpPr txBox="1"/>
          <p:nvPr/>
        </p:nvSpPr>
        <p:spPr>
          <a:xfrm>
            <a:off x="6756400" y="2150129"/>
            <a:ext cx="4711335" cy="40790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1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Context for the model: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the index plus the most related existing pages,</a:t>
            </a:r>
            <a:b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found by search — so it updates pages instead of duplicating them.</a:t>
            </a:r>
            <a:endParaRPr lang="en-US" kern="100" sz="11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8" name="Shape 8"/>
          <p:cNvSpPr/>
          <p:nvPr/>
        </p:nvSpPr>
        <p:spPr>
          <a:xfrm>
            <a:off x="6540500" y="2247900"/>
            <a:ext cx="1016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Shape 9"/>
          <p:cNvSpPr/>
          <p:nvPr/>
        </p:nvSpPr>
        <p:spPr>
          <a:xfrm>
            <a:off x="7702252" y="2678311"/>
            <a:ext cx="694234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6756400" y="2656740"/>
            <a:ext cx="4722170" cy="40790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1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After writing: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index.md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is regenerated, the search index rebuilt, a log</a:t>
            </a:r>
            <a:b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entry appended, and the source's hash recorded.</a:t>
            </a:r>
            <a:endParaRPr lang="en-US" kern="100" sz="11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1" name="Shape 11"/>
          <p:cNvSpPr/>
          <p:nvPr/>
        </p:nvSpPr>
        <p:spPr>
          <a:xfrm>
            <a:off x="6540500" y="2754511"/>
            <a:ext cx="1016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Shape 12"/>
          <p:cNvSpPr/>
          <p:nvPr/>
        </p:nvSpPr>
        <p:spPr>
          <a:xfrm>
            <a:off x="9776222" y="3184922"/>
            <a:ext cx="618530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Shape 13"/>
          <p:cNvSpPr/>
          <p:nvPr/>
        </p:nvSpPr>
        <p:spPr>
          <a:xfrm>
            <a:off x="11064677" y="3184922"/>
            <a:ext cx="498475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Shape 14"/>
          <p:cNvSpPr/>
          <p:nvPr/>
        </p:nvSpPr>
        <p:spPr>
          <a:xfrm>
            <a:off x="6756400" y="3387427"/>
            <a:ext cx="271463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756400" y="3163351"/>
            <a:ext cx="4999022" cy="40790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1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Idempotent: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an unchanged source is skipped;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--force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redoes it;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--dry-</a:t>
            </a:r>
            <a:b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</a:b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run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shows the plan only.</a:t>
            </a:r>
            <a:endParaRPr lang="en-US" kern="100" sz="11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6540500" y="3261122"/>
            <a:ext cx="1016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Shape 17"/>
          <p:cNvSpPr/>
          <p:nvPr/>
        </p:nvSpPr>
        <p:spPr>
          <a:xfrm>
            <a:off x="8914805" y="3691533"/>
            <a:ext cx="1450777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6756400" y="3669627"/>
            <a:ext cx="4853011" cy="40824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1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Never truncates: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a source above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--max-source-chars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is refused with a</a:t>
            </a:r>
            <a:b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message, not silently cut.</a:t>
            </a:r>
            <a:endParaRPr lang="en-US" kern="100" sz="11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6540500" y="3767733"/>
            <a:ext cx="1016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20" name="Picture 20" descr="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21" name="Text 21"/>
          <p:cNvSpPr txBox="1"/>
          <p:nvPr/>
        </p:nvSpPr>
        <p:spPr>
          <a:xfrm>
            <a:off x="11704538" y="6459106"/>
            <a:ext cx="157262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55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10</a:t>
            </a:r>
            <a:endParaRPr lang="en-US" kern="100" sz="900" b="0" spc="20" dirty="0">
              <a:solidFill>
                <a:srgbClr val="1B1D21">
                  <a:alpha val="55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22" name="Text 22"/>
          <p:cNvSpPr txBox="1"/>
          <p:nvPr/>
        </p:nvSpPr>
        <p:spPr>
          <a:xfrm>
            <a:off x="1358900" y="6459106"/>
            <a:ext cx="113753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38500"/>
                  </a:srgbClr>
                </a:solidFill>
                <a:latin typeface="Avenir Next"/>
                <a:ea typeface="Avenir Next"/>
                <a:cs typeface="Avenir Next"/>
              </a:rPr>
              <a:t>llm-wiki · user guide</a:t>
            </a:r>
            <a:endParaRPr lang="en-US" kern="100" sz="900" b="0" spc="20" dirty="0">
              <a:solidFill>
                <a:srgbClr val="1B1D21">
                  <a:alpha val="385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71500" y="448247"/>
            <a:ext cx="1041678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25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02 · The loop</a:t>
            </a:r>
            <a:endParaRPr lang="en-US" kern="100" sz="800" b="1" cap="all" spc="125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71500" y="725449"/>
            <a:ext cx="5427043" cy="34389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Search: local, instant, </a:t>
            </a:r>
            <a:r>
              <a:rPr lang="en-US" kern="100" sz="2800" b="0" i="1" spc="-50" dirty="0">
                <a:solidFill>
                  <a:srgbClr val="C8623A"/>
                </a:solidFill>
                <a:latin typeface="Avenir Next"/>
                <a:ea typeface="Avenir Next"/>
                <a:cs typeface="Avenir Next"/>
              </a:rPr>
              <a:t>three</a:t>
            </a: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 modes.</a:t>
            </a:r>
            <a:endParaRPr lang="en-US" kern="100" sz="2800" b="0" spc="-50" dirty="0">
              <a:solidFill>
                <a:srgbClr val="1B1D21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4" name="Shape 4"/>
          <p:cNvSpPr/>
          <p:nvPr/>
        </p:nvSpPr>
        <p:spPr>
          <a:xfrm>
            <a:off x="571500" y="1841500"/>
            <a:ext cx="3810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hape 5"/>
          <p:cNvSpPr/>
          <p:nvPr/>
        </p:nvSpPr>
        <p:spPr>
          <a:xfrm>
            <a:off x="571500" y="2159000"/>
            <a:ext cx="3479800" cy="1401366"/>
          </a:xfrm>
          <a:prstGeom prst="roundRect">
            <a:avLst>
              <a:gd name="adj" fmla="val 7250"/>
            </a:avLst>
          </a:prstGeom>
          <a:solidFill>
            <a:srgbClr val="FFFFFF"/>
          </a:solidFill>
          <a:ln>
            <a:noFill/>
          </a:ln>
          <a:effectLst>
            <a:outerShdw blurRad="411480" dist="114300" dir="5400000" sx="91241" sy="78250" algn="ctr" rotWithShape="0">
              <a:srgbClr val="1B1D21">
                <a:alpha val="18000"/>
              </a:srgbClr>
            </a:outerShdw>
          </a:effectLst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Shape 6"/>
          <p:cNvSpPr/>
          <p:nvPr/>
        </p:nvSpPr>
        <p:spPr>
          <a:xfrm>
            <a:off x="574675" y="2162175"/>
            <a:ext cx="3473450" cy="1395016"/>
          </a:xfrm>
          <a:prstGeom prst="roundRect">
            <a:avLst>
              <a:gd name="adj" fmla="val 7055"/>
            </a:avLst>
          </a:prstGeom>
          <a:noFill/>
          <a:ln w="6350">
            <a:solidFill>
              <a:srgbClr val="1B1D21">
                <a:alpha val="6000"/>
              </a:srgbClr>
            </a:solidFill>
            <a:miter lim="800000"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Shape 7"/>
          <p:cNvSpPr/>
          <p:nvPr/>
        </p:nvSpPr>
        <p:spPr>
          <a:xfrm>
            <a:off x="4356100" y="2159000"/>
            <a:ext cx="3479800" cy="1401366"/>
          </a:xfrm>
          <a:prstGeom prst="roundRect">
            <a:avLst>
              <a:gd name="adj" fmla="val 7250"/>
            </a:avLst>
          </a:prstGeom>
          <a:solidFill>
            <a:srgbClr val="FFFFFF"/>
          </a:solidFill>
          <a:ln>
            <a:noFill/>
          </a:ln>
          <a:effectLst>
            <a:outerShdw blurRad="411480" dist="114300" dir="5400000" sx="91241" sy="78250" algn="ctr" rotWithShape="0">
              <a:srgbClr val="1B1D21">
                <a:alpha val="18000"/>
              </a:srgbClr>
            </a:outerShdw>
          </a:effectLst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Shape 8"/>
          <p:cNvSpPr/>
          <p:nvPr/>
        </p:nvSpPr>
        <p:spPr>
          <a:xfrm>
            <a:off x="4359275" y="2162175"/>
            <a:ext cx="3473450" cy="1395016"/>
          </a:xfrm>
          <a:prstGeom prst="roundRect">
            <a:avLst>
              <a:gd name="adj" fmla="val 7055"/>
            </a:avLst>
          </a:prstGeom>
          <a:noFill/>
          <a:ln w="6350">
            <a:solidFill>
              <a:srgbClr val="1B1D21">
                <a:alpha val="6000"/>
              </a:srgbClr>
            </a:solidFill>
            <a:miter lim="800000"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Shape 9"/>
          <p:cNvSpPr/>
          <p:nvPr/>
        </p:nvSpPr>
        <p:spPr>
          <a:xfrm>
            <a:off x="8140700" y="2159000"/>
            <a:ext cx="3479800" cy="1401366"/>
          </a:xfrm>
          <a:prstGeom prst="roundRect">
            <a:avLst>
              <a:gd name="adj" fmla="val 7250"/>
            </a:avLst>
          </a:prstGeom>
          <a:solidFill>
            <a:srgbClr val="FFFFFF"/>
          </a:solidFill>
          <a:ln>
            <a:noFill/>
          </a:ln>
          <a:effectLst>
            <a:outerShdw blurRad="411480" dist="114300" dir="5400000" sx="91241" sy="78250" algn="ctr" rotWithShape="0">
              <a:srgbClr val="1B1D21">
                <a:alpha val="18000"/>
              </a:srgbClr>
            </a:outerShdw>
          </a:effectLst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Shape 10"/>
          <p:cNvSpPr/>
          <p:nvPr/>
        </p:nvSpPr>
        <p:spPr>
          <a:xfrm>
            <a:off x="8143875" y="2162175"/>
            <a:ext cx="3473450" cy="1395016"/>
          </a:xfrm>
          <a:prstGeom prst="roundRect">
            <a:avLst>
              <a:gd name="adj" fmla="val 7055"/>
            </a:avLst>
          </a:prstGeom>
          <a:noFill/>
          <a:ln w="6350">
            <a:solidFill>
              <a:srgbClr val="1B1D21">
                <a:alpha val="6000"/>
              </a:srgbClr>
            </a:solidFill>
            <a:miter lim="800000"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806450" y="2372487"/>
            <a:ext cx="871625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bm25 · default</a:t>
            </a:r>
            <a:endParaRPr lang="en-US" kern="100" sz="650" b="1" cap="all" spc="8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2" name="Text 12"/>
          <p:cNvSpPr txBox="1"/>
          <p:nvPr/>
        </p:nvSpPr>
        <p:spPr>
          <a:xfrm>
            <a:off x="806450" y="2528722"/>
            <a:ext cx="1356193" cy="19288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3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Keyword ranking</a:t>
            </a:r>
            <a:endParaRPr lang="en-US" kern="100" sz="13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3" name="Text 13"/>
          <p:cNvSpPr txBox="1"/>
          <p:nvPr/>
        </p:nvSpPr>
        <p:spPr>
          <a:xfrm>
            <a:off x="806450" y="2795705"/>
            <a:ext cx="3004012" cy="547173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Okapi BM25 over heading-level chunks with a light stemmer. No model, no network, works the moment a page exists.</a:t>
            </a:r>
            <a:endParaRPr lang="en-US" kern="100" sz="95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4" name="Text 14"/>
          <p:cNvSpPr txBox="1"/>
          <p:nvPr/>
        </p:nvSpPr>
        <p:spPr>
          <a:xfrm>
            <a:off x="4591050" y="2372487"/>
            <a:ext cx="373539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vector</a:t>
            </a:r>
            <a:endParaRPr lang="en-US" kern="100" sz="650" b="1" cap="all" spc="8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5" name="Text 15"/>
          <p:cNvSpPr txBox="1"/>
          <p:nvPr/>
        </p:nvSpPr>
        <p:spPr>
          <a:xfrm>
            <a:off x="4591050" y="2528722"/>
            <a:ext cx="1491988" cy="19288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3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Semantic similarity</a:t>
            </a:r>
            <a:endParaRPr lang="en-US" kern="100" sz="13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6" name="Text 16"/>
          <p:cNvSpPr txBox="1"/>
          <p:nvPr/>
        </p:nvSpPr>
        <p:spPr>
          <a:xfrm>
            <a:off x="4591050" y="2795705"/>
            <a:ext cx="2968490" cy="553523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Cosine over embeddings cached by chunk hash. Run </a:t>
            </a: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Courier New"/>
                <a:ea typeface="Courier New"/>
                <a:cs typeface="Courier New"/>
              </a:rPr>
              <a:t>llm-wiki index --embed</a:t>
            </a: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 once; only new or changed chunks are embedded afterwards.</a:t>
            </a:r>
            <a:endParaRPr lang="en-US" kern="100" sz="95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7" name="Text 17"/>
          <p:cNvSpPr txBox="1"/>
          <p:nvPr/>
        </p:nvSpPr>
        <p:spPr>
          <a:xfrm>
            <a:off x="8375650" y="2372487"/>
            <a:ext cx="373539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hybrid</a:t>
            </a:r>
            <a:endParaRPr lang="en-US" kern="100" sz="650" b="1" cap="all" spc="8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8" name="Text 18"/>
          <p:cNvSpPr txBox="1"/>
          <p:nvPr/>
        </p:nvSpPr>
        <p:spPr>
          <a:xfrm>
            <a:off x="8375650" y="2528722"/>
            <a:ext cx="896183" cy="19288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3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Both, fused</a:t>
            </a:r>
            <a:endParaRPr lang="en-US" kern="100" sz="13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9" name="Text 19"/>
          <p:cNvSpPr txBox="1"/>
          <p:nvPr/>
        </p:nvSpPr>
        <p:spPr>
          <a:xfrm>
            <a:off x="8375650" y="2795705"/>
            <a:ext cx="2952095" cy="36619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Reciprocal-rank fusion of the two lists. The default for </a:t>
            </a: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Courier New"/>
                <a:ea typeface="Courier New"/>
                <a:cs typeface="Courier New"/>
              </a:rPr>
              <a:t>query</a:t>
            </a: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 as soon as embeddings exist.</a:t>
            </a:r>
            <a:endParaRPr lang="en-US" kern="100" sz="95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571500" y="4445000"/>
            <a:ext cx="11049000" cy="1447602"/>
          </a:xfrm>
          <a:prstGeom prst="roundRect">
            <a:avLst>
              <a:gd name="adj" fmla="val 7019"/>
            </a:avLst>
          </a:prstGeom>
          <a:solidFill>
            <a:srgbClr val="1B1D21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800100" y="4620197"/>
            <a:ext cx="8433102" cy="1076865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llm-wiki search "postgres docker"                        </a:t>
            </a:r>
            <a:r>
              <a:rPr lang="en-US" kern="100" sz="105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bm25, wiki pages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llm-wiki search "how do I run the db" --mode hybrid --limit 5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llm-wiki search "psql" --layer all --json                  </a:t>
            </a:r>
            <a:r>
              <a:rPr lang="en-US" kern="100" sz="105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include raw/ sources, machine-readable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1. wiki/entities/postgres.md › Postgres  (0.727)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   Postgres runs in a Docker container on port 5432. See [[docker]] …</a:t>
            </a:r>
            <a:endParaRPr lang="en-US" kern="100" sz="1050" b="0" dirty="0">
              <a:solidFill>
                <a:srgbClr val="F6F3EC"/>
              </a:solidFill>
              <a:latin typeface="Menlo"/>
              <a:ea typeface="Menlo"/>
              <a:cs typeface="Menlo"/>
            </a:endParaRPr>
          </a:p>
        </p:txBody>
      </p:sp>
      <p:pic>
        <p:nvPicPr>
          <p:cNvPr id="22" name="Picture 22" descr="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23" name="Text 23"/>
          <p:cNvSpPr txBox="1"/>
          <p:nvPr/>
        </p:nvSpPr>
        <p:spPr>
          <a:xfrm>
            <a:off x="11704538" y="6459106"/>
            <a:ext cx="157262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55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11</a:t>
            </a:r>
            <a:endParaRPr lang="en-US" kern="100" sz="900" b="0" spc="20" dirty="0">
              <a:solidFill>
                <a:srgbClr val="1B1D21">
                  <a:alpha val="55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24" name="Text 24"/>
          <p:cNvSpPr txBox="1"/>
          <p:nvPr/>
        </p:nvSpPr>
        <p:spPr>
          <a:xfrm>
            <a:off x="1358900" y="6459106"/>
            <a:ext cx="113753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38500"/>
                  </a:srgbClr>
                </a:solidFill>
                <a:latin typeface="Avenir Next"/>
                <a:ea typeface="Avenir Next"/>
                <a:cs typeface="Avenir Next"/>
              </a:rPr>
              <a:t>llm-wiki · user guide</a:t>
            </a:r>
            <a:endParaRPr lang="en-US" kern="100" sz="900" b="0" spc="20" dirty="0">
              <a:solidFill>
                <a:srgbClr val="1B1D21">
                  <a:alpha val="385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71500" y="448247"/>
            <a:ext cx="1041678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25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02 · The loop</a:t>
            </a:r>
            <a:endParaRPr lang="en-US" kern="100" sz="800" b="1" cap="all" spc="125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71500" y="725449"/>
            <a:ext cx="8308967" cy="34389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Query: answers with citations — </a:t>
            </a:r>
            <a:r>
              <a:rPr lang="en-US" kern="100" sz="2800" b="0" i="1" spc="-50" dirty="0">
                <a:solidFill>
                  <a:srgbClr val="C8623A"/>
                </a:solidFill>
                <a:latin typeface="Avenir Next"/>
                <a:ea typeface="Avenir Next"/>
                <a:cs typeface="Avenir Next"/>
              </a:rPr>
              <a:t>filed back</a:t>
            </a: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 on request.</a:t>
            </a:r>
            <a:endParaRPr lang="en-US" kern="100" sz="2800" b="0" spc="-50" dirty="0">
              <a:solidFill>
                <a:srgbClr val="1B1D21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4" name="Shape 4"/>
          <p:cNvSpPr/>
          <p:nvPr/>
        </p:nvSpPr>
        <p:spPr>
          <a:xfrm>
            <a:off x="571500" y="1841500"/>
            <a:ext cx="3810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hape 5"/>
          <p:cNvSpPr/>
          <p:nvPr/>
        </p:nvSpPr>
        <p:spPr>
          <a:xfrm>
            <a:off x="571500" y="2159000"/>
            <a:ext cx="6223000" cy="2940844"/>
          </a:xfrm>
          <a:prstGeom prst="roundRect">
            <a:avLst>
              <a:gd name="adj" fmla="val 3455"/>
            </a:avLst>
          </a:prstGeom>
          <a:solidFill>
            <a:srgbClr val="1B1D21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800100" y="2334197"/>
            <a:ext cx="5594207" cy="2570107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llm-wiki query "Where does the API read its config?" --file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### Where the API reads configuration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The [[entities/ntakker-api|Ntakker API]] fetches its configuration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at startup from [[entities/azure-blob-storage]] in the `app-config`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container ([[sources/deploy-notes]]).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### What remains undecided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Whether to move to Azure App Configuration ([[entities/giorgos]]).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### Sources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- [[sources/deploy-notes]] · [[entities/ntakker-api]] · …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E3A64A"/>
                </a:solidFill>
                <a:latin typeface="Menlo"/>
                <a:ea typeface="Menlo"/>
                <a:cs typeface="Menlo"/>
              </a:rPr>
              <a:t>filed as wiki/syntheses/where-does-the-api-read-its-config….md</a:t>
            </a:r>
            <a:endParaRPr lang="en-US" kern="100" sz="1050" b="0" dirty="0">
              <a:solidFill>
                <a:srgbClr val="E3A64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7" name="Text 7"/>
          <p:cNvSpPr txBox="1"/>
          <p:nvPr/>
        </p:nvSpPr>
        <p:spPr>
          <a:xfrm>
            <a:off x="7391400" y="2150129"/>
            <a:ext cx="4249674" cy="40790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1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Every claim cites a page.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If the wiki lacks the answer, the model</a:t>
            </a:r>
            <a:b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says what is missing instead of inventing it.</a:t>
            </a:r>
            <a:endParaRPr lang="en-US" kern="100" sz="11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8" name="Shape 8"/>
          <p:cNvSpPr/>
          <p:nvPr/>
        </p:nvSpPr>
        <p:spPr>
          <a:xfrm>
            <a:off x="7175500" y="2247900"/>
            <a:ext cx="1016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Shape 9"/>
          <p:cNvSpPr/>
          <p:nvPr/>
        </p:nvSpPr>
        <p:spPr>
          <a:xfrm>
            <a:off x="7391400" y="2678311"/>
            <a:ext cx="542925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Shape 10"/>
          <p:cNvSpPr/>
          <p:nvPr/>
        </p:nvSpPr>
        <p:spPr>
          <a:xfrm>
            <a:off x="9529763" y="2678311"/>
            <a:ext cx="1223764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91400" y="2651990"/>
            <a:ext cx="3808444" cy="41265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90" b="1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1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--file</a:t>
            </a:r>
            <a:r>
              <a:rPr lang="en-US" kern="100" sz="990" b="1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stores the answer under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wiki/syntheses/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with</a:t>
            </a:r>
            <a:b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frontmatter, updates the index and logs it.</a:t>
            </a:r>
            <a:endParaRPr lang="en-US" kern="100" sz="11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7175500" y="2754511"/>
            <a:ext cx="1016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Shape 13"/>
          <p:cNvSpPr/>
          <p:nvPr/>
        </p:nvSpPr>
        <p:spPr>
          <a:xfrm>
            <a:off x="8599388" y="3184922"/>
            <a:ext cx="618530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Shape 14"/>
          <p:cNvSpPr/>
          <p:nvPr/>
        </p:nvSpPr>
        <p:spPr>
          <a:xfrm>
            <a:off x="9284990" y="3184922"/>
            <a:ext cx="618530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Shape 15"/>
          <p:cNvSpPr/>
          <p:nvPr/>
        </p:nvSpPr>
        <p:spPr>
          <a:xfrm>
            <a:off x="9970591" y="3184922"/>
            <a:ext cx="1223764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Shape 16"/>
          <p:cNvSpPr/>
          <p:nvPr/>
        </p:nvSpPr>
        <p:spPr>
          <a:xfrm>
            <a:off x="11261427" y="3184922"/>
            <a:ext cx="120154" cy="171450"/>
          </a:xfrm>
          <a:prstGeom prst="roundRect">
            <a:avLst>
              <a:gd name="adj" fmla="val 26424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Shape 17"/>
          <p:cNvSpPr/>
          <p:nvPr/>
        </p:nvSpPr>
        <p:spPr>
          <a:xfrm>
            <a:off x="7391400" y="3387427"/>
            <a:ext cx="422771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91400" y="3163351"/>
            <a:ext cx="4149789" cy="40790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1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Tune the context: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--limit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,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--pages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,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--context-chars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,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-</a:t>
            </a:r>
            <a:b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</a:b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-mode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.</a:t>
            </a:r>
            <a:endParaRPr lang="en-US" kern="100" sz="11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7175500" y="3261122"/>
            <a:ext cx="1016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20" name="Picture 20" descr="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21" name="Text 21"/>
          <p:cNvSpPr txBox="1"/>
          <p:nvPr/>
        </p:nvSpPr>
        <p:spPr>
          <a:xfrm>
            <a:off x="11704538" y="6459106"/>
            <a:ext cx="157262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55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12</a:t>
            </a:r>
            <a:endParaRPr lang="en-US" kern="100" sz="900" b="0" spc="20" dirty="0">
              <a:solidFill>
                <a:srgbClr val="1B1D21">
                  <a:alpha val="55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22" name="Text 22"/>
          <p:cNvSpPr txBox="1"/>
          <p:nvPr/>
        </p:nvSpPr>
        <p:spPr>
          <a:xfrm>
            <a:off x="1358900" y="6459106"/>
            <a:ext cx="113753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38500"/>
                  </a:srgbClr>
                </a:solidFill>
                <a:latin typeface="Avenir Next"/>
                <a:ea typeface="Avenir Next"/>
                <a:cs typeface="Avenir Next"/>
              </a:rPr>
              <a:t>llm-wiki · user guide</a:t>
            </a:r>
            <a:endParaRPr lang="en-US" kern="100" sz="900" b="0" spc="20" dirty="0">
              <a:solidFill>
                <a:srgbClr val="1B1D21">
                  <a:alpha val="385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71500" y="448247"/>
            <a:ext cx="1041678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25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02 · The loop</a:t>
            </a:r>
            <a:endParaRPr lang="en-US" kern="100" sz="800" b="1" cap="all" spc="125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71500" y="725449"/>
            <a:ext cx="5229439" cy="34389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Lint: a health check in </a:t>
            </a:r>
            <a:r>
              <a:rPr lang="en-US" kern="100" sz="2800" b="0" i="1" spc="-50" dirty="0">
                <a:solidFill>
                  <a:srgbClr val="C8623A"/>
                </a:solidFill>
                <a:latin typeface="Avenir Next"/>
                <a:ea typeface="Avenir Next"/>
                <a:cs typeface="Avenir Next"/>
              </a:rPr>
              <a:t>two</a:t>
            </a: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 passes.</a:t>
            </a:r>
            <a:endParaRPr lang="en-US" kern="100" sz="2800" b="0" spc="-50" dirty="0">
              <a:solidFill>
                <a:srgbClr val="1B1D21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4" name="Shape 4"/>
          <p:cNvSpPr/>
          <p:nvPr/>
        </p:nvSpPr>
        <p:spPr>
          <a:xfrm>
            <a:off x="571500" y="1841500"/>
            <a:ext cx="3810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hape 5"/>
          <p:cNvSpPr/>
          <p:nvPr/>
        </p:nvSpPr>
        <p:spPr>
          <a:xfrm>
            <a:off x="571500" y="2159000"/>
            <a:ext cx="5397500" cy="1401366"/>
          </a:xfrm>
          <a:prstGeom prst="roundRect">
            <a:avLst>
              <a:gd name="adj" fmla="val 7250"/>
            </a:avLst>
          </a:prstGeom>
          <a:solidFill>
            <a:srgbClr val="FFFFFF"/>
          </a:solidFill>
          <a:ln>
            <a:noFill/>
          </a:ln>
          <a:effectLst>
            <a:outerShdw blurRad="411480" dist="114300" dir="5400000" sx="94353" sy="78250" algn="ctr" rotWithShape="0">
              <a:srgbClr val="1B1D21">
                <a:alpha val="18000"/>
              </a:srgbClr>
            </a:outerShdw>
          </a:effectLst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Shape 6"/>
          <p:cNvSpPr/>
          <p:nvPr/>
        </p:nvSpPr>
        <p:spPr>
          <a:xfrm>
            <a:off x="574675" y="2162175"/>
            <a:ext cx="5391150" cy="1395016"/>
          </a:xfrm>
          <a:prstGeom prst="roundRect">
            <a:avLst>
              <a:gd name="adj" fmla="val 7055"/>
            </a:avLst>
          </a:prstGeom>
          <a:noFill/>
          <a:ln w="6350">
            <a:solidFill>
              <a:srgbClr val="1B1D21">
                <a:alpha val="6000"/>
              </a:srgbClr>
            </a:solidFill>
            <a:miter lim="800000"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Shape 7"/>
          <p:cNvSpPr/>
          <p:nvPr/>
        </p:nvSpPr>
        <p:spPr>
          <a:xfrm>
            <a:off x="6223000" y="2159000"/>
            <a:ext cx="5397500" cy="1401366"/>
          </a:xfrm>
          <a:prstGeom prst="roundRect">
            <a:avLst>
              <a:gd name="adj" fmla="val 7250"/>
            </a:avLst>
          </a:prstGeom>
          <a:solidFill>
            <a:srgbClr val="FFFFFF"/>
          </a:solidFill>
          <a:ln>
            <a:noFill/>
          </a:ln>
          <a:effectLst>
            <a:outerShdw blurRad="411480" dist="114300" dir="5400000" sx="94353" sy="78250" algn="ctr" rotWithShape="0">
              <a:srgbClr val="1B1D21">
                <a:alpha val="18000"/>
              </a:srgbClr>
            </a:outerShdw>
          </a:effectLst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Shape 8"/>
          <p:cNvSpPr/>
          <p:nvPr/>
        </p:nvSpPr>
        <p:spPr>
          <a:xfrm>
            <a:off x="6226175" y="2162175"/>
            <a:ext cx="5391150" cy="1395016"/>
          </a:xfrm>
          <a:prstGeom prst="roundRect">
            <a:avLst>
              <a:gd name="adj" fmla="val 7055"/>
            </a:avLst>
          </a:prstGeom>
          <a:noFill/>
          <a:ln w="6350">
            <a:solidFill>
              <a:srgbClr val="1B1D21">
                <a:alpha val="6000"/>
              </a:srgbClr>
            </a:solidFill>
            <a:miter lim="800000"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806450" y="2372487"/>
            <a:ext cx="1182838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Structural · no LLM</a:t>
            </a:r>
            <a:endParaRPr lang="en-US" kern="100" sz="650" b="1" cap="all" spc="8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0" name="Text 10"/>
          <p:cNvSpPr txBox="1"/>
          <p:nvPr/>
        </p:nvSpPr>
        <p:spPr>
          <a:xfrm>
            <a:off x="806450" y="2528722"/>
            <a:ext cx="1742631" cy="19288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3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Deterministic findings</a:t>
            </a:r>
            <a:endParaRPr lang="en-US" kern="100" sz="13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1" name="Text 11"/>
          <p:cNvSpPr txBox="1"/>
          <p:nvPr/>
        </p:nvSpPr>
        <p:spPr>
          <a:xfrm>
            <a:off x="806450" y="2795705"/>
            <a:ext cx="4927600" cy="553523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Dangling wikilinks · orphan pages · pages without outbound links · missing frontmatter or summary · basename collisions · stale </a:t>
            </a: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Courier New"/>
                <a:ea typeface="Courier New"/>
                <a:cs typeface="Courier New"/>
              </a:rPr>
              <a:t>index.md</a:t>
            </a: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 · sources in </a:t>
            </a: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Courier New"/>
                <a:ea typeface="Courier New"/>
                <a:cs typeface="Courier New"/>
              </a:rPr>
              <a:t>raw/</a:t>
            </a: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 not yet ingested · PDF/DOCX originals not yet converted.</a:t>
            </a:r>
            <a:endParaRPr lang="en-US" kern="100" sz="95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2" name="Text 12"/>
          <p:cNvSpPr txBox="1"/>
          <p:nvPr/>
        </p:nvSpPr>
        <p:spPr>
          <a:xfrm>
            <a:off x="6457950" y="2372487"/>
            <a:ext cx="996069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Semantic · --llm</a:t>
            </a:r>
            <a:endParaRPr lang="en-US" kern="100" sz="650" b="1" cap="all" spc="8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3" name="Text 13"/>
          <p:cNvSpPr txBox="1"/>
          <p:nvPr/>
        </p:nvSpPr>
        <p:spPr>
          <a:xfrm>
            <a:off x="6457950" y="2528722"/>
            <a:ext cx="2144443" cy="19288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3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What only a reader can see</a:t>
            </a:r>
            <a:endParaRPr lang="en-US" kern="100" sz="13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4" name="Text 14"/>
          <p:cNvSpPr txBox="1"/>
          <p:nvPr/>
        </p:nvSpPr>
        <p:spPr>
          <a:xfrm>
            <a:off x="6457950" y="2795705"/>
            <a:ext cx="4502223" cy="547173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Contradictions between pages · claims superseded by newer sources · concepts mentioned repeatedly but lacking a page · missing cross-references · data gaps · suggested questions and sources.</a:t>
            </a:r>
            <a:endParaRPr lang="en-US" kern="100" sz="95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571500" y="4572000"/>
            <a:ext cx="11049000" cy="1020961"/>
          </a:xfrm>
          <a:prstGeom prst="roundRect">
            <a:avLst>
              <a:gd name="adj" fmla="val 9951"/>
            </a:avLst>
          </a:prstGeom>
          <a:solidFill>
            <a:srgbClr val="1B1D21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800100" y="4747197"/>
            <a:ext cx="7765066" cy="65022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llm-wiki lint                      </a:t>
            </a:r>
            <a:r>
              <a:rPr lang="en-US" kern="100" sz="105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structural, exit 1 on errors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llm-wiki lint --fix                </a:t>
            </a:r>
            <a:r>
              <a:rPr lang="en-US" kern="100" sz="105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also regenerate index.md and the search index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llm-wiki lint --llm --report       </a:t>
            </a:r>
            <a:r>
              <a:rPr lang="en-US" kern="100" sz="105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semantic pass, filed as wiki/lint/&lt;date&gt;.md and logged</a:t>
            </a:r>
            <a:endParaRPr lang="en-US" kern="100" sz="1050" b="0" dirty="0">
              <a:solidFill>
                <a:srgbClr val="F6F3EC">
                  <a:alpha val="50000"/>
                </a:srgbClr>
              </a:solidFill>
              <a:latin typeface="Menlo"/>
              <a:ea typeface="Menlo"/>
              <a:cs typeface="Menlo"/>
            </a:endParaRPr>
          </a:p>
        </p:txBody>
      </p:sp>
      <p:pic>
        <p:nvPicPr>
          <p:cNvPr id="17" name="Picture 17" descr="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18" name="Text 18"/>
          <p:cNvSpPr txBox="1"/>
          <p:nvPr/>
        </p:nvSpPr>
        <p:spPr>
          <a:xfrm>
            <a:off x="11704538" y="6459106"/>
            <a:ext cx="157262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55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13</a:t>
            </a:r>
            <a:endParaRPr lang="en-US" kern="100" sz="900" b="0" spc="20" dirty="0">
              <a:solidFill>
                <a:srgbClr val="1B1D21">
                  <a:alpha val="55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9" name="Text 19"/>
          <p:cNvSpPr txBox="1"/>
          <p:nvPr/>
        </p:nvSpPr>
        <p:spPr>
          <a:xfrm>
            <a:off x="1358900" y="6459106"/>
            <a:ext cx="113753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38500"/>
                  </a:srgbClr>
                </a:solidFill>
                <a:latin typeface="Avenir Next"/>
                <a:ea typeface="Avenir Next"/>
                <a:cs typeface="Avenir Next"/>
              </a:rPr>
              <a:t>llm-wiki · user guide</a:t>
            </a:r>
            <a:endParaRPr lang="en-US" kern="100" sz="900" b="0" spc="20" dirty="0">
              <a:solidFill>
                <a:srgbClr val="1B1D21">
                  <a:alpha val="385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71500" y="448247"/>
            <a:ext cx="1041678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25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02 · The loop</a:t>
            </a:r>
            <a:endParaRPr lang="en-US" kern="100" sz="800" b="1" cap="all" spc="125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71500" y="725449"/>
            <a:ext cx="6193933" cy="34389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Two special files: </a:t>
            </a:r>
            <a:r>
              <a:rPr lang="en-US" kern="100" sz="2800" b="0" i="1" spc="-50" dirty="0">
                <a:solidFill>
                  <a:srgbClr val="C8623A"/>
                </a:solidFill>
                <a:latin typeface="Avenir Next"/>
                <a:ea typeface="Avenir Next"/>
                <a:cs typeface="Avenir Next"/>
              </a:rPr>
              <a:t>index.md</a:t>
            </a: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 and </a:t>
            </a:r>
            <a:r>
              <a:rPr lang="en-US" kern="100" sz="2800" b="0" i="1" spc="-50" dirty="0">
                <a:solidFill>
                  <a:srgbClr val="C8623A"/>
                </a:solidFill>
                <a:latin typeface="Avenir Next"/>
                <a:ea typeface="Avenir Next"/>
                <a:cs typeface="Avenir Next"/>
              </a:rPr>
              <a:t>log.md</a:t>
            </a: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.</a:t>
            </a:r>
            <a:endParaRPr lang="en-US" kern="100" sz="2800" b="0" spc="-50" dirty="0">
              <a:solidFill>
                <a:srgbClr val="1B1D21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4" name="Shape 4"/>
          <p:cNvSpPr/>
          <p:nvPr/>
        </p:nvSpPr>
        <p:spPr>
          <a:xfrm>
            <a:off x="571500" y="1841500"/>
            <a:ext cx="3810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hape 5"/>
          <p:cNvSpPr/>
          <p:nvPr/>
        </p:nvSpPr>
        <p:spPr>
          <a:xfrm>
            <a:off x="4622602" y="2458641"/>
            <a:ext cx="570607" cy="158750"/>
          </a:xfrm>
          <a:prstGeom prst="roundRect">
            <a:avLst>
              <a:gd name="adj" fmla="val 20000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Shape 6"/>
          <p:cNvSpPr/>
          <p:nvPr/>
        </p:nvSpPr>
        <p:spPr>
          <a:xfrm>
            <a:off x="3525341" y="2649141"/>
            <a:ext cx="1052314" cy="158750"/>
          </a:xfrm>
          <a:prstGeom prst="roundRect">
            <a:avLst>
              <a:gd name="adj" fmla="val 20000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Shape 7"/>
          <p:cNvSpPr/>
          <p:nvPr/>
        </p:nvSpPr>
        <p:spPr>
          <a:xfrm>
            <a:off x="571500" y="3157141"/>
            <a:ext cx="5372100" cy="1295301"/>
          </a:xfrm>
          <a:prstGeom prst="roundRect">
            <a:avLst>
              <a:gd name="adj" fmla="val 7844"/>
            </a:avLst>
          </a:prstGeom>
          <a:solidFill>
            <a:srgbClr val="1B1D21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Shape 8"/>
          <p:cNvSpPr/>
          <p:nvPr/>
        </p:nvSpPr>
        <p:spPr>
          <a:xfrm>
            <a:off x="10666313" y="2458641"/>
            <a:ext cx="939105" cy="158750"/>
          </a:xfrm>
          <a:prstGeom prst="roundRect">
            <a:avLst>
              <a:gd name="adj" fmla="val 20000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Shape 9"/>
          <p:cNvSpPr/>
          <p:nvPr/>
        </p:nvSpPr>
        <p:spPr>
          <a:xfrm>
            <a:off x="6248400" y="2649141"/>
            <a:ext cx="1145480" cy="158750"/>
          </a:xfrm>
          <a:prstGeom prst="roundRect">
            <a:avLst>
              <a:gd name="adj" fmla="val 20000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Shape 10"/>
          <p:cNvSpPr/>
          <p:nvPr/>
        </p:nvSpPr>
        <p:spPr>
          <a:xfrm>
            <a:off x="8642548" y="2649141"/>
            <a:ext cx="2497435" cy="158750"/>
          </a:xfrm>
          <a:prstGeom prst="roundRect">
            <a:avLst>
              <a:gd name="adj" fmla="val 20000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Shape 11"/>
          <p:cNvSpPr/>
          <p:nvPr/>
        </p:nvSpPr>
        <p:spPr>
          <a:xfrm>
            <a:off x="6248400" y="2966641"/>
            <a:ext cx="5372100" cy="1478161"/>
          </a:xfrm>
          <a:prstGeom prst="roundRect">
            <a:avLst>
              <a:gd name="adj" fmla="val 6873"/>
            </a:avLst>
          </a:prstGeom>
          <a:solidFill>
            <a:srgbClr val="1B1D21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571500" y="2160422"/>
            <a:ext cx="2348960" cy="19288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3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index.md — what is in the wiki</a:t>
            </a:r>
            <a:endParaRPr lang="en-US" kern="100" sz="13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3" name="Text 13"/>
          <p:cNvSpPr txBox="1"/>
          <p:nvPr/>
        </p:nvSpPr>
        <p:spPr>
          <a:xfrm>
            <a:off x="571500" y="2439464"/>
            <a:ext cx="5571815" cy="574802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A catalog of every page grouped by type, each with a link, its one-line </a:t>
            </a:r>
            <a:r>
              <a:rPr lang="en-US" kern="100" sz="900" b="0" spc="35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00" b="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summary</a:t>
            </a:r>
            <a:r>
              <a:rPr lang="en-US" kern="100" sz="900" b="0" spc="35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, its date and</a:t>
            </a:r>
            <a:b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source count. Generated from page frontmatter by </a:t>
            </a:r>
            <a:r>
              <a:rPr lang="en-US" kern="100" sz="900" b="0" spc="35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00" b="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llm-wiki index</a:t>
            </a:r>
            <a:r>
              <a:rPr lang="en-US" kern="100" sz="900" b="0" spc="35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 — never hand-edit it;</a:t>
            </a:r>
            <a:b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edit the frontmatter instead.</a:t>
            </a:r>
            <a:endParaRPr lang="en-US" kern="100" sz="100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4" name="Text 14"/>
          <p:cNvSpPr txBox="1"/>
          <p:nvPr/>
        </p:nvSpPr>
        <p:spPr>
          <a:xfrm>
            <a:off x="800100" y="3336338"/>
            <a:ext cx="4294045" cy="91990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## Entities (6)</a:t>
            </a:r>
            <a:br>
              <a:rPr lang="en-US" kern="100" sz="9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- [[azure-blob-storage|Azure Blob Storage]] — Object storage</a:t>
            </a:r>
            <a:br>
              <a:rPr lang="en-US" kern="100" sz="9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  used for runtime configuration. _(2026-09-12, 1 source)_</a:t>
            </a:r>
            <a:br>
              <a:rPr lang="en-US" kern="100" sz="9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- [[ntakker-api|Ntakker API]] — Backend API deployed to</a:t>
            </a:r>
            <a:br>
              <a:rPr lang="en-US" kern="100" sz="9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  Azure Web App in Docker. _(2026-09-12, 1 source)_</a:t>
            </a:r>
            <a:endParaRPr lang="en-US" kern="100" sz="900" b="0" dirty="0">
              <a:solidFill>
                <a:srgbClr val="F6F3EC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5" name="Text 15"/>
          <p:cNvSpPr txBox="1"/>
          <p:nvPr/>
        </p:nvSpPr>
        <p:spPr>
          <a:xfrm>
            <a:off x="6248400" y="2160422"/>
            <a:ext cx="2524069" cy="19288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3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log.md — what happened, when</a:t>
            </a:r>
            <a:endParaRPr lang="en-US" kern="100" sz="13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6" name="Text 16"/>
          <p:cNvSpPr txBox="1"/>
          <p:nvPr/>
        </p:nvSpPr>
        <p:spPr>
          <a:xfrm>
            <a:off x="6248400" y="2439464"/>
            <a:ext cx="5571300" cy="384302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Append-only. Every entry starts with the same prefix, so the log is grep-able: </a:t>
            </a:r>
            <a:r>
              <a:rPr lang="en-US" kern="100" sz="900" b="0" spc="35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00" b="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grep "^## \["</a:t>
            </a:r>
            <a:br>
              <a:rPr lang="en-US" kern="100" sz="900" b="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</a:br>
            <a:r>
              <a:rPr lang="en-US" kern="100" sz="900" b="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log.md | tail -5</a:t>
            </a:r>
            <a:r>
              <a:rPr lang="en-US" kern="100" sz="900" b="0" spc="35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. The CLI reads it too: </a:t>
            </a:r>
            <a:r>
              <a:rPr lang="en-US" kern="100" sz="900" b="0" spc="35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00" b="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llm-wiki log --last 5 --kind ingest</a:t>
            </a:r>
            <a:r>
              <a:rPr lang="en-US" kern="100" sz="900" b="0" spc="35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.</a:t>
            </a:r>
            <a:endParaRPr lang="en-US" kern="100" sz="100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7" name="Text 17"/>
          <p:cNvSpPr txBox="1"/>
          <p:nvPr/>
        </p:nvSpPr>
        <p:spPr>
          <a:xfrm>
            <a:off x="6477000" y="3145838"/>
            <a:ext cx="4365657" cy="1102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## [2026-09-12] ingest | Deployment notes for the Ntakker API</a:t>
            </a:r>
            <a:br>
              <a:rPr lang="en-US" kern="100" sz="9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Source: raw/deploy-notes.md</a:t>
            </a:r>
            <a:br>
              <a:rPr lang="en-US" kern="100" sz="9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Pages touched: … · Takeaways: …</a:t>
            </a:r>
            <a:br>
              <a:rPr lang="en-US" kern="100" sz="9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br>
              <a:rPr lang="en-US" kern="100" sz="9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## [2026-09-12] query | Where does the API read its config…</a:t>
            </a:r>
            <a:br>
              <a:rPr lang="en-US" kern="100" sz="9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Filed as [[syntheses/where-does-the-api-…]].</a:t>
            </a:r>
            <a:endParaRPr lang="en-US" kern="100" sz="900" b="0" dirty="0">
              <a:solidFill>
                <a:srgbClr val="F6F3EC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8" name="Text 18"/>
          <p:cNvSpPr txBox="1"/>
          <p:nvPr/>
        </p:nvSpPr>
        <p:spPr>
          <a:xfrm>
            <a:off x="571500" y="6032590"/>
            <a:ext cx="4430149" cy="1218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666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700" b="0" dirty="0">
                <a:solidFill>
                  <a:srgbClr val="1B1D21">
                    <a:alpha val="50000"/>
                  </a:srgbClr>
                </a:solidFill>
                <a:latin typeface="Courier New"/>
                <a:ea typeface="Courier New"/>
                <a:cs typeface="Courier New"/>
              </a:rPr>
              <a:t>llm-wiki index --raw</a:t>
            </a:r>
            <a:r>
              <a:rPr lang="en-US" kern="100" sz="700" b="0" dirty="0">
                <a:solidFill>
                  <a:srgbClr val="1B1D21">
                    <a:alpha val="50000"/>
                  </a:srgbClr>
                </a:solidFill>
                <a:latin typeface="Avenir Next"/>
                <a:ea typeface="Avenir Next"/>
                <a:cs typeface="Avenir Next"/>
              </a:rPr>
              <a:t> also indexes raw sources for search; </a:t>
            </a:r>
            <a:r>
              <a:rPr lang="en-US" kern="100" sz="700" b="0" dirty="0">
                <a:solidFill>
                  <a:srgbClr val="1B1D21">
                    <a:alpha val="50000"/>
                  </a:srgbClr>
                </a:solidFill>
                <a:latin typeface="Courier New"/>
                <a:ea typeface="Courier New"/>
                <a:cs typeface="Courier New"/>
              </a:rPr>
              <a:t>--embed</a:t>
            </a:r>
            <a:r>
              <a:rPr lang="en-US" kern="100" sz="700" b="0" dirty="0">
                <a:solidFill>
                  <a:srgbClr val="1B1D21">
                    <a:alpha val="50000"/>
                  </a:srgbClr>
                </a:solidFill>
                <a:latin typeface="Avenir Next"/>
                <a:ea typeface="Avenir Next"/>
                <a:cs typeface="Avenir Next"/>
              </a:rPr>
              <a:t> computes missing embeddings.</a:t>
            </a:r>
            <a:endParaRPr lang="en-US" kern="100" sz="700" b="0" dirty="0">
              <a:solidFill>
                <a:srgbClr val="1B1D21">
                  <a:alpha val="50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pic>
        <p:nvPicPr>
          <p:cNvPr id="19" name="Picture 19" descr="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20" name="Text 20"/>
          <p:cNvSpPr txBox="1"/>
          <p:nvPr/>
        </p:nvSpPr>
        <p:spPr>
          <a:xfrm>
            <a:off x="11704538" y="6459106"/>
            <a:ext cx="157262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55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14</a:t>
            </a:r>
            <a:endParaRPr lang="en-US" kern="100" sz="900" b="0" spc="20" dirty="0">
              <a:solidFill>
                <a:srgbClr val="1B1D21">
                  <a:alpha val="55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21" name="Text 21"/>
          <p:cNvSpPr txBox="1"/>
          <p:nvPr/>
        </p:nvSpPr>
        <p:spPr>
          <a:xfrm>
            <a:off x="1358900" y="6459106"/>
            <a:ext cx="113753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38500"/>
                  </a:srgbClr>
                </a:solidFill>
                <a:latin typeface="Avenir Next"/>
                <a:ea typeface="Avenir Next"/>
                <a:cs typeface="Avenir Next"/>
              </a:rPr>
              <a:t>llm-wiki · user guide</a:t>
            </a:r>
            <a:endParaRPr lang="en-US" kern="100" sz="900" b="0" spc="20" dirty="0">
              <a:solidFill>
                <a:srgbClr val="1B1D21">
                  <a:alpha val="385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4826000" y="635000"/>
            <a:ext cx="6985000" cy="5588000"/>
          </a:xfrm>
          <a:prstGeom prst="roundRect">
            <a:avLst>
              <a:gd name="adj" fmla="val 2727"/>
            </a:avLst>
          </a:prstGeom>
          <a:solidFill>
            <a:srgbClr val="2E3238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3" name="Picture 3" descr=""/>
          <p:cNvPicPr>
            <a:picLocks noChangeAspect="1"/>
          </p:cNvPicPr>
          <p:nvPr/>
        </p:nvPicPr>
        <p:blipFill>
          <a:blip r:embed="rId2"/>
          <a:srcRect l="15125" t="0" r="15125" b="0"/>
          <a:stretch>
            <a:fillRect/>
          </a:stretch>
        </p:blipFill>
        <p:spPr>
          <a:xfrm>
            <a:off x="4826000" y="635000"/>
            <a:ext cx="6985000" cy="5588000"/>
          </a:xfrm>
          <a:prstGeom prst="roundRect">
            <a:avLst>
              <a:gd name="adj" fmla="val 2727"/>
            </a:avLst>
          </a:prstGeom>
        </p:spPr>
      </p:pic>
      <p:sp>
        <p:nvSpPr>
          <p:cNvPr id="4" name="Text 4"/>
          <p:cNvSpPr txBox="1"/>
          <p:nvPr/>
        </p:nvSpPr>
        <p:spPr>
          <a:xfrm>
            <a:off x="508000" y="2408428"/>
            <a:ext cx="1521603" cy="1271397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0" b="0" spc="-400" dirty="0">
                <a:solidFill>
                  <a:srgbClr val="E08A5E"/>
                </a:solidFill>
                <a:latin typeface="Avenir Next Ultra Light"/>
                <a:ea typeface="Avenir Next Ultra Light"/>
                <a:cs typeface="Avenir Next Ultra Light"/>
              </a:rPr>
              <a:t>03</a:t>
            </a:r>
            <a:endParaRPr lang="en-US" kern="100" sz="11000" b="0" spc="-400" dirty="0">
              <a:solidFill>
                <a:srgbClr val="E08A5E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5" name="Text 5"/>
          <p:cNvSpPr txBox="1"/>
          <p:nvPr/>
        </p:nvSpPr>
        <p:spPr>
          <a:xfrm>
            <a:off x="571500" y="3770103"/>
            <a:ext cx="2420779" cy="743735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900" b="0" spc="-50" dirty="0">
                <a:solidFill>
                  <a:srgbClr val="F6F3EC"/>
                </a:solidFill>
                <a:latin typeface="Avenir Next Ultra Light"/>
                <a:ea typeface="Avenir Next Ultra Light"/>
                <a:cs typeface="Avenir Next Ultra Light"/>
              </a:rPr>
              <a:t>Documents,</a:t>
            </a:r>
            <a:br>
              <a:rPr lang="en-US" kern="100" sz="2900" b="0" spc="-50" dirty="0">
                <a:solidFill>
                  <a:srgbClr val="F6F3EC"/>
                </a:solidFill>
                <a:latin typeface="Avenir Next Ultra Light"/>
                <a:ea typeface="Avenir Next Ultra Light"/>
                <a:cs typeface="Avenir Next Ultra Light"/>
              </a:rPr>
            </a:br>
            <a:r>
              <a:rPr lang="en-US" kern="100" sz="2900" b="0" spc="-50" dirty="0">
                <a:solidFill>
                  <a:srgbClr val="F6F3EC"/>
                </a:solidFill>
                <a:latin typeface="Avenir Next Ultra Light"/>
                <a:ea typeface="Avenir Next Ultra Light"/>
                <a:cs typeface="Avenir Next Ultra Light"/>
              </a:rPr>
              <a:t>originals intact.</a:t>
            </a:r>
            <a:endParaRPr lang="en-US" kern="100" sz="2900" b="0" spc="-50" dirty="0">
              <a:solidFill>
                <a:srgbClr val="F6F3EC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6" name="Text 6"/>
          <p:cNvSpPr txBox="1"/>
          <p:nvPr/>
        </p:nvSpPr>
        <p:spPr>
          <a:xfrm>
            <a:off x="571500" y="4695368"/>
            <a:ext cx="3810000" cy="587793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1666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0" dirty="0">
                <a:solidFill>
                  <a:srgbClr val="F6F3EC">
                    <a:alpha val="70000"/>
                  </a:srgbClr>
                </a:solidFill>
                <a:latin typeface="Avenir Next"/>
                <a:ea typeface="Avenir Next"/>
                <a:cs typeface="Avenir Next"/>
              </a:rPr>
              <a:t>A dedicated parser model converts the document to markdown. The original stays untouched in </a:t>
            </a:r>
            <a:r>
              <a:rPr lang="en-US" kern="100" sz="1100" b="0" dirty="0">
                <a:solidFill>
                  <a:srgbClr val="F6F3EC">
                    <a:alpha val="70000"/>
                  </a:srgbClr>
                </a:solidFill>
                <a:latin typeface="Menlo"/>
                <a:ea typeface="Menlo"/>
                <a:cs typeface="Menlo"/>
              </a:rPr>
              <a:t>raw/</a:t>
            </a:r>
            <a:r>
              <a:rPr lang="en-US" kern="100" sz="1100" b="0" dirty="0">
                <a:solidFill>
                  <a:srgbClr val="F6F3EC">
                    <a:alpha val="70000"/>
                  </a:srgbClr>
                </a:solidFill>
                <a:latin typeface="Avenir Next"/>
                <a:ea typeface="Avenir Next"/>
                <a:cs typeface="Avenir Next"/>
              </a:rPr>
              <a:t> and every derived page points back to it.</a:t>
            </a:r>
            <a:endParaRPr lang="en-US" kern="100" sz="1100" b="0" dirty="0">
              <a:solidFill>
                <a:srgbClr val="F6F3EC">
                  <a:alpha val="70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pic>
        <p:nvPicPr>
          <p:cNvPr id="7" name="Picture 7" descr="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11704538" y="6459106"/>
            <a:ext cx="157262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FFFFFF">
                    <a:alpha val="70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15</a:t>
            </a:r>
            <a:endParaRPr lang="en-US" kern="100" sz="900" b="0" spc="20" dirty="0">
              <a:solidFill>
                <a:srgbClr val="FFFFFF">
                  <a:alpha val="70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9" name="Text 9"/>
          <p:cNvSpPr txBox="1"/>
          <p:nvPr/>
        </p:nvSpPr>
        <p:spPr>
          <a:xfrm>
            <a:off x="1358900" y="6459106"/>
            <a:ext cx="1343295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FFFFFF">
                    <a:alpha val="49000"/>
                  </a:srgbClr>
                </a:solidFill>
                <a:latin typeface="Avenir Next"/>
                <a:ea typeface="Avenir Next"/>
                <a:cs typeface="Avenir Next"/>
              </a:rPr>
              <a:t>Section 03 · Documents</a:t>
            </a:r>
            <a:endParaRPr lang="en-US" kern="100" sz="900" b="0" spc="20" dirty="0">
              <a:solidFill>
                <a:srgbClr val="FFFFFF">
                  <a:alpha val="49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71500" y="448247"/>
            <a:ext cx="1121751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25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03 · Documents</a:t>
            </a:r>
            <a:endParaRPr lang="en-US" kern="100" sz="800" b="1" cap="all" spc="125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71500" y="725449"/>
            <a:ext cx="6983627" cy="34389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A separate </a:t>
            </a:r>
            <a:r>
              <a:rPr lang="en-US" kern="100" sz="2800" b="0" i="1" spc="-50" dirty="0">
                <a:solidFill>
                  <a:srgbClr val="C8623A"/>
                </a:solidFill>
                <a:latin typeface="Avenir Next"/>
                <a:ea typeface="Avenir Next"/>
                <a:cs typeface="Avenir Next"/>
              </a:rPr>
              <a:t>parser</a:t>
            </a: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 model, chosen for the job.</a:t>
            </a:r>
            <a:endParaRPr lang="en-US" kern="100" sz="2800" b="0" spc="-50" dirty="0">
              <a:solidFill>
                <a:srgbClr val="1B1D21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4" name="Shape 4"/>
          <p:cNvSpPr/>
          <p:nvPr/>
        </p:nvSpPr>
        <p:spPr>
          <a:xfrm>
            <a:off x="571500" y="1841500"/>
            <a:ext cx="3810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Text 5"/>
          <p:cNvSpPr txBox="1"/>
          <p:nvPr/>
        </p:nvSpPr>
        <p:spPr>
          <a:xfrm>
            <a:off x="4038600" y="3111856"/>
            <a:ext cx="292100" cy="38064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363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200" b="0" dirty="0">
                <a:solidFill>
                  <a:srgbClr val="C8623A"/>
                </a:solidFill>
                <a:latin typeface="Avenir Next Ultra Light"/>
                <a:ea typeface="Avenir Next Ultra Light"/>
                <a:cs typeface="Avenir Next Ultra Light"/>
              </a:rPr>
              <a:t>→</a:t>
            </a:r>
            <a:endParaRPr lang="en-US" kern="100" sz="2200" b="0" dirty="0">
              <a:solidFill>
                <a:srgbClr val="C8623A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6" name="Text 6"/>
          <p:cNvSpPr txBox="1"/>
          <p:nvPr/>
        </p:nvSpPr>
        <p:spPr>
          <a:xfrm>
            <a:off x="7874000" y="3111856"/>
            <a:ext cx="292100" cy="38064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363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200" b="0" dirty="0">
                <a:solidFill>
                  <a:srgbClr val="C8623A"/>
                </a:solidFill>
                <a:latin typeface="Avenir Next Ultra Light"/>
                <a:ea typeface="Avenir Next Ultra Light"/>
                <a:cs typeface="Avenir Next Ultra Light"/>
              </a:rPr>
              <a:t>→</a:t>
            </a:r>
            <a:endParaRPr lang="en-US" kern="100" sz="2200" b="0" dirty="0">
              <a:solidFill>
                <a:srgbClr val="C8623A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7" name="Shape 7"/>
          <p:cNvSpPr/>
          <p:nvPr/>
        </p:nvSpPr>
        <p:spPr>
          <a:xfrm>
            <a:off x="571500" y="2159000"/>
            <a:ext cx="3378200" cy="2286000"/>
          </a:xfrm>
          <a:prstGeom prst="roundRect">
            <a:avLst>
              <a:gd name="adj" fmla="val 5000"/>
            </a:avLst>
          </a:prstGeom>
          <a:solidFill>
            <a:srgbClr val="F6F3EC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Shape 8"/>
          <p:cNvSpPr/>
          <p:nvPr/>
        </p:nvSpPr>
        <p:spPr>
          <a:xfrm>
            <a:off x="574675" y="2162175"/>
            <a:ext cx="3371850" cy="2279650"/>
          </a:xfrm>
          <a:prstGeom prst="roundRect">
            <a:avLst>
              <a:gd name="adj" fmla="val 4875"/>
            </a:avLst>
          </a:prstGeom>
          <a:noFill/>
          <a:ln w="6350">
            <a:solidFill>
              <a:srgbClr val="1B1D21">
                <a:alpha val="8000"/>
              </a:srgbClr>
            </a:solidFill>
            <a:miter lim="800000"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806450" y="2397887"/>
            <a:ext cx="684855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1 · you add</a:t>
            </a:r>
            <a:endParaRPr lang="en-US" kern="100" sz="650" b="1" cap="all" spc="8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0" name="Text 10"/>
          <p:cNvSpPr txBox="1"/>
          <p:nvPr/>
        </p:nvSpPr>
        <p:spPr>
          <a:xfrm>
            <a:off x="806450" y="2574868"/>
            <a:ext cx="1463405" cy="235325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5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700" b="0" spc="-25" dirty="0">
                <a:solidFill>
                  <a:srgbClr val="1B1D21"/>
                </a:solidFill>
                <a:latin typeface="Avenir Next Medium"/>
                <a:ea typeface="Avenir Next Medium"/>
                <a:cs typeface="Avenir Next Medium"/>
              </a:rPr>
              <a:t>raw/report.pdf</a:t>
            </a:r>
            <a:endParaRPr lang="en-US" kern="100" sz="1700" b="0" spc="-25" dirty="0">
              <a:solidFill>
                <a:srgbClr val="1B1D21"/>
              </a:solidFill>
              <a:latin typeface="Avenir Next Medium"/>
              <a:ea typeface="Avenir Next Medium"/>
              <a:cs typeface="Avenir Next Medium"/>
            </a:endParaRPr>
          </a:p>
        </p:txBody>
      </p:sp>
      <p:sp>
        <p:nvSpPr>
          <p:cNvPr id="11" name="Text 11"/>
          <p:cNvSpPr txBox="1"/>
          <p:nvPr/>
        </p:nvSpPr>
        <p:spPr>
          <a:xfrm>
            <a:off x="806450" y="2928460"/>
            <a:ext cx="2501640" cy="36619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50" b="0" dirty="0">
                <a:solidFill>
                  <a:srgbClr val="1B1D21">
                    <a:alpha val="80000"/>
                  </a:srgbClr>
                </a:solidFill>
                <a:latin typeface="Avenir Next"/>
                <a:ea typeface="Avenir Next"/>
                <a:cs typeface="Avenir Next"/>
              </a:rPr>
              <a:t>Any PDF or DOCX, copied into </a:t>
            </a:r>
            <a:r>
              <a:rPr lang="en-US" kern="100" sz="950" b="0" dirty="0">
                <a:solidFill>
                  <a:srgbClr val="1B1D21">
                    <a:alpha val="80000"/>
                  </a:srgbClr>
                </a:solidFill>
                <a:latin typeface="Courier New"/>
                <a:ea typeface="Courier New"/>
                <a:cs typeface="Courier New"/>
              </a:rPr>
              <a:t>raw/</a:t>
            </a:r>
            <a:r>
              <a:rPr lang="en-US" kern="100" sz="950" b="0" dirty="0">
                <a:solidFill>
                  <a:srgbClr val="1B1D21">
                    <a:alpha val="80000"/>
                  </a:srgbClr>
                </a:solidFill>
                <a:latin typeface="Avenir Next"/>
                <a:ea typeface="Avenir Next"/>
                <a:cs typeface="Avenir Next"/>
              </a:rPr>
              <a:t> if it was elsewhere. It is never modified.</a:t>
            </a:r>
            <a:endParaRPr lang="en-US" kern="100" sz="950" b="0" dirty="0">
              <a:solidFill>
                <a:srgbClr val="1B1D21">
                  <a:alpha val="80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4406900" y="2159000"/>
            <a:ext cx="3378200" cy="2286000"/>
          </a:xfrm>
          <a:prstGeom prst="roundRect">
            <a:avLst>
              <a:gd name="adj" fmla="val 5000"/>
            </a:avLst>
          </a:prstGeom>
          <a:solidFill>
            <a:srgbClr val="1B1D21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635500" y="2391537"/>
            <a:ext cx="871625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E08A5E"/>
                </a:solidFill>
                <a:latin typeface="Menlo"/>
                <a:ea typeface="Menlo"/>
                <a:cs typeface="Menlo"/>
              </a:rPr>
              <a:t>2 · parser LLM</a:t>
            </a:r>
            <a:endParaRPr lang="en-US" kern="100" sz="650" b="1" cap="all" spc="80" dirty="0">
              <a:solidFill>
                <a:srgbClr val="E08A5E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4" name="Text 14"/>
          <p:cNvSpPr txBox="1"/>
          <p:nvPr/>
        </p:nvSpPr>
        <p:spPr>
          <a:xfrm>
            <a:off x="4635500" y="2568518"/>
            <a:ext cx="1817441" cy="235325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5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700" b="0" spc="-25" dirty="0">
                <a:solidFill>
                  <a:srgbClr val="F6F3EC"/>
                </a:solidFill>
                <a:latin typeface="Avenir Next Medium"/>
                <a:ea typeface="Avenir Next Medium"/>
                <a:cs typeface="Avenir Next Medium"/>
              </a:rPr>
              <a:t>faithful markdown</a:t>
            </a:r>
            <a:endParaRPr lang="en-US" kern="100" sz="1700" b="0" spc="-25" dirty="0">
              <a:solidFill>
                <a:srgbClr val="F6F3EC"/>
              </a:solidFill>
              <a:latin typeface="Avenir Next Medium"/>
              <a:ea typeface="Avenir Next Medium"/>
              <a:cs typeface="Avenir Next Medium"/>
            </a:endParaRPr>
          </a:p>
        </p:txBody>
      </p:sp>
      <p:sp>
        <p:nvSpPr>
          <p:cNvPr id="15" name="Text 15"/>
          <p:cNvSpPr txBox="1"/>
          <p:nvPr/>
        </p:nvSpPr>
        <p:spPr>
          <a:xfrm>
            <a:off x="4635500" y="2915760"/>
            <a:ext cx="2865060" cy="73449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50" b="0" dirty="0">
                <a:solidFill>
                  <a:srgbClr val="F6F3EC">
                    <a:alpha val="80000"/>
                  </a:srgbClr>
                </a:solidFill>
                <a:latin typeface="Avenir Next"/>
                <a:ea typeface="Avenir Next"/>
                <a:cs typeface="Avenir Next"/>
              </a:rPr>
              <a:t>Headings, lists, tables, figures as bracketed descriptions. Nothing summarised, nothing dropped. Set by </a:t>
            </a:r>
            <a:r>
              <a:rPr lang="en-US" kern="100" sz="950" b="0" dirty="0">
                <a:solidFill>
                  <a:srgbClr val="F6F3EC">
                    <a:alpha val="80000"/>
                  </a:srgbClr>
                </a:solidFill>
                <a:latin typeface="Menlo"/>
                <a:ea typeface="Menlo"/>
                <a:cs typeface="Menlo"/>
              </a:rPr>
              <a:t>LLM_WIKI_PARSER_PROVIDER / _MODEL</a:t>
            </a:r>
            <a:r>
              <a:rPr lang="en-US" kern="100" sz="950" b="0" dirty="0">
                <a:solidFill>
                  <a:srgbClr val="F6F3EC">
                    <a:alpha val="80000"/>
                  </a:srgbClr>
                </a:solidFill>
                <a:latin typeface="Avenir Next"/>
                <a:ea typeface="Avenir Next"/>
                <a:cs typeface="Avenir Next"/>
              </a:rPr>
              <a:t>.</a:t>
            </a:r>
            <a:endParaRPr lang="en-US" kern="100" sz="950" b="0" dirty="0">
              <a:solidFill>
                <a:srgbClr val="F6F3EC">
                  <a:alpha val="80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8242300" y="2159000"/>
            <a:ext cx="337820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Shape 17"/>
          <p:cNvSpPr/>
          <p:nvPr/>
        </p:nvSpPr>
        <p:spPr>
          <a:xfrm>
            <a:off x="8248650" y="2165350"/>
            <a:ext cx="3365500" cy="2273300"/>
          </a:xfrm>
          <a:prstGeom prst="roundRect">
            <a:avLst>
              <a:gd name="adj" fmla="val 4749"/>
            </a:avLst>
          </a:prstGeom>
          <a:noFill/>
          <a:ln w="12700">
            <a:solidFill>
              <a:srgbClr val="C8623A">
                <a:alpha val="60000"/>
              </a:srgbClr>
            </a:solidFill>
            <a:custDash>
              <a:ds d="275000" sp="250000"/>
            </a:custDash>
            <a:miter lim="800000"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8483600" y="2404237"/>
            <a:ext cx="1120616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3 · the wiki reads</a:t>
            </a:r>
            <a:endParaRPr lang="en-US" kern="100" sz="650" b="1" cap="all" spc="8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9" name="Text 19"/>
          <p:cNvSpPr txBox="1"/>
          <p:nvPr/>
        </p:nvSpPr>
        <p:spPr>
          <a:xfrm>
            <a:off x="8483600" y="2581218"/>
            <a:ext cx="1853557" cy="235325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5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700" b="0" spc="-25" dirty="0">
                <a:solidFill>
                  <a:srgbClr val="1B1D21"/>
                </a:solidFill>
                <a:latin typeface="Avenir Next Medium"/>
                <a:ea typeface="Avenir Next Medium"/>
                <a:cs typeface="Avenir Next Medium"/>
              </a:rPr>
              <a:t>raw/report.pdf.md</a:t>
            </a:r>
            <a:endParaRPr lang="en-US" kern="100" sz="1700" b="0" spc="-25" dirty="0">
              <a:solidFill>
                <a:srgbClr val="1B1D21"/>
              </a:solidFill>
              <a:latin typeface="Avenir Next Medium"/>
              <a:ea typeface="Avenir Next Medium"/>
              <a:cs typeface="Avenir Next Medium"/>
            </a:endParaRPr>
          </a:p>
        </p:txBody>
      </p:sp>
      <p:sp>
        <p:nvSpPr>
          <p:cNvPr id="20" name="Text 20"/>
          <p:cNvSpPr txBox="1"/>
          <p:nvPr/>
        </p:nvSpPr>
        <p:spPr>
          <a:xfrm>
            <a:off x="8483600" y="2928460"/>
            <a:ext cx="2679049" cy="36619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50" b="0" dirty="0">
                <a:solidFill>
                  <a:srgbClr val="1B1D21">
                    <a:alpha val="80000"/>
                  </a:srgbClr>
                </a:solidFill>
                <a:latin typeface="Avenir Next"/>
                <a:ea typeface="Avenir Next"/>
                <a:cs typeface="Avenir Next"/>
              </a:rPr>
              <a:t>Written beside the original with provenance frontmatter, then ingested like any other source.</a:t>
            </a:r>
            <a:endParaRPr lang="en-US" kern="100" sz="950" b="0" dirty="0">
              <a:solidFill>
                <a:srgbClr val="1B1D21">
                  <a:alpha val="80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571500" y="4826000"/>
            <a:ext cx="11049000" cy="1020961"/>
          </a:xfrm>
          <a:prstGeom prst="roundRect">
            <a:avLst>
              <a:gd name="adj" fmla="val 9951"/>
            </a:avLst>
          </a:prstGeom>
          <a:solidFill>
            <a:srgbClr val="1B1D21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800100" y="5001197"/>
            <a:ext cx="7932126" cy="65022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llm-wiki ingest raw/report.pdf             </a:t>
            </a:r>
            <a:r>
              <a:rPr lang="en-US" kern="100" sz="105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convert, then ingest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llm-wiki parse raw/contract.docx           </a:t>
            </a:r>
            <a:r>
              <a:rPr lang="en-US" kern="100" sz="105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convert only — review raw/contract.docx.md first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llm-wiki ingest raw/report.pdf --reparse   </a:t>
            </a:r>
            <a:r>
              <a:rPr lang="en-US" kern="100" sz="105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redo the conversion; cached by hash otherwise</a:t>
            </a:r>
            <a:endParaRPr lang="en-US" kern="100" sz="1050" b="0" dirty="0">
              <a:solidFill>
                <a:srgbClr val="F6F3EC">
                  <a:alpha val="50000"/>
                </a:srgbClr>
              </a:solidFill>
              <a:latin typeface="Menlo"/>
              <a:ea typeface="Menlo"/>
              <a:cs typeface="Menlo"/>
            </a:endParaRPr>
          </a:p>
        </p:txBody>
      </p:sp>
      <p:pic>
        <p:nvPicPr>
          <p:cNvPr id="23" name="Picture 23" descr="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24" name="Text 24"/>
          <p:cNvSpPr txBox="1"/>
          <p:nvPr/>
        </p:nvSpPr>
        <p:spPr>
          <a:xfrm>
            <a:off x="11704538" y="6459106"/>
            <a:ext cx="157262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55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16</a:t>
            </a:r>
            <a:endParaRPr lang="en-US" kern="100" sz="900" b="0" spc="20" dirty="0">
              <a:solidFill>
                <a:srgbClr val="1B1D21">
                  <a:alpha val="55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25" name="Text 25"/>
          <p:cNvSpPr txBox="1"/>
          <p:nvPr/>
        </p:nvSpPr>
        <p:spPr>
          <a:xfrm>
            <a:off x="1358900" y="6459106"/>
            <a:ext cx="113753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38500"/>
                  </a:srgbClr>
                </a:solidFill>
                <a:latin typeface="Avenir Next"/>
                <a:ea typeface="Avenir Next"/>
                <a:cs typeface="Avenir Next"/>
              </a:rPr>
              <a:t>llm-wiki · user guide</a:t>
            </a:r>
            <a:endParaRPr lang="en-US" kern="100" sz="900" b="0" spc="20" dirty="0">
              <a:solidFill>
                <a:srgbClr val="1B1D21">
                  <a:alpha val="385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71500" y="448247"/>
            <a:ext cx="1121751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25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03 · Documents</a:t>
            </a:r>
            <a:endParaRPr lang="en-US" kern="100" sz="800" b="1" cap="all" spc="125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71500" y="725449"/>
            <a:ext cx="5504847" cy="34389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Provenance travels with every page.</a:t>
            </a:r>
            <a:endParaRPr lang="en-US" kern="100" sz="2800" b="0" spc="-50" dirty="0">
              <a:solidFill>
                <a:srgbClr val="1B1D21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4" name="Shape 4"/>
          <p:cNvSpPr/>
          <p:nvPr/>
        </p:nvSpPr>
        <p:spPr>
          <a:xfrm>
            <a:off x="571500" y="1841500"/>
            <a:ext cx="3810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hape 5"/>
          <p:cNvSpPr/>
          <p:nvPr/>
        </p:nvSpPr>
        <p:spPr>
          <a:xfrm>
            <a:off x="571500" y="2159000"/>
            <a:ext cx="5715000" cy="3275707"/>
          </a:xfrm>
          <a:prstGeom prst="roundRect">
            <a:avLst>
              <a:gd name="adj" fmla="val 3102"/>
            </a:avLst>
          </a:prstGeom>
          <a:solidFill>
            <a:srgbClr val="1B1D21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800100" y="2343214"/>
            <a:ext cx="4306014" cy="289978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5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raw/report.pdf.md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---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title: Quarterly Report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original: raw/report.pdf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original_type: PDF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original_sha256: 3f2a9c…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parsed_by: gemini/gemini-3.6-pro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parsed_at: 2026-09-12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---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&gt; </a:t>
            </a:r>
            <a:r>
              <a:rPr lang="en-US" kern="100" sz="950" b="0" dirty="0">
                <a:solidFill>
                  <a:srgbClr val="E08A5E"/>
                </a:solidFill>
                <a:latin typeface="Menlo"/>
                <a:ea typeface="Menlo"/>
                <a:cs typeface="Menlo"/>
              </a:rPr>
              <a:t>**Converted from the original PDF document</a:t>
            </a:r>
            <a:br>
              <a:rPr lang="en-US" kern="100" sz="950" b="0" dirty="0">
                <a:solidFill>
                  <a:srgbClr val="E08A5E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E08A5E"/>
                </a:solidFill>
                <a:latin typeface="Menlo"/>
                <a:ea typeface="Menlo"/>
                <a:cs typeface="Menlo"/>
              </a:rPr>
              <a:t>&gt; [[raw/report.pdf]]**</a:t>
            </a: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 (412 KB) by gemini/gemini-3.6-pro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&gt; on 2026-09-12. The original is kept unmodified in raw/.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# Quarterly Report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…</a:t>
            </a:r>
            <a:endParaRPr lang="en-US" kern="100" sz="950" b="0" dirty="0">
              <a:solidFill>
                <a:srgbClr val="F6F3EC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7" name="Shape 7"/>
          <p:cNvSpPr/>
          <p:nvPr/>
        </p:nvSpPr>
        <p:spPr>
          <a:xfrm>
            <a:off x="6731000" y="2159000"/>
            <a:ext cx="4889500" cy="1220391"/>
          </a:xfrm>
          <a:prstGeom prst="roundRect">
            <a:avLst>
              <a:gd name="adj" fmla="val 8325"/>
            </a:avLst>
          </a:prstGeom>
          <a:solidFill>
            <a:srgbClr val="FFFFFF"/>
          </a:solidFill>
          <a:ln>
            <a:noFill/>
          </a:ln>
          <a:effectLst>
            <a:outerShdw blurRad="411480" dist="114300" dir="5400000" sx="93766" sy="75024" algn="ctr" rotWithShape="0">
              <a:srgbClr val="1B1D21">
                <a:alpha val="18000"/>
              </a:srgbClr>
            </a:outerShdw>
          </a:effectLst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Shape 8"/>
          <p:cNvSpPr/>
          <p:nvPr/>
        </p:nvSpPr>
        <p:spPr>
          <a:xfrm>
            <a:off x="6734175" y="2162175"/>
            <a:ext cx="4883150" cy="1214041"/>
          </a:xfrm>
          <a:prstGeom prst="roundRect">
            <a:avLst>
              <a:gd name="adj" fmla="val 8107"/>
            </a:avLst>
          </a:prstGeom>
          <a:noFill/>
          <a:ln w="6350">
            <a:solidFill>
              <a:srgbClr val="1B1D21">
                <a:alpha val="6000"/>
              </a:srgbClr>
            </a:solidFill>
            <a:miter lim="800000"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Shape 9"/>
          <p:cNvSpPr/>
          <p:nvPr/>
        </p:nvSpPr>
        <p:spPr>
          <a:xfrm>
            <a:off x="6731000" y="3531791"/>
            <a:ext cx="4889500" cy="1395016"/>
          </a:xfrm>
          <a:prstGeom prst="roundRect">
            <a:avLst>
              <a:gd name="adj" fmla="val 7283"/>
            </a:avLst>
          </a:prstGeom>
          <a:solidFill>
            <a:srgbClr val="FFFFFF"/>
          </a:solidFill>
          <a:ln>
            <a:noFill/>
          </a:ln>
          <a:effectLst>
            <a:outerShdw blurRad="411480" dist="114300" dir="5400000" sx="93766" sy="78151" algn="ctr" rotWithShape="0">
              <a:srgbClr val="1B1D21">
                <a:alpha val="18000"/>
              </a:srgbClr>
            </a:outerShdw>
          </a:effectLst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Shape 10"/>
          <p:cNvSpPr/>
          <p:nvPr/>
        </p:nvSpPr>
        <p:spPr>
          <a:xfrm>
            <a:off x="6734175" y="3534966"/>
            <a:ext cx="4883150" cy="1388666"/>
          </a:xfrm>
          <a:prstGeom prst="roundRect">
            <a:avLst>
              <a:gd name="adj" fmla="val 7088"/>
            </a:avLst>
          </a:prstGeom>
          <a:noFill/>
          <a:ln w="6350">
            <a:solidFill>
              <a:srgbClr val="1B1D21">
                <a:alpha val="6000"/>
              </a:srgbClr>
            </a:solidFill>
            <a:miter lim="800000"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6965950" y="2372487"/>
            <a:ext cx="1245164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On the wiki page too</a:t>
            </a:r>
            <a:endParaRPr lang="en-US" kern="100" sz="650" b="1" cap="all" spc="8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2" name="Text 12"/>
          <p:cNvSpPr txBox="1"/>
          <p:nvPr/>
        </p:nvSpPr>
        <p:spPr>
          <a:xfrm>
            <a:off x="6965950" y="2528722"/>
            <a:ext cx="2234113" cy="19288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3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sources/quarterly-report.md</a:t>
            </a:r>
            <a:endParaRPr lang="en-US" kern="100" sz="13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3" name="Text 13"/>
          <p:cNvSpPr txBox="1"/>
          <p:nvPr/>
        </p:nvSpPr>
        <p:spPr>
          <a:xfrm>
            <a:off x="6965950" y="2802055"/>
            <a:ext cx="4400818" cy="36619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Gets </a:t>
            </a: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Courier New"/>
                <a:ea typeface="Courier New"/>
                <a:cs typeface="Courier New"/>
              </a:rPr>
              <a:t>original: raw/report.pdf</a:t>
            </a: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 in its frontmatter and a link to the original in its body — stamped by the tool, whatever the model wrote.</a:t>
            </a:r>
            <a:endParaRPr lang="en-US" kern="100" sz="95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4" name="Text 14"/>
          <p:cNvSpPr txBox="1"/>
          <p:nvPr/>
        </p:nvSpPr>
        <p:spPr>
          <a:xfrm>
            <a:off x="6965950" y="3745278"/>
            <a:ext cx="1182838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Native vs extracted</a:t>
            </a:r>
            <a:endParaRPr lang="en-US" kern="100" sz="650" b="1" cap="all" spc="8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5" name="Text 15"/>
          <p:cNvSpPr txBox="1"/>
          <p:nvPr/>
        </p:nvSpPr>
        <p:spPr>
          <a:xfrm>
            <a:off x="6965950" y="3901513"/>
            <a:ext cx="1579078" cy="19288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3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Scanned PDFs work</a:t>
            </a:r>
            <a:endParaRPr lang="en-US" kern="100" sz="13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6" name="Text 16"/>
          <p:cNvSpPr txBox="1"/>
          <p:nvPr/>
        </p:nvSpPr>
        <p:spPr>
          <a:xfrm>
            <a:off x="6965950" y="4168496"/>
            <a:ext cx="4292531" cy="547173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Anthropic, Gemini, OpenAI, Azure and LiteLLM receive the PDF itself. Ollama and MLX receive text extracted with pdf.js — a scanned page yields nothing there, and the tool says so.</a:t>
            </a:r>
            <a:endParaRPr lang="en-US" kern="100" sz="95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pic>
        <p:nvPicPr>
          <p:cNvPr id="17" name="Picture 17" descr="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18" name="Text 18"/>
          <p:cNvSpPr txBox="1"/>
          <p:nvPr/>
        </p:nvSpPr>
        <p:spPr>
          <a:xfrm>
            <a:off x="11704538" y="6459106"/>
            <a:ext cx="157262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55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17</a:t>
            </a:r>
            <a:endParaRPr lang="en-US" kern="100" sz="900" b="0" spc="20" dirty="0">
              <a:solidFill>
                <a:srgbClr val="1B1D21">
                  <a:alpha val="55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9" name="Text 19"/>
          <p:cNvSpPr txBox="1"/>
          <p:nvPr/>
        </p:nvSpPr>
        <p:spPr>
          <a:xfrm>
            <a:off x="1358900" y="6459106"/>
            <a:ext cx="113753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38500"/>
                  </a:srgbClr>
                </a:solidFill>
                <a:latin typeface="Avenir Next"/>
                <a:ea typeface="Avenir Next"/>
                <a:cs typeface="Avenir Next"/>
              </a:rPr>
              <a:t>llm-wiki · user guide</a:t>
            </a:r>
            <a:endParaRPr lang="en-US" kern="100" sz="900" b="0" spc="20" dirty="0">
              <a:solidFill>
                <a:srgbClr val="1B1D21">
                  <a:alpha val="385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4826000" y="635000"/>
            <a:ext cx="6985000" cy="5588000"/>
          </a:xfrm>
          <a:prstGeom prst="roundRect">
            <a:avLst>
              <a:gd name="adj" fmla="val 2727"/>
            </a:avLst>
          </a:prstGeom>
          <a:solidFill>
            <a:srgbClr val="2E3238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3" name="Picture 3" descr=""/>
          <p:cNvPicPr>
            <a:picLocks noChangeAspect="1"/>
          </p:cNvPicPr>
          <p:nvPr/>
        </p:nvPicPr>
        <p:blipFill>
          <a:blip r:embed="rId2"/>
          <a:srcRect l="14844" t="0" r="14844" b="0"/>
          <a:stretch>
            <a:fillRect/>
          </a:stretch>
        </p:blipFill>
        <p:spPr>
          <a:xfrm>
            <a:off x="4826000" y="635000"/>
            <a:ext cx="6985000" cy="5588000"/>
          </a:xfrm>
          <a:prstGeom prst="roundRect">
            <a:avLst>
              <a:gd name="adj" fmla="val 2727"/>
            </a:avLst>
          </a:prstGeom>
        </p:spPr>
      </p:pic>
      <p:sp>
        <p:nvSpPr>
          <p:cNvPr id="4" name="Text 4"/>
          <p:cNvSpPr txBox="1"/>
          <p:nvPr/>
        </p:nvSpPr>
        <p:spPr>
          <a:xfrm>
            <a:off x="508000" y="2408428"/>
            <a:ext cx="1521603" cy="1271397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0" b="0" spc="-400" dirty="0">
                <a:solidFill>
                  <a:srgbClr val="E08A5E"/>
                </a:solidFill>
                <a:latin typeface="Avenir Next Ultra Light"/>
                <a:ea typeface="Avenir Next Ultra Light"/>
                <a:cs typeface="Avenir Next Ultra Light"/>
              </a:rPr>
              <a:t>04</a:t>
            </a:r>
            <a:endParaRPr lang="en-US" kern="100" sz="11000" b="0" spc="-400" dirty="0">
              <a:solidFill>
                <a:srgbClr val="E08A5E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5" name="Text 5"/>
          <p:cNvSpPr txBox="1"/>
          <p:nvPr/>
        </p:nvSpPr>
        <p:spPr>
          <a:xfrm>
            <a:off x="571500" y="3770103"/>
            <a:ext cx="2877796" cy="743735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900" b="0" spc="-50" dirty="0">
                <a:solidFill>
                  <a:srgbClr val="F6F3EC"/>
                </a:solidFill>
                <a:latin typeface="Avenir Next Ultra Light"/>
                <a:ea typeface="Avenir Next Ultra Light"/>
                <a:cs typeface="Avenir Next Ultra Light"/>
              </a:rPr>
              <a:t>Let the agent do</a:t>
            </a:r>
            <a:br>
              <a:rPr lang="en-US" kern="100" sz="2900" b="0" spc="-50" dirty="0">
                <a:solidFill>
                  <a:srgbClr val="F6F3EC"/>
                </a:solidFill>
                <a:latin typeface="Avenir Next Ultra Light"/>
                <a:ea typeface="Avenir Next Ultra Light"/>
                <a:cs typeface="Avenir Next Ultra Light"/>
              </a:rPr>
            </a:br>
            <a:r>
              <a:rPr lang="en-US" kern="100" sz="2900" b="0" spc="-50" dirty="0">
                <a:solidFill>
                  <a:srgbClr val="F6F3EC"/>
                </a:solidFill>
                <a:latin typeface="Avenir Next Ultra Light"/>
                <a:ea typeface="Avenir Next Ultra Light"/>
                <a:cs typeface="Avenir Next Ultra Light"/>
              </a:rPr>
              <a:t>the bookkeeping.</a:t>
            </a:r>
            <a:endParaRPr lang="en-US" kern="100" sz="2900" b="0" spc="-50" dirty="0">
              <a:solidFill>
                <a:srgbClr val="F6F3EC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6" name="Text 6"/>
          <p:cNvSpPr txBox="1"/>
          <p:nvPr/>
        </p:nvSpPr>
        <p:spPr>
          <a:xfrm>
            <a:off x="571500" y="4695368"/>
            <a:ext cx="3759899" cy="587793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1666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0" dirty="0">
                <a:solidFill>
                  <a:srgbClr val="F6F3EC">
                    <a:alpha val="70000"/>
                  </a:srgbClr>
                </a:solidFill>
                <a:latin typeface="Avenir Next"/>
                <a:ea typeface="Avenir Next"/>
                <a:cs typeface="Avenir Next"/>
              </a:rPr>
              <a:t>Obsidian is the IDE, the LLM is the programmer, the wiki is the codebase. The schema and the MCP server make that literal.</a:t>
            </a:r>
            <a:endParaRPr lang="en-US" kern="100" sz="1100" b="0" dirty="0">
              <a:solidFill>
                <a:srgbClr val="F6F3EC">
                  <a:alpha val="70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pic>
        <p:nvPicPr>
          <p:cNvPr id="7" name="Picture 7" descr="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11704538" y="6459106"/>
            <a:ext cx="157262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FFFFFF">
                    <a:alpha val="70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18</a:t>
            </a:r>
            <a:endParaRPr lang="en-US" kern="100" sz="900" b="0" spc="20" dirty="0">
              <a:solidFill>
                <a:srgbClr val="FFFFFF">
                  <a:alpha val="70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9" name="Text 9"/>
          <p:cNvSpPr txBox="1"/>
          <p:nvPr/>
        </p:nvSpPr>
        <p:spPr>
          <a:xfrm>
            <a:off x="1358900" y="6459106"/>
            <a:ext cx="109543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FFFFFF">
                    <a:alpha val="49000"/>
                  </a:srgbClr>
                </a:solidFill>
                <a:latin typeface="Avenir Next"/>
                <a:ea typeface="Avenir Next"/>
                <a:cs typeface="Avenir Next"/>
              </a:rPr>
              <a:t>Section 04 · Agents</a:t>
            </a:r>
            <a:endParaRPr lang="en-US" kern="100" sz="900" b="0" spc="20" dirty="0">
              <a:solidFill>
                <a:srgbClr val="FFFFFF">
                  <a:alpha val="49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71500" y="448247"/>
            <a:ext cx="881428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25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04 · Agents</a:t>
            </a:r>
            <a:endParaRPr lang="en-US" kern="100" sz="800" b="1" cap="all" spc="125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71500" y="725449"/>
            <a:ext cx="8762683" cy="34389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The schema turns any coding agent into the </a:t>
            </a:r>
            <a:r>
              <a:rPr lang="en-US" kern="100" sz="2800" b="0" i="1" spc="-50" dirty="0">
                <a:solidFill>
                  <a:srgbClr val="C8623A"/>
                </a:solidFill>
                <a:latin typeface="Avenir Next"/>
                <a:ea typeface="Avenir Next"/>
                <a:cs typeface="Avenir Next"/>
              </a:rPr>
              <a:t>maintainer</a:t>
            </a: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.</a:t>
            </a:r>
            <a:endParaRPr lang="en-US" kern="100" sz="2800" b="0" spc="-50" dirty="0">
              <a:solidFill>
                <a:srgbClr val="1B1D21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4" name="Shape 4"/>
          <p:cNvSpPr/>
          <p:nvPr/>
        </p:nvSpPr>
        <p:spPr>
          <a:xfrm>
            <a:off x="571500" y="1841500"/>
            <a:ext cx="3810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hape 5"/>
          <p:cNvSpPr/>
          <p:nvPr/>
        </p:nvSpPr>
        <p:spPr>
          <a:xfrm>
            <a:off x="2797572" y="3207941"/>
            <a:ext cx="364232" cy="158750"/>
          </a:xfrm>
          <a:prstGeom prst="roundRect">
            <a:avLst>
              <a:gd name="adj" fmla="val 20000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Shape 6"/>
          <p:cNvSpPr/>
          <p:nvPr/>
        </p:nvSpPr>
        <p:spPr>
          <a:xfrm>
            <a:off x="4632623" y="3207941"/>
            <a:ext cx="1052314" cy="158750"/>
          </a:xfrm>
          <a:prstGeom prst="roundRect">
            <a:avLst>
              <a:gd name="adj" fmla="val 20000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Shape 7"/>
          <p:cNvSpPr/>
          <p:nvPr/>
        </p:nvSpPr>
        <p:spPr>
          <a:xfrm>
            <a:off x="8883452" y="3017441"/>
            <a:ext cx="364232" cy="158750"/>
          </a:xfrm>
          <a:prstGeom prst="roundRect">
            <a:avLst>
              <a:gd name="adj" fmla="val 20000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571500" y="2194154"/>
            <a:ext cx="447008" cy="36807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3200" b="0" spc="-100" dirty="0">
                <a:solidFill>
                  <a:srgbClr val="C8623A"/>
                </a:solidFill>
                <a:latin typeface="Avenir Next Ultra Light"/>
                <a:ea typeface="Avenir Next Ultra Light"/>
                <a:cs typeface="Avenir Next Ultra Light"/>
              </a:rPr>
              <a:t>§1</a:t>
            </a:r>
            <a:endParaRPr lang="en-US" kern="100" sz="3200" b="0" spc="-100" dirty="0">
              <a:solidFill>
                <a:srgbClr val="C8623A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9" name="Text 9"/>
          <p:cNvSpPr txBox="1"/>
          <p:nvPr/>
        </p:nvSpPr>
        <p:spPr>
          <a:xfrm>
            <a:off x="571500" y="2719222"/>
            <a:ext cx="1726327" cy="19288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3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Layout &amp; page format</a:t>
            </a:r>
            <a:endParaRPr lang="en-US" kern="100" sz="13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0" name="Text 10"/>
          <p:cNvSpPr txBox="1"/>
          <p:nvPr/>
        </p:nvSpPr>
        <p:spPr>
          <a:xfrm>
            <a:off x="571500" y="2998264"/>
            <a:ext cx="3564199" cy="574802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Where each page type lives, the frontmatter keys, kebab-</a:t>
            </a:r>
            <a:b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case slugs, wikilink conventions, citing </a:t>
            </a:r>
            <a:r>
              <a:rPr lang="en-US" kern="100" sz="900" b="0" spc="35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00" b="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raw/</a:t>
            </a:r>
            <a:r>
              <a:rPr lang="en-US" kern="100" sz="900" b="0" spc="35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 for every non-</a:t>
            </a:r>
            <a:b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obvious claim.</a:t>
            </a:r>
            <a:endParaRPr lang="en-US" kern="100" sz="100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1" name="Text 11"/>
          <p:cNvSpPr txBox="1"/>
          <p:nvPr/>
        </p:nvSpPr>
        <p:spPr>
          <a:xfrm>
            <a:off x="4356100" y="2194154"/>
            <a:ext cx="447008" cy="36807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3200" b="0" spc="-100" dirty="0">
                <a:solidFill>
                  <a:srgbClr val="C8623A"/>
                </a:solidFill>
                <a:latin typeface="Avenir Next Ultra Light"/>
                <a:ea typeface="Avenir Next Ultra Light"/>
                <a:cs typeface="Avenir Next Ultra Light"/>
              </a:rPr>
              <a:t>§2</a:t>
            </a:r>
            <a:endParaRPr lang="en-US" kern="100" sz="3200" b="0" spc="-100" dirty="0">
              <a:solidFill>
                <a:srgbClr val="C8623A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12" name="Text 12"/>
          <p:cNvSpPr txBox="1"/>
          <p:nvPr/>
        </p:nvSpPr>
        <p:spPr>
          <a:xfrm>
            <a:off x="4356100" y="2719222"/>
            <a:ext cx="891334" cy="19288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3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Operations</a:t>
            </a:r>
            <a:endParaRPr lang="en-US" kern="100" sz="13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3" name="Text 13"/>
          <p:cNvSpPr txBox="1"/>
          <p:nvPr/>
        </p:nvSpPr>
        <p:spPr>
          <a:xfrm>
            <a:off x="4356100" y="2998264"/>
            <a:ext cx="3575447" cy="574802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Step-by-step ingest, query and lint workflows — including</a:t>
            </a:r>
            <a:b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"run </a:t>
            </a:r>
            <a:r>
              <a:rPr lang="en-US" kern="100" sz="900" b="0" spc="35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00" b="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llm-wiki index</a:t>
            </a:r>
            <a:r>
              <a:rPr lang="en-US" kern="100" sz="900" b="0" spc="35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 after editing pages" and how to flag</a:t>
            </a:r>
            <a:b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a contradiction.</a:t>
            </a:r>
            <a:endParaRPr lang="en-US" kern="100" sz="100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4" name="Text 14"/>
          <p:cNvSpPr txBox="1"/>
          <p:nvPr/>
        </p:nvSpPr>
        <p:spPr>
          <a:xfrm>
            <a:off x="8140700" y="2194154"/>
            <a:ext cx="447008" cy="36807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3200" b="0" spc="-100" dirty="0">
                <a:solidFill>
                  <a:srgbClr val="C8623A"/>
                </a:solidFill>
                <a:latin typeface="Avenir Next Ultra Light"/>
                <a:ea typeface="Avenir Next Ultra Light"/>
                <a:cs typeface="Avenir Next Ultra Light"/>
              </a:rPr>
              <a:t>§3</a:t>
            </a:r>
            <a:endParaRPr lang="en-US" kern="100" sz="3200" b="0" spc="-100" dirty="0">
              <a:solidFill>
                <a:srgbClr val="C8623A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15" name="Text 15"/>
          <p:cNvSpPr txBox="1"/>
          <p:nvPr/>
        </p:nvSpPr>
        <p:spPr>
          <a:xfrm>
            <a:off x="8140700" y="2719222"/>
            <a:ext cx="1091414" cy="19288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3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Working style</a:t>
            </a:r>
            <a:endParaRPr lang="en-US" kern="100" sz="13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6" name="Text 16"/>
          <p:cNvSpPr txBox="1"/>
          <p:nvPr/>
        </p:nvSpPr>
        <p:spPr>
          <a:xfrm>
            <a:off x="8140700" y="2998264"/>
            <a:ext cx="3390844" cy="574802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Never touch </a:t>
            </a:r>
            <a:r>
              <a:rPr lang="en-US" kern="100" sz="900" b="0" spc="35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00" b="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raw/</a:t>
            </a:r>
            <a:r>
              <a:rPr lang="en-US" kern="100" sz="900" b="0" spc="35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; keep pages atomic; prefer updating</a:t>
            </a:r>
            <a:b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over duplicating; mark possible duplicates for the next</a:t>
            </a:r>
            <a:b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lint pass.</a:t>
            </a:r>
            <a:endParaRPr lang="en-US" kern="100" sz="100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571500" y="4826000"/>
            <a:ext cx="11049000" cy="807641"/>
          </a:xfrm>
          <a:prstGeom prst="roundRect">
            <a:avLst>
              <a:gd name="adj" fmla="val 12580"/>
            </a:avLst>
          </a:prstGeom>
          <a:solidFill>
            <a:srgbClr val="1B1D21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800100" y="5001197"/>
            <a:ext cx="8767016" cy="43690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cd ~/notes-wiki &amp;&amp; claude          </a:t>
            </a:r>
            <a:r>
              <a:rPr lang="en-US" kern="100" sz="105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CLAUDE.md is read automatically; AGENTS.md serves Codex and others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&gt; ingest raw/podcast-notes.md and tell me what changed in the overview</a:t>
            </a:r>
            <a:endParaRPr lang="en-US" kern="100" sz="1050" b="0" dirty="0">
              <a:solidFill>
                <a:srgbClr val="F6F3EC"/>
              </a:solidFill>
              <a:latin typeface="Menlo"/>
              <a:ea typeface="Menlo"/>
              <a:cs typeface="Menlo"/>
            </a:endParaRPr>
          </a:p>
        </p:txBody>
      </p:sp>
      <p:pic>
        <p:nvPicPr>
          <p:cNvPr id="19" name="Picture 19" descr="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20" name="Text 20"/>
          <p:cNvSpPr txBox="1"/>
          <p:nvPr/>
        </p:nvSpPr>
        <p:spPr>
          <a:xfrm>
            <a:off x="11704538" y="6459106"/>
            <a:ext cx="157262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55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19</a:t>
            </a:r>
            <a:endParaRPr lang="en-US" kern="100" sz="900" b="0" spc="20" dirty="0">
              <a:solidFill>
                <a:srgbClr val="1B1D21">
                  <a:alpha val="55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21" name="Text 21"/>
          <p:cNvSpPr txBox="1"/>
          <p:nvPr/>
        </p:nvSpPr>
        <p:spPr>
          <a:xfrm>
            <a:off x="1358900" y="6459106"/>
            <a:ext cx="113753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38500"/>
                  </a:srgbClr>
                </a:solidFill>
                <a:latin typeface="Avenir Next"/>
                <a:ea typeface="Avenir Next"/>
                <a:cs typeface="Avenir Next"/>
              </a:rPr>
              <a:t>llm-wiki · user guide</a:t>
            </a:r>
            <a:endParaRPr lang="en-US" kern="100" sz="900" b="0" spc="20" dirty="0">
              <a:solidFill>
                <a:srgbClr val="1B1D21">
                  <a:alpha val="385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71500" y="448247"/>
            <a:ext cx="881428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25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04 · Agents</a:t>
            </a:r>
            <a:endParaRPr lang="en-US" kern="100" sz="800" b="1" cap="all" spc="125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71500" y="725449"/>
            <a:ext cx="6619169" cy="34389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The MCP server: native tools for the agent.</a:t>
            </a:r>
            <a:endParaRPr lang="en-US" kern="100" sz="2800" b="0" spc="-50" dirty="0">
              <a:solidFill>
                <a:srgbClr val="1B1D21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4" name="Shape 4"/>
          <p:cNvSpPr/>
          <p:nvPr/>
        </p:nvSpPr>
        <p:spPr>
          <a:xfrm>
            <a:off x="571500" y="1841500"/>
            <a:ext cx="3810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hape 5"/>
          <p:cNvSpPr/>
          <p:nvPr/>
        </p:nvSpPr>
        <p:spPr>
          <a:xfrm>
            <a:off x="571500" y="2159000"/>
            <a:ext cx="5461000" cy="1660922"/>
          </a:xfrm>
          <a:prstGeom prst="roundRect">
            <a:avLst>
              <a:gd name="adj" fmla="val 6117"/>
            </a:avLst>
          </a:prstGeom>
          <a:solidFill>
            <a:srgbClr val="1B1D21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800100" y="2334197"/>
            <a:ext cx="3339870" cy="1290185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claude mcp add llm-wiki -- \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    node /path/to/llm-wiki/dist/cli.js \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    --root ~/notes-wiki mcp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or run it yourself for any MCP client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llm-wiki mcp                </a:t>
            </a:r>
            <a:r>
              <a:rPr lang="en-US" kern="100" sz="105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stdio</a:t>
            </a:r>
            <a:endParaRPr lang="en-US" kern="100" sz="1050" b="0" dirty="0">
              <a:solidFill>
                <a:srgbClr val="F6F3EC">
                  <a:alpha val="50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7" name="Text 7"/>
          <p:cNvSpPr txBox="1"/>
          <p:nvPr/>
        </p:nvSpPr>
        <p:spPr>
          <a:xfrm>
            <a:off x="571500" y="3953786"/>
            <a:ext cx="5424464" cy="36619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50" b="0" dirty="0">
                <a:solidFill>
                  <a:srgbClr val="1B1D21">
                    <a:alpha val="75000"/>
                  </a:srgbClr>
                </a:solidFill>
                <a:latin typeface="Avenir Next"/>
                <a:ea typeface="Avenir Next"/>
                <a:cs typeface="Avenir Next"/>
              </a:rPr>
              <a:t>Settings resolve the same way as for the CLI, so the server needs no extra configuration beyond</a:t>
            </a:r>
            <a:br>
              <a:rPr lang="en-US" kern="100" sz="950" b="0" dirty="0">
                <a:solidFill>
                  <a:srgbClr val="1B1D21">
                    <a:alpha val="75000"/>
                  </a:srgbClr>
                </a:solidFill>
                <a:latin typeface="Courier New"/>
                <a:ea typeface="Courier New"/>
                <a:cs typeface="Courier New"/>
              </a:rPr>
            </a:br>
            <a:r>
              <a:rPr lang="en-US" kern="100" sz="950" b="0" dirty="0">
                <a:solidFill>
                  <a:srgbClr val="1B1D21">
                    <a:alpha val="75000"/>
                  </a:srgbClr>
                </a:solidFill>
                <a:latin typeface="Courier New"/>
                <a:ea typeface="Courier New"/>
                <a:cs typeface="Courier New"/>
              </a:rPr>
              <a:t>LLM_WIKI_ROOT</a:t>
            </a:r>
            <a:r>
              <a:rPr lang="en-US" kern="100" sz="950" b="0" dirty="0">
                <a:solidFill>
                  <a:srgbClr val="1B1D21">
                    <a:alpha val="75000"/>
                  </a:srgbClr>
                </a:solidFill>
                <a:latin typeface="Avenir Next"/>
                <a:ea typeface="Avenir Next"/>
                <a:cs typeface="Avenir Next"/>
              </a:rPr>
              <a:t> (or </a:t>
            </a:r>
            <a:r>
              <a:rPr lang="en-US" kern="100" sz="950" b="0" dirty="0">
                <a:solidFill>
                  <a:srgbClr val="1B1D21">
                    <a:alpha val="75000"/>
                  </a:srgbClr>
                </a:solidFill>
                <a:latin typeface="Courier New"/>
                <a:ea typeface="Courier New"/>
                <a:cs typeface="Courier New"/>
              </a:rPr>
              <a:t>--root</a:t>
            </a:r>
            <a:r>
              <a:rPr lang="en-US" kern="100" sz="950" b="0" dirty="0">
                <a:solidFill>
                  <a:srgbClr val="1B1D21">
                    <a:alpha val="75000"/>
                  </a:srgbClr>
                </a:solidFill>
                <a:latin typeface="Avenir Next"/>
                <a:ea typeface="Avenir Next"/>
                <a:cs typeface="Avenir Next"/>
              </a:rPr>
              <a:t>).</a:t>
            </a:r>
            <a:endParaRPr lang="en-US" kern="100" sz="950" b="0" dirty="0">
              <a:solidFill>
                <a:srgbClr val="1B1D21">
                  <a:alpha val="7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8" name="Shape 8"/>
          <p:cNvSpPr/>
          <p:nvPr/>
        </p:nvSpPr>
        <p:spPr>
          <a:xfrm>
            <a:off x="6413500" y="2292648"/>
            <a:ext cx="1775023" cy="6350"/>
          </a:xfrm>
          <a:prstGeom prst="rect">
            <a:avLst/>
          </a:prstGeom>
          <a:solidFill>
            <a:srgbClr val="1B1D21">
              <a:alpha val="18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Shape 9"/>
          <p:cNvSpPr/>
          <p:nvPr/>
        </p:nvSpPr>
        <p:spPr>
          <a:xfrm>
            <a:off x="8188523" y="2292648"/>
            <a:ext cx="3431977" cy="6350"/>
          </a:xfrm>
          <a:prstGeom prst="rect">
            <a:avLst/>
          </a:prstGeom>
          <a:solidFill>
            <a:srgbClr val="1B1D21">
              <a:alpha val="18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10" name="Line 10"/>
          <p:cNvCxnSpPr/>
          <p:nvPr/>
        </p:nvCxnSpPr>
        <p:spPr>
          <a:xfrm>
            <a:off x="6413500" y="2638723"/>
            <a:ext cx="1775023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1" name="Line 11"/>
          <p:cNvCxnSpPr/>
          <p:nvPr/>
        </p:nvCxnSpPr>
        <p:spPr>
          <a:xfrm>
            <a:off x="8188523" y="2638723"/>
            <a:ext cx="3431977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2" name="Line 12"/>
          <p:cNvCxnSpPr/>
          <p:nvPr/>
        </p:nvCxnSpPr>
        <p:spPr>
          <a:xfrm>
            <a:off x="6413500" y="2981623"/>
            <a:ext cx="1775023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3" name="Line 13"/>
          <p:cNvCxnSpPr/>
          <p:nvPr/>
        </p:nvCxnSpPr>
        <p:spPr>
          <a:xfrm>
            <a:off x="8188523" y="2981623"/>
            <a:ext cx="3431977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4" name="Line 14"/>
          <p:cNvCxnSpPr/>
          <p:nvPr/>
        </p:nvCxnSpPr>
        <p:spPr>
          <a:xfrm>
            <a:off x="6413500" y="3324523"/>
            <a:ext cx="1775023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5" name="Line 15"/>
          <p:cNvCxnSpPr/>
          <p:nvPr/>
        </p:nvCxnSpPr>
        <p:spPr>
          <a:xfrm>
            <a:off x="8188523" y="3324523"/>
            <a:ext cx="3431977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6" name="Line 16"/>
          <p:cNvCxnSpPr/>
          <p:nvPr/>
        </p:nvCxnSpPr>
        <p:spPr>
          <a:xfrm>
            <a:off x="6413500" y="3667423"/>
            <a:ext cx="1775023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7" name="Line 17"/>
          <p:cNvCxnSpPr/>
          <p:nvPr/>
        </p:nvCxnSpPr>
        <p:spPr>
          <a:xfrm>
            <a:off x="8188523" y="3667423"/>
            <a:ext cx="3431977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8" name="Line 18"/>
          <p:cNvCxnSpPr/>
          <p:nvPr/>
        </p:nvCxnSpPr>
        <p:spPr>
          <a:xfrm>
            <a:off x="6413500" y="4010323"/>
            <a:ext cx="1775023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9" name="Line 19"/>
          <p:cNvCxnSpPr/>
          <p:nvPr/>
        </p:nvCxnSpPr>
        <p:spPr>
          <a:xfrm>
            <a:off x="8188523" y="4010323"/>
            <a:ext cx="3431977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20" name="Line 20"/>
          <p:cNvCxnSpPr/>
          <p:nvPr/>
        </p:nvCxnSpPr>
        <p:spPr>
          <a:xfrm>
            <a:off x="6413500" y="4353223"/>
            <a:ext cx="1775023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21" name="Line 21"/>
          <p:cNvCxnSpPr/>
          <p:nvPr/>
        </p:nvCxnSpPr>
        <p:spPr>
          <a:xfrm>
            <a:off x="8188523" y="4353223"/>
            <a:ext cx="3431977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22" name="Line 22"/>
          <p:cNvCxnSpPr/>
          <p:nvPr/>
        </p:nvCxnSpPr>
        <p:spPr>
          <a:xfrm>
            <a:off x="6413500" y="4696123"/>
            <a:ext cx="1775023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23" name="Line 23"/>
          <p:cNvCxnSpPr/>
          <p:nvPr/>
        </p:nvCxnSpPr>
        <p:spPr>
          <a:xfrm>
            <a:off x="8188523" y="4696123"/>
            <a:ext cx="3431977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24" name="Line 24"/>
          <p:cNvCxnSpPr/>
          <p:nvPr/>
        </p:nvCxnSpPr>
        <p:spPr>
          <a:xfrm>
            <a:off x="6413500" y="5039023"/>
            <a:ext cx="1775023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25" name="Line 25"/>
          <p:cNvCxnSpPr/>
          <p:nvPr/>
        </p:nvCxnSpPr>
        <p:spPr>
          <a:xfrm>
            <a:off x="8188523" y="5039023"/>
            <a:ext cx="3431977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sp>
        <p:nvSpPr>
          <p:cNvPr id="26" name="Text 26"/>
          <p:cNvSpPr txBox="1"/>
          <p:nvPr/>
        </p:nvSpPr>
        <p:spPr>
          <a:xfrm>
            <a:off x="6413500" y="2093643"/>
            <a:ext cx="247154" cy="11155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7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Tool</a:t>
            </a:r>
            <a:endParaRPr lang="en-US" kern="100" sz="650" b="1" cap="all" spc="7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27" name="Text 27"/>
          <p:cNvSpPr txBox="1"/>
          <p:nvPr/>
        </p:nvSpPr>
        <p:spPr>
          <a:xfrm>
            <a:off x="8188523" y="2093643"/>
            <a:ext cx="247154" cy="11155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7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Does</a:t>
            </a:r>
            <a:endParaRPr lang="en-US" kern="100" sz="650" b="1" cap="all" spc="7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28" name="Text 28"/>
          <p:cNvSpPr txBox="1"/>
          <p:nvPr/>
        </p:nvSpPr>
        <p:spPr>
          <a:xfrm>
            <a:off x="6413500" y="2382151"/>
            <a:ext cx="787321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wiki_search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29" name="Text 29"/>
          <p:cNvSpPr txBox="1"/>
          <p:nvPr/>
        </p:nvSpPr>
        <p:spPr>
          <a:xfrm>
            <a:off x="8188523" y="2386183"/>
            <a:ext cx="1949831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bm25 / vector / hybrid, any layer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30" name="Text 30"/>
          <p:cNvSpPr txBox="1"/>
          <p:nvPr/>
        </p:nvSpPr>
        <p:spPr>
          <a:xfrm>
            <a:off x="6413500" y="2725051"/>
            <a:ext cx="1001951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wiki_read_page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1" name="Text 31"/>
          <p:cNvSpPr txBox="1"/>
          <p:nvPr/>
        </p:nvSpPr>
        <p:spPr>
          <a:xfrm>
            <a:off x="8188523" y="2729083"/>
            <a:ext cx="128664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a page, or index / log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32" name="Text 32"/>
          <p:cNvSpPr txBox="1"/>
          <p:nvPr/>
        </p:nvSpPr>
        <p:spPr>
          <a:xfrm>
            <a:off x="6413500" y="3067951"/>
            <a:ext cx="1073563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wiki_list_pages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3" name="Text 33"/>
          <p:cNvSpPr txBox="1"/>
          <p:nvPr/>
        </p:nvSpPr>
        <p:spPr>
          <a:xfrm>
            <a:off x="8188523" y="3071983"/>
            <a:ext cx="2173026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id, type, title, summary; filter by type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34" name="Text 34"/>
          <p:cNvSpPr txBox="1"/>
          <p:nvPr/>
        </p:nvSpPr>
        <p:spPr>
          <a:xfrm>
            <a:off x="6413500" y="3410851"/>
            <a:ext cx="1073563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wiki_write_page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5" name="Text 35"/>
          <p:cNvSpPr txBox="1"/>
          <p:nvPr/>
        </p:nvSpPr>
        <p:spPr>
          <a:xfrm>
            <a:off x="8188523" y="3414883"/>
            <a:ext cx="2186543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create / replace / append; reindexes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36" name="Text 36"/>
          <p:cNvSpPr txBox="1"/>
          <p:nvPr/>
        </p:nvSpPr>
        <p:spPr>
          <a:xfrm>
            <a:off x="6413500" y="3753751"/>
            <a:ext cx="1073563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wiki_append_log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7" name="Text 37"/>
          <p:cNvSpPr txBox="1"/>
          <p:nvPr/>
        </p:nvSpPr>
        <p:spPr>
          <a:xfrm>
            <a:off x="8188523" y="3757783"/>
            <a:ext cx="1849430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an entry in the standard format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38" name="Text 38"/>
          <p:cNvSpPr txBox="1"/>
          <p:nvPr/>
        </p:nvSpPr>
        <p:spPr>
          <a:xfrm>
            <a:off x="6413500" y="4096651"/>
            <a:ext cx="1073563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wiki_recent_log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9" name="Text 39"/>
          <p:cNvSpPr txBox="1"/>
          <p:nvPr/>
        </p:nvSpPr>
        <p:spPr>
          <a:xfrm>
            <a:off x="8188523" y="4100683"/>
            <a:ext cx="1007729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the last N entries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40" name="Text 40"/>
          <p:cNvSpPr txBox="1"/>
          <p:nvPr/>
        </p:nvSpPr>
        <p:spPr>
          <a:xfrm>
            <a:off x="6413500" y="4439551"/>
            <a:ext cx="644200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wiki_lint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41" name="Text 41"/>
          <p:cNvSpPr txBox="1"/>
          <p:nvPr/>
        </p:nvSpPr>
        <p:spPr>
          <a:xfrm>
            <a:off x="8188523" y="4443583"/>
            <a:ext cx="1579182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the structural health check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42" name="Text 42"/>
          <p:cNvSpPr txBox="1"/>
          <p:nvPr/>
        </p:nvSpPr>
        <p:spPr>
          <a:xfrm>
            <a:off x="6413500" y="4782451"/>
            <a:ext cx="858830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wiki_reindex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43" name="Text 43"/>
          <p:cNvSpPr txBox="1"/>
          <p:nvPr/>
        </p:nvSpPr>
        <p:spPr>
          <a:xfrm>
            <a:off x="8188523" y="4786483"/>
            <a:ext cx="1479502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index.md + search index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pic>
        <p:nvPicPr>
          <p:cNvPr id="44" name="Picture 44" descr="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45" name="Text 45"/>
          <p:cNvSpPr txBox="1"/>
          <p:nvPr/>
        </p:nvSpPr>
        <p:spPr>
          <a:xfrm>
            <a:off x="11704538" y="6459106"/>
            <a:ext cx="157262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55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20</a:t>
            </a:r>
            <a:endParaRPr lang="en-US" kern="100" sz="900" b="0" spc="20" dirty="0">
              <a:solidFill>
                <a:srgbClr val="1B1D21">
                  <a:alpha val="55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46" name="Text 46"/>
          <p:cNvSpPr txBox="1"/>
          <p:nvPr/>
        </p:nvSpPr>
        <p:spPr>
          <a:xfrm>
            <a:off x="1358900" y="6459106"/>
            <a:ext cx="113753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38500"/>
                  </a:srgbClr>
                </a:solidFill>
                <a:latin typeface="Avenir Next"/>
                <a:ea typeface="Avenir Next"/>
                <a:cs typeface="Avenir Next"/>
              </a:rPr>
              <a:t>llm-wiki · user guide</a:t>
            </a:r>
            <a:endParaRPr lang="en-US" kern="100" sz="900" b="0" spc="20" dirty="0">
              <a:solidFill>
                <a:srgbClr val="1B1D21">
                  <a:alpha val="385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71500" y="448247"/>
            <a:ext cx="881428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25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04 · Agents</a:t>
            </a:r>
            <a:endParaRPr lang="en-US" kern="100" sz="800" b="1" cap="all" spc="125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71500" y="725449"/>
            <a:ext cx="3593711" cy="34389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What a page looks like.</a:t>
            </a:r>
            <a:endParaRPr lang="en-US" kern="100" sz="2800" b="0" spc="-50" dirty="0">
              <a:solidFill>
                <a:srgbClr val="1B1D21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4" name="Shape 4"/>
          <p:cNvSpPr/>
          <p:nvPr/>
        </p:nvSpPr>
        <p:spPr>
          <a:xfrm>
            <a:off x="571500" y="1841500"/>
            <a:ext cx="3810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hape 5"/>
          <p:cNvSpPr/>
          <p:nvPr/>
        </p:nvSpPr>
        <p:spPr>
          <a:xfrm>
            <a:off x="571500" y="2159000"/>
            <a:ext cx="5715000" cy="3854648"/>
          </a:xfrm>
          <a:prstGeom prst="roundRect">
            <a:avLst>
              <a:gd name="adj" fmla="val 2636"/>
            </a:avLst>
          </a:prstGeom>
          <a:solidFill>
            <a:srgbClr val="1B1D21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800100" y="2343214"/>
            <a:ext cx="4532614" cy="347872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---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title: Ada Lovelace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type: entity         </a:t>
            </a:r>
            <a:r>
              <a:rPr lang="en-US" kern="100" sz="95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entity | concept | source | synthesis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summary: One sentence shown verbatim in index.md.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tags: [mathematics, computing]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created: 2026-04-02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updated: 2026-04-09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sources: [raw/some-article.md]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aliases: [Countess of Lovelace]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---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# Ada Lovelace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Worked with [[charles-babbage]] on the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[[concepts/analytical-engine|Analytical Engine]]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([[sources/some-article]]).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&gt; </a:t>
            </a:r>
            <a:r>
              <a:rPr lang="en-US" kern="100" sz="950" b="0" dirty="0">
                <a:solidFill>
                  <a:srgbClr val="E08A5E"/>
                </a:solidFill>
                <a:latin typeface="Menlo"/>
                <a:ea typeface="Menlo"/>
                <a:cs typeface="Menlo"/>
              </a:rPr>
              <a:t>**Contradiction:**</a:t>
            </a: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 [[sources/a]] dates the notes to 1842,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&gt; [[sources/b]] to 1843.</a:t>
            </a:r>
            <a:endParaRPr lang="en-US" kern="100" sz="950" b="0" dirty="0">
              <a:solidFill>
                <a:srgbClr val="F6F3EC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7" name="Shape 7"/>
          <p:cNvSpPr/>
          <p:nvPr/>
        </p:nvSpPr>
        <p:spPr>
          <a:xfrm>
            <a:off x="8911828" y="2171700"/>
            <a:ext cx="467221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Shape 8"/>
          <p:cNvSpPr/>
          <p:nvPr/>
        </p:nvSpPr>
        <p:spPr>
          <a:xfrm>
            <a:off x="9446121" y="2171700"/>
            <a:ext cx="618530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Shape 9"/>
          <p:cNvSpPr/>
          <p:nvPr/>
        </p:nvSpPr>
        <p:spPr>
          <a:xfrm>
            <a:off x="10131723" y="2171700"/>
            <a:ext cx="391616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Shape 10"/>
          <p:cNvSpPr/>
          <p:nvPr/>
        </p:nvSpPr>
        <p:spPr>
          <a:xfrm>
            <a:off x="6946900" y="2374205"/>
            <a:ext cx="618530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Shape 11"/>
          <p:cNvSpPr/>
          <p:nvPr/>
        </p:nvSpPr>
        <p:spPr>
          <a:xfrm>
            <a:off x="7632502" y="2374205"/>
            <a:ext cx="618530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6946900" y="2150129"/>
            <a:ext cx="3757366" cy="40790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1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Frontmatter feeds the index: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title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,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summary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,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type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,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b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</a:b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updated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,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sources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.</a:t>
            </a:r>
            <a:endParaRPr lang="en-US" kern="100" sz="11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6731000" y="2247900"/>
            <a:ext cx="1016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Shape 14"/>
          <p:cNvSpPr/>
          <p:nvPr/>
        </p:nvSpPr>
        <p:spPr>
          <a:xfrm>
            <a:off x="9587607" y="2678311"/>
            <a:ext cx="921147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946900" y="2656740"/>
            <a:ext cx="4640136" cy="40790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1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Wikilinks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by basename when unique, by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folder/slug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when not; lint</a:t>
            </a:r>
            <a:b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flags collisions and dangling links.</a:t>
            </a:r>
            <a:endParaRPr lang="en-US" kern="100" sz="11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6731000" y="2754511"/>
            <a:ext cx="1016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6946900" y="3163351"/>
            <a:ext cx="3463695" cy="2054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1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Contradictions are callouts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, never silent overwrites.</a:t>
            </a:r>
            <a:endParaRPr lang="en-US" kern="100" sz="11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6731000" y="3261122"/>
            <a:ext cx="1016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Shape 19"/>
          <p:cNvSpPr/>
          <p:nvPr/>
        </p:nvSpPr>
        <p:spPr>
          <a:xfrm>
            <a:off x="8348960" y="3489027"/>
            <a:ext cx="1148159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6946900" y="3467456"/>
            <a:ext cx="2690098" cy="2054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1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After hand edits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, run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llm-wiki index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.</a:t>
            </a:r>
            <a:endParaRPr lang="en-US" kern="100" sz="11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6731000" y="3565227"/>
            <a:ext cx="1016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22" name="Picture 22" descr="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23" name="Text 23"/>
          <p:cNvSpPr txBox="1"/>
          <p:nvPr/>
        </p:nvSpPr>
        <p:spPr>
          <a:xfrm>
            <a:off x="11704538" y="6459106"/>
            <a:ext cx="157262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55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21</a:t>
            </a:r>
            <a:endParaRPr lang="en-US" kern="100" sz="900" b="0" spc="20" dirty="0">
              <a:solidFill>
                <a:srgbClr val="1B1D21">
                  <a:alpha val="55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24" name="Text 24"/>
          <p:cNvSpPr txBox="1"/>
          <p:nvPr/>
        </p:nvSpPr>
        <p:spPr>
          <a:xfrm>
            <a:off x="1358900" y="6459106"/>
            <a:ext cx="113753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38500"/>
                  </a:srgbClr>
                </a:solidFill>
                <a:latin typeface="Avenir Next"/>
                <a:ea typeface="Avenir Next"/>
                <a:cs typeface="Avenir Next"/>
              </a:rPr>
              <a:t>llm-wiki · user guide</a:t>
            </a:r>
            <a:endParaRPr lang="en-US" kern="100" sz="900" b="0" spc="20" dirty="0">
              <a:solidFill>
                <a:srgbClr val="1B1D21">
                  <a:alpha val="385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71500" y="448247"/>
            <a:ext cx="881428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25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04 · Agents</a:t>
            </a:r>
            <a:endParaRPr lang="en-US" kern="100" sz="800" b="1" cap="all" spc="125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71500" y="725449"/>
            <a:ext cx="6313837" cy="34389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A worked example, from one small note.</a:t>
            </a:r>
            <a:endParaRPr lang="en-US" kern="100" sz="2800" b="0" spc="-50" dirty="0">
              <a:solidFill>
                <a:srgbClr val="1B1D21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4" name="Shape 4"/>
          <p:cNvSpPr/>
          <p:nvPr/>
        </p:nvSpPr>
        <p:spPr>
          <a:xfrm>
            <a:off x="571500" y="1841500"/>
            <a:ext cx="3810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Text 5"/>
          <p:cNvSpPr txBox="1"/>
          <p:nvPr/>
        </p:nvSpPr>
        <p:spPr>
          <a:xfrm>
            <a:off x="571500" y="2335276"/>
            <a:ext cx="821579" cy="119532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2000" b="0" spc="-500" dirty="0">
                <a:solidFill>
                  <a:srgbClr val="C8623A"/>
                </a:solidFill>
                <a:latin typeface="Avenir Next Ultra Light"/>
                <a:ea typeface="Avenir Next Ultra Light"/>
                <a:cs typeface="Avenir Next Ultra Light"/>
              </a:rPr>
              <a:t>8</a:t>
            </a:r>
            <a:endParaRPr lang="en-US" kern="100" sz="12000" b="0" spc="-500" dirty="0">
              <a:solidFill>
                <a:srgbClr val="C8623A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6" name="Text 6"/>
          <p:cNvSpPr txBox="1"/>
          <p:nvPr/>
        </p:nvSpPr>
        <p:spPr>
          <a:xfrm>
            <a:off x="571500" y="3682810"/>
            <a:ext cx="3623120" cy="260540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388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500" b="0" dirty="0">
                <a:solidFill>
                  <a:srgbClr val="1B1D21"/>
                </a:solidFill>
                <a:latin typeface="Avenir Next Medium"/>
                <a:ea typeface="Avenir Next Medium"/>
                <a:cs typeface="Avenir Next Medium"/>
              </a:rPr>
              <a:t>pages from a four-line deployment note</a:t>
            </a:r>
            <a:endParaRPr lang="en-US" kern="100" sz="1500" b="0" dirty="0">
              <a:solidFill>
                <a:srgbClr val="1B1D21"/>
              </a:solidFill>
              <a:latin typeface="Avenir Next Medium"/>
              <a:ea typeface="Avenir Next Medium"/>
              <a:cs typeface="Avenir Next Medium"/>
            </a:endParaRPr>
          </a:p>
        </p:txBody>
      </p:sp>
      <p:sp>
        <p:nvSpPr>
          <p:cNvPr id="7" name="Text 7"/>
          <p:cNvSpPr txBox="1"/>
          <p:nvPr/>
        </p:nvSpPr>
        <p:spPr>
          <a:xfrm>
            <a:off x="571500" y="4000373"/>
            <a:ext cx="4584097" cy="384302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70000"/>
                  </a:srgbClr>
                </a:solidFill>
                <a:latin typeface="Avenir Next"/>
                <a:ea typeface="Avenir Next"/>
                <a:cs typeface="Avenir Next"/>
              </a:rPr>
              <a:t>One source page, six entities (the API, the team member, three Azure services, Docker) and one concept — all cross-linked, all indexed.</a:t>
            </a:r>
            <a:endParaRPr lang="en-US" kern="100" sz="1000" b="0" dirty="0">
              <a:solidFill>
                <a:srgbClr val="1B1D21">
                  <a:alpha val="70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8" name="Shape 8"/>
          <p:cNvSpPr/>
          <p:nvPr/>
        </p:nvSpPr>
        <p:spPr>
          <a:xfrm>
            <a:off x="6096000" y="2356148"/>
            <a:ext cx="1090414" cy="6350"/>
          </a:xfrm>
          <a:prstGeom prst="rect">
            <a:avLst/>
          </a:prstGeom>
          <a:solidFill>
            <a:srgbClr val="1B1D21">
              <a:alpha val="18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Shape 9"/>
          <p:cNvSpPr/>
          <p:nvPr/>
        </p:nvSpPr>
        <p:spPr>
          <a:xfrm>
            <a:off x="7186414" y="2356148"/>
            <a:ext cx="4434086" cy="6350"/>
          </a:xfrm>
          <a:prstGeom prst="rect">
            <a:avLst/>
          </a:prstGeom>
          <a:solidFill>
            <a:srgbClr val="1B1D21">
              <a:alpha val="18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10" name="Line 10"/>
          <p:cNvCxnSpPr/>
          <p:nvPr/>
        </p:nvCxnSpPr>
        <p:spPr>
          <a:xfrm>
            <a:off x="6096000" y="2702223"/>
            <a:ext cx="1090414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1" name="Line 11"/>
          <p:cNvCxnSpPr/>
          <p:nvPr/>
        </p:nvCxnSpPr>
        <p:spPr>
          <a:xfrm>
            <a:off x="7186414" y="2702223"/>
            <a:ext cx="4434086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2" name="Line 12"/>
          <p:cNvCxnSpPr/>
          <p:nvPr/>
        </p:nvCxnSpPr>
        <p:spPr>
          <a:xfrm>
            <a:off x="6096000" y="3045123"/>
            <a:ext cx="1090414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3" name="Line 13"/>
          <p:cNvCxnSpPr/>
          <p:nvPr/>
        </p:nvCxnSpPr>
        <p:spPr>
          <a:xfrm>
            <a:off x="7186414" y="3045123"/>
            <a:ext cx="4434086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4" name="Line 14"/>
          <p:cNvCxnSpPr/>
          <p:nvPr/>
        </p:nvCxnSpPr>
        <p:spPr>
          <a:xfrm>
            <a:off x="6096000" y="3559473"/>
            <a:ext cx="1090414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5" name="Line 15"/>
          <p:cNvCxnSpPr/>
          <p:nvPr/>
        </p:nvCxnSpPr>
        <p:spPr>
          <a:xfrm>
            <a:off x="7186414" y="3559473"/>
            <a:ext cx="4434086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6" name="Line 16"/>
          <p:cNvCxnSpPr/>
          <p:nvPr/>
        </p:nvCxnSpPr>
        <p:spPr>
          <a:xfrm>
            <a:off x="6096000" y="3902373"/>
            <a:ext cx="1090414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7" name="Line 17"/>
          <p:cNvCxnSpPr/>
          <p:nvPr/>
        </p:nvCxnSpPr>
        <p:spPr>
          <a:xfrm>
            <a:off x="7186414" y="3902373"/>
            <a:ext cx="4434086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8" name="Line 18"/>
          <p:cNvCxnSpPr/>
          <p:nvPr/>
        </p:nvCxnSpPr>
        <p:spPr>
          <a:xfrm>
            <a:off x="6096000" y="4416723"/>
            <a:ext cx="1090414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9" name="Line 19"/>
          <p:cNvCxnSpPr/>
          <p:nvPr/>
        </p:nvCxnSpPr>
        <p:spPr>
          <a:xfrm>
            <a:off x="7186414" y="4416723"/>
            <a:ext cx="4434086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sp>
        <p:nvSpPr>
          <p:cNvPr id="20" name="Text 20"/>
          <p:cNvSpPr txBox="1"/>
          <p:nvPr/>
        </p:nvSpPr>
        <p:spPr>
          <a:xfrm>
            <a:off x="6096000" y="2157143"/>
            <a:ext cx="247154" cy="11155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7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Step</a:t>
            </a:r>
            <a:endParaRPr lang="en-US" kern="100" sz="650" b="1" cap="all" spc="7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21" name="Text 21"/>
          <p:cNvSpPr txBox="1"/>
          <p:nvPr/>
        </p:nvSpPr>
        <p:spPr>
          <a:xfrm>
            <a:off x="7186414" y="2157143"/>
            <a:ext cx="365697" cy="11155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7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Result</a:t>
            </a:r>
            <a:endParaRPr lang="en-US" kern="100" sz="650" b="1" cap="all" spc="7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22" name="Text 22"/>
          <p:cNvSpPr txBox="1"/>
          <p:nvPr/>
        </p:nvSpPr>
        <p:spPr>
          <a:xfrm>
            <a:off x="6096000" y="2449683"/>
            <a:ext cx="375190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ingest</a:t>
            </a:r>
            <a:endParaRPr lang="en-US" kern="100" sz="10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23" name="Text 23"/>
          <p:cNvSpPr txBox="1"/>
          <p:nvPr/>
        </p:nvSpPr>
        <p:spPr>
          <a:xfrm>
            <a:off x="7186414" y="2449683"/>
            <a:ext cx="3637566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8 pages written · index and log updated · 17 chunks indexed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24" name="Text 24"/>
          <p:cNvSpPr txBox="1"/>
          <p:nvPr/>
        </p:nvSpPr>
        <p:spPr>
          <a:xfrm>
            <a:off x="6096000" y="2792583"/>
            <a:ext cx="895771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index --embed</a:t>
            </a:r>
            <a:endParaRPr lang="en-US" kern="100" sz="10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25" name="Text 25"/>
          <p:cNvSpPr txBox="1"/>
          <p:nvPr/>
        </p:nvSpPr>
        <p:spPr>
          <a:xfrm>
            <a:off x="7186414" y="2792583"/>
            <a:ext cx="2949408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17 embeddings computed once, cached by hash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26" name="Text 26"/>
          <p:cNvSpPr txBox="1"/>
          <p:nvPr/>
        </p:nvSpPr>
        <p:spPr>
          <a:xfrm>
            <a:off x="6096000" y="3135483"/>
            <a:ext cx="852130" cy="341439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search --mode hybrid</a:t>
            </a:r>
            <a:endParaRPr lang="en-US" kern="100" sz="10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27" name="Text 27"/>
          <p:cNvSpPr txBox="1"/>
          <p:nvPr/>
        </p:nvSpPr>
        <p:spPr>
          <a:xfrm>
            <a:off x="7186414" y="3135483"/>
            <a:ext cx="4157627" cy="341439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"where does production config live" → the configuration-management page, first hit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28" name="Text 28"/>
          <p:cNvSpPr txBox="1"/>
          <p:nvPr/>
        </p:nvSpPr>
        <p:spPr>
          <a:xfrm>
            <a:off x="6096000" y="3649833"/>
            <a:ext cx="659162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query --file</a:t>
            </a:r>
            <a:endParaRPr lang="en-US" kern="100" sz="10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29" name="Text 29"/>
          <p:cNvSpPr txBox="1"/>
          <p:nvPr/>
        </p:nvSpPr>
        <p:spPr>
          <a:xfrm>
            <a:off x="7186414" y="3649833"/>
            <a:ext cx="280556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Answer cited 5 pages · filed under </a:t>
            </a: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syntheses/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0" name="Text 30"/>
          <p:cNvSpPr txBox="1"/>
          <p:nvPr/>
        </p:nvSpPr>
        <p:spPr>
          <a:xfrm>
            <a:off x="6096000" y="3992733"/>
            <a:ext cx="993180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lint --llm --report</a:t>
            </a:r>
            <a:endParaRPr lang="en-US" kern="100" sz="10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31" name="Text 31"/>
          <p:cNvSpPr txBox="1"/>
          <p:nvPr/>
        </p:nvSpPr>
        <p:spPr>
          <a:xfrm>
            <a:off x="7186414" y="3992733"/>
            <a:ext cx="4301841" cy="341439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Suggested a missing page (Azure App Configuration), one missing cross-reference, three next questions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32" name="Text 32"/>
          <p:cNvSpPr txBox="1"/>
          <p:nvPr/>
        </p:nvSpPr>
        <p:spPr>
          <a:xfrm>
            <a:off x="571500" y="6032768"/>
            <a:ext cx="4745490" cy="124866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666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700" b="0" dirty="0">
                <a:solidFill>
                  <a:srgbClr val="1B1D21">
                    <a:alpha val="50000"/>
                  </a:srgbClr>
                </a:solidFill>
                <a:latin typeface="Avenir Next"/>
                <a:ea typeface="Avenir Next"/>
                <a:cs typeface="Avenir Next"/>
              </a:rPr>
              <a:t>Run on 2026-09-12 with gemini-3.6-flash as chat and parser model and text-embedding-3-small for embeddings.</a:t>
            </a:r>
            <a:endParaRPr lang="en-US" kern="100" sz="700" b="0" dirty="0">
              <a:solidFill>
                <a:srgbClr val="1B1D21">
                  <a:alpha val="50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pic>
        <p:nvPicPr>
          <p:cNvPr id="33" name="Picture 33" descr="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34" name="Text 34"/>
          <p:cNvSpPr txBox="1"/>
          <p:nvPr/>
        </p:nvSpPr>
        <p:spPr>
          <a:xfrm>
            <a:off x="11704538" y="6459106"/>
            <a:ext cx="157262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55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22</a:t>
            </a:r>
            <a:endParaRPr lang="en-US" kern="100" sz="900" b="0" spc="20" dirty="0">
              <a:solidFill>
                <a:srgbClr val="1B1D21">
                  <a:alpha val="55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35" name="Text 35"/>
          <p:cNvSpPr txBox="1"/>
          <p:nvPr/>
        </p:nvSpPr>
        <p:spPr>
          <a:xfrm>
            <a:off x="1358900" y="6459106"/>
            <a:ext cx="113753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38500"/>
                  </a:srgbClr>
                </a:solidFill>
                <a:latin typeface="Avenir Next"/>
                <a:ea typeface="Avenir Next"/>
                <a:cs typeface="Avenir Next"/>
              </a:rPr>
              <a:t>llm-wiki · user guide</a:t>
            </a:r>
            <a:endParaRPr lang="en-US" kern="100" sz="900" b="0" spc="20" dirty="0">
              <a:solidFill>
                <a:srgbClr val="1B1D21">
                  <a:alpha val="385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71500" y="448247"/>
            <a:ext cx="881428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25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04 · Agents</a:t>
            </a:r>
            <a:endParaRPr lang="en-US" kern="100" sz="800" b="1" cap="all" spc="125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71500" y="725449"/>
            <a:ext cx="4603504" cy="34389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When it stops, it tells you why.</a:t>
            </a:r>
            <a:endParaRPr lang="en-US" kern="100" sz="2800" b="0" spc="-50" dirty="0">
              <a:solidFill>
                <a:srgbClr val="1B1D21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4" name="Shape 4"/>
          <p:cNvSpPr/>
          <p:nvPr/>
        </p:nvSpPr>
        <p:spPr>
          <a:xfrm>
            <a:off x="571500" y="1841500"/>
            <a:ext cx="3810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hape 5"/>
          <p:cNvSpPr/>
          <p:nvPr/>
        </p:nvSpPr>
        <p:spPr>
          <a:xfrm>
            <a:off x="571500" y="2292648"/>
            <a:ext cx="4572000" cy="6350"/>
          </a:xfrm>
          <a:prstGeom prst="rect">
            <a:avLst/>
          </a:prstGeom>
          <a:solidFill>
            <a:srgbClr val="1B1D21">
              <a:alpha val="18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Shape 6"/>
          <p:cNvSpPr/>
          <p:nvPr/>
        </p:nvSpPr>
        <p:spPr>
          <a:xfrm>
            <a:off x="5143500" y="2292648"/>
            <a:ext cx="6477000" cy="6350"/>
          </a:xfrm>
          <a:prstGeom prst="rect">
            <a:avLst/>
          </a:prstGeom>
          <a:solidFill>
            <a:srgbClr val="1B1D21">
              <a:alpha val="18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7" name="Line 7"/>
          <p:cNvCxnSpPr/>
          <p:nvPr/>
        </p:nvCxnSpPr>
        <p:spPr>
          <a:xfrm>
            <a:off x="571500" y="2810173"/>
            <a:ext cx="4572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8" name="Line 8"/>
          <p:cNvCxnSpPr/>
          <p:nvPr/>
        </p:nvCxnSpPr>
        <p:spPr>
          <a:xfrm>
            <a:off x="5143500" y="2810173"/>
            <a:ext cx="647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9" name="Line 9"/>
          <p:cNvCxnSpPr/>
          <p:nvPr/>
        </p:nvCxnSpPr>
        <p:spPr>
          <a:xfrm>
            <a:off x="571500" y="3153073"/>
            <a:ext cx="4572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0" name="Line 10"/>
          <p:cNvCxnSpPr/>
          <p:nvPr/>
        </p:nvCxnSpPr>
        <p:spPr>
          <a:xfrm>
            <a:off x="5143500" y="3153073"/>
            <a:ext cx="647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1" name="Line 11"/>
          <p:cNvCxnSpPr/>
          <p:nvPr/>
        </p:nvCxnSpPr>
        <p:spPr>
          <a:xfrm>
            <a:off x="571500" y="3495973"/>
            <a:ext cx="4572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2" name="Line 12"/>
          <p:cNvCxnSpPr/>
          <p:nvPr/>
        </p:nvCxnSpPr>
        <p:spPr>
          <a:xfrm>
            <a:off x="5143500" y="3495973"/>
            <a:ext cx="647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3" name="Line 13"/>
          <p:cNvCxnSpPr/>
          <p:nvPr/>
        </p:nvCxnSpPr>
        <p:spPr>
          <a:xfrm>
            <a:off x="571500" y="3975993"/>
            <a:ext cx="4572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4" name="Line 14"/>
          <p:cNvCxnSpPr/>
          <p:nvPr/>
        </p:nvCxnSpPr>
        <p:spPr>
          <a:xfrm>
            <a:off x="5143500" y="3975993"/>
            <a:ext cx="647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5" name="Line 15"/>
          <p:cNvCxnSpPr/>
          <p:nvPr/>
        </p:nvCxnSpPr>
        <p:spPr>
          <a:xfrm>
            <a:off x="571500" y="4318893"/>
            <a:ext cx="4572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6" name="Line 16"/>
          <p:cNvCxnSpPr/>
          <p:nvPr/>
        </p:nvCxnSpPr>
        <p:spPr>
          <a:xfrm>
            <a:off x="5143500" y="4318893"/>
            <a:ext cx="647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7" name="Line 17"/>
          <p:cNvCxnSpPr/>
          <p:nvPr/>
        </p:nvCxnSpPr>
        <p:spPr>
          <a:xfrm>
            <a:off x="571500" y="4661793"/>
            <a:ext cx="4572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8" name="Line 18"/>
          <p:cNvCxnSpPr/>
          <p:nvPr/>
        </p:nvCxnSpPr>
        <p:spPr>
          <a:xfrm>
            <a:off x="5143500" y="4661793"/>
            <a:ext cx="647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9" name="Line 19"/>
          <p:cNvCxnSpPr/>
          <p:nvPr/>
        </p:nvCxnSpPr>
        <p:spPr>
          <a:xfrm>
            <a:off x="571500" y="5004693"/>
            <a:ext cx="4572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20" name="Line 20"/>
          <p:cNvCxnSpPr/>
          <p:nvPr/>
        </p:nvCxnSpPr>
        <p:spPr>
          <a:xfrm>
            <a:off x="5143500" y="5004693"/>
            <a:ext cx="647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sp>
        <p:nvSpPr>
          <p:cNvPr id="21" name="Text 21"/>
          <p:cNvSpPr txBox="1"/>
          <p:nvPr/>
        </p:nvSpPr>
        <p:spPr>
          <a:xfrm>
            <a:off x="571500" y="2093643"/>
            <a:ext cx="426577" cy="11155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7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Message</a:t>
            </a:r>
            <a:endParaRPr lang="en-US" kern="100" sz="650" b="1" cap="all" spc="7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22" name="Text 22"/>
          <p:cNvSpPr txBox="1"/>
          <p:nvPr/>
        </p:nvSpPr>
        <p:spPr>
          <a:xfrm>
            <a:off x="5143500" y="2093643"/>
            <a:ext cx="609425" cy="11155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7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What to do</a:t>
            </a:r>
            <a:endParaRPr lang="en-US" kern="100" sz="650" b="1" cap="all" spc="7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23" name="Text 23"/>
          <p:cNvSpPr txBox="1"/>
          <p:nvPr/>
        </p:nvSpPr>
        <p:spPr>
          <a:xfrm>
            <a:off x="571500" y="2382151"/>
            <a:ext cx="3721560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Missing required configuration setting LLM_WIKI_ROOT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24" name="Text 24"/>
          <p:cNvSpPr txBox="1"/>
          <p:nvPr/>
        </p:nvSpPr>
        <p:spPr>
          <a:xfrm>
            <a:off x="5143500" y="2385878"/>
            <a:ext cx="6244739" cy="34174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Export it, add it to </a:t>
            </a: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~/.tool-agents/llm-wiki/.env</a:t>
            </a: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, or pass </a:t>
            </a: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--root</a:t>
            </a: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. Same for any </a:t>
            </a: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LLM_WIKI_*</a:t>
            </a: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or provider key.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25" name="Text 25"/>
          <p:cNvSpPr txBox="1"/>
          <p:nvPr/>
        </p:nvSpPr>
        <p:spPr>
          <a:xfrm>
            <a:off x="571500" y="2896501"/>
            <a:ext cx="3077464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… is not an initialised wiki (missing raw/)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26" name="Text 26"/>
          <p:cNvSpPr txBox="1"/>
          <p:nvPr/>
        </p:nvSpPr>
        <p:spPr>
          <a:xfrm>
            <a:off x="5143500" y="2900228"/>
            <a:ext cx="1911136" cy="17029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Run </a:t>
            </a: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llm-wiki init &lt;dir&gt;</a:t>
            </a: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first.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27" name="Text 27"/>
          <p:cNvSpPr txBox="1"/>
          <p:nvPr/>
        </p:nvSpPr>
        <p:spPr>
          <a:xfrm>
            <a:off x="571500" y="3239401"/>
            <a:ext cx="3506827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… is a PDF/DOCX original and needs the parser LLM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28" name="Text 28"/>
          <p:cNvSpPr txBox="1"/>
          <p:nvPr/>
        </p:nvSpPr>
        <p:spPr>
          <a:xfrm>
            <a:off x="5143500" y="3243128"/>
            <a:ext cx="2703925" cy="17029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Set </a:t>
            </a: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LLM_WIKI_PARSER_PROVIDER</a:t>
            </a: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and </a:t>
            </a: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_MODEL</a:t>
            </a: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.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29" name="Text 29"/>
          <p:cNvSpPr txBox="1"/>
          <p:nvPr/>
        </p:nvSpPr>
        <p:spPr>
          <a:xfrm>
            <a:off x="571500" y="3582301"/>
            <a:ext cx="4457700" cy="30703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Search mode "hybrid" needs an embedding provider / No embeddings are stored yet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0" name="Text 30"/>
          <p:cNvSpPr txBox="1"/>
          <p:nvPr/>
        </p:nvSpPr>
        <p:spPr>
          <a:xfrm>
            <a:off x="5143500" y="3586333"/>
            <a:ext cx="3643551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Set the embedding settings, then </a:t>
            </a: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llm-wiki index --embed</a:t>
            </a: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.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31" name="Text 31"/>
          <p:cNvSpPr txBox="1"/>
          <p:nvPr/>
        </p:nvSpPr>
        <p:spPr>
          <a:xfrm>
            <a:off x="571500" y="4062321"/>
            <a:ext cx="3363706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… hit the N-token output limit before finishing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2" name="Text 32"/>
          <p:cNvSpPr txBox="1"/>
          <p:nvPr/>
        </p:nvSpPr>
        <p:spPr>
          <a:xfrm>
            <a:off x="5143500" y="4066353"/>
            <a:ext cx="3860864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Raise </a:t>
            </a: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--max-tokens</a:t>
            </a: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(ingest, query, lint) or </a:t>
            </a: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--parse-max-tokens</a:t>
            </a: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.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33" name="Text 33"/>
          <p:cNvSpPr txBox="1"/>
          <p:nvPr/>
        </p:nvSpPr>
        <p:spPr>
          <a:xfrm>
            <a:off x="571500" y="4405221"/>
            <a:ext cx="3793069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… is above the --max-source-chars / --max-bytes limit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4" name="Text 34"/>
          <p:cNvSpPr txBox="1"/>
          <p:nvPr/>
        </p:nvSpPr>
        <p:spPr>
          <a:xfrm>
            <a:off x="5143500" y="4409253"/>
            <a:ext cx="3974989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Split the source or raise the limit — the tool never truncates silently.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35" name="Text 35"/>
          <p:cNvSpPr txBox="1"/>
          <p:nvPr/>
        </p:nvSpPr>
        <p:spPr>
          <a:xfrm>
            <a:off x="571500" y="4748121"/>
            <a:ext cx="2504877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This model … is no longer available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6" name="Text 36"/>
          <p:cNvSpPr txBox="1"/>
          <p:nvPr/>
        </p:nvSpPr>
        <p:spPr>
          <a:xfrm>
            <a:off x="5143500" y="4752153"/>
            <a:ext cx="4101290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A provider retired the model name; pick a current one with </a:t>
            </a: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--model</a:t>
            </a: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.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37" name="Text 37"/>
          <p:cNvSpPr txBox="1"/>
          <p:nvPr/>
        </p:nvSpPr>
        <p:spPr>
          <a:xfrm>
            <a:off x="571500" y="6032768"/>
            <a:ext cx="4630333" cy="12169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666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700" b="0" dirty="0">
                <a:solidFill>
                  <a:srgbClr val="1B1D21">
                    <a:alpha val="50000"/>
                  </a:srgbClr>
                </a:solidFill>
                <a:latin typeface="Avenir Next"/>
                <a:ea typeface="Avenir Next"/>
                <a:cs typeface="Avenir Next"/>
              </a:rPr>
              <a:t>Add </a:t>
            </a:r>
            <a:r>
              <a:rPr lang="en-US" kern="100" sz="700" b="0" dirty="0">
                <a:solidFill>
                  <a:srgbClr val="1B1D21">
                    <a:alpha val="50000"/>
                  </a:srgbClr>
                </a:solidFill>
                <a:latin typeface="Courier New"/>
                <a:ea typeface="Courier New"/>
                <a:cs typeface="Courier New"/>
              </a:rPr>
              <a:t>--verbose</a:t>
            </a:r>
            <a:r>
              <a:rPr lang="en-US" kern="100" sz="700" b="0" dirty="0">
                <a:solidFill>
                  <a:srgbClr val="1B1D21">
                    <a:alpha val="50000"/>
                  </a:srgbClr>
                </a:solidFill>
                <a:latin typeface="Avenir Next"/>
                <a:ea typeface="Avenir Next"/>
                <a:cs typeface="Avenir Next"/>
              </a:rPr>
              <a:t> to any command for a stack trace. Exit codes: 2 configuration, 3 LLM request, 1 anything else.</a:t>
            </a:r>
            <a:endParaRPr lang="en-US" kern="100" sz="700" b="0" dirty="0">
              <a:solidFill>
                <a:srgbClr val="1B1D21">
                  <a:alpha val="50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pic>
        <p:nvPicPr>
          <p:cNvPr id="38" name="Picture 38" descr="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39" name="Text 39"/>
          <p:cNvSpPr txBox="1"/>
          <p:nvPr/>
        </p:nvSpPr>
        <p:spPr>
          <a:xfrm>
            <a:off x="11704538" y="6459106"/>
            <a:ext cx="157262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55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23</a:t>
            </a:r>
            <a:endParaRPr lang="en-US" kern="100" sz="900" b="0" spc="20" dirty="0">
              <a:solidFill>
                <a:srgbClr val="1B1D21">
                  <a:alpha val="55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40" name="Text 40"/>
          <p:cNvSpPr txBox="1"/>
          <p:nvPr/>
        </p:nvSpPr>
        <p:spPr>
          <a:xfrm>
            <a:off x="1358900" y="6459106"/>
            <a:ext cx="113753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38500"/>
                  </a:srgbClr>
                </a:solidFill>
                <a:latin typeface="Avenir Next"/>
                <a:ea typeface="Avenir Next"/>
                <a:cs typeface="Avenir Next"/>
              </a:rPr>
              <a:t>llm-wiki · user guide</a:t>
            </a:r>
            <a:endParaRPr lang="en-US" kern="100" sz="900" b="0" spc="20" dirty="0">
              <a:solidFill>
                <a:srgbClr val="1B1D21">
                  <a:alpha val="385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779000" y="0"/>
            <a:ext cx="2413000" cy="241300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" name="Text 3"/>
          <p:cNvSpPr txBox="1"/>
          <p:nvPr/>
        </p:nvSpPr>
        <p:spPr>
          <a:xfrm>
            <a:off x="571500" y="638747"/>
            <a:ext cx="917750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5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Cheat sheet</a:t>
            </a:r>
            <a:endParaRPr lang="en-US" kern="100" sz="800" b="1" cap="all" spc="15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4" name="Text 4"/>
          <p:cNvSpPr txBox="1"/>
          <p:nvPr/>
        </p:nvSpPr>
        <p:spPr>
          <a:xfrm>
            <a:off x="571500" y="995223"/>
            <a:ext cx="4207677" cy="871677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3600" b="0" spc="-75" dirty="0">
                <a:solidFill>
                  <a:srgbClr val="F6F3EC"/>
                </a:solidFill>
                <a:latin typeface="Avenir Next Ultra Light"/>
                <a:ea typeface="Avenir Next Ultra Light"/>
                <a:cs typeface="Avenir Next Ultra Light"/>
              </a:rPr>
              <a:t>Your documentation,</a:t>
            </a:r>
            <a:br>
              <a:rPr lang="en-US" kern="100" sz="3600" b="0" spc="-75" dirty="0">
                <a:solidFill>
                  <a:srgbClr val="F6F3EC"/>
                </a:solidFill>
                <a:latin typeface="Avenir Next Ultra Light"/>
                <a:ea typeface="Avenir Next Ultra Light"/>
                <a:cs typeface="Avenir Next Ultra Light"/>
              </a:rPr>
            </a:br>
            <a:r>
              <a:rPr lang="en-US" kern="100" sz="3600" b="0" i="1" spc="-75" dirty="0">
                <a:solidFill>
                  <a:srgbClr val="E08A5E"/>
                </a:solidFill>
                <a:latin typeface="Avenir Next"/>
                <a:ea typeface="Avenir Next"/>
                <a:cs typeface="Avenir Next"/>
              </a:rPr>
              <a:t>compiled.</a:t>
            </a:r>
            <a:endParaRPr lang="en-US" kern="100" sz="3600" b="0" i="1" spc="-75" dirty="0">
              <a:solidFill>
                <a:srgbClr val="E08A5E"/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5" name="Shape 5"/>
          <p:cNvSpPr/>
          <p:nvPr/>
        </p:nvSpPr>
        <p:spPr>
          <a:xfrm>
            <a:off x="571500" y="2540000"/>
            <a:ext cx="9525000" cy="2043013"/>
          </a:xfrm>
          <a:prstGeom prst="roundRect">
            <a:avLst>
              <a:gd name="adj" fmla="val 4973"/>
            </a:avLst>
          </a:prstGeom>
          <a:solidFill>
            <a:srgbClr val="1B1D21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800100" y="2716086"/>
            <a:ext cx="7872484" cy="1675217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4166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llm-wiki init ~/notes-wiki  &amp;&amp;  export LLM_WIKI_ROOT=~/notes-wiki</a:t>
            </a:r>
            <a:br>
              <a:rPr lang="en-US" kern="100" sz="11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1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llm-wiki ingest raw/&lt;file&gt;            </a:t>
            </a:r>
            <a:r>
              <a:rPr lang="en-US" kern="100" sz="110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markdown, text, or PDF / DOCX via the parser model</a:t>
            </a:r>
            <a:br>
              <a:rPr lang="en-US" kern="100" sz="11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1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llm-wiki search "&lt;terms&gt;"              </a:t>
            </a:r>
            <a:r>
              <a:rPr lang="en-US" kern="100" sz="110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bm25 · --mode hybrid after `index --embed`</a:t>
            </a:r>
            <a:br>
              <a:rPr lang="en-US" kern="100" sz="11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1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llm-wiki query "&lt;question&gt;" --file     </a:t>
            </a:r>
            <a:r>
              <a:rPr lang="en-US" kern="100" sz="110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cited answer, filed as a synthesis page</a:t>
            </a:r>
            <a:br>
              <a:rPr lang="en-US" kern="100" sz="11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1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llm-wiki lint --llm --report           </a:t>
            </a:r>
            <a:r>
              <a:rPr lang="en-US" kern="100" sz="110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contradictions, gaps, next questions</a:t>
            </a:r>
            <a:br>
              <a:rPr lang="en-US" kern="100" sz="11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1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llm-wiki log --last 5                  </a:t>
            </a:r>
            <a:r>
              <a:rPr lang="en-US" kern="100" sz="110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what happened lately</a:t>
            </a:r>
            <a:br>
              <a:rPr lang="en-US" kern="100" sz="11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1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llm-wiki mcp                           </a:t>
            </a:r>
            <a:r>
              <a:rPr lang="en-US" kern="100" sz="110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give your agent the tools</a:t>
            </a:r>
            <a:endParaRPr lang="en-US" kern="100" sz="1100" b="0" dirty="0">
              <a:solidFill>
                <a:srgbClr val="F6F3EC">
                  <a:alpha val="50000"/>
                </a:srgbClr>
              </a:solidFill>
              <a:latin typeface="Menlo"/>
              <a:ea typeface="Menlo"/>
              <a:cs typeface="Menlo"/>
            </a:endParaRPr>
          </a:p>
        </p:txBody>
      </p:sp>
      <p:pic>
        <p:nvPicPr>
          <p:cNvPr id="7" name="Picture 7" descr="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71500" y="5994400"/>
            <a:ext cx="1801707" cy="355600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10096214" y="6041288"/>
            <a:ext cx="1524286" cy="156312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0" spc="20" dirty="0">
                <a:solidFill>
                  <a:srgbClr val="F6F3EC">
                    <a:alpha val="70000"/>
                  </a:srgbClr>
                </a:solidFill>
                <a:latin typeface="Avenir Next"/>
                <a:ea typeface="Avenir Next"/>
                <a:cs typeface="Avenir Next"/>
              </a:rPr>
              <a:t>github.com/BikS2013/llm-wiki</a:t>
            </a:r>
            <a:endParaRPr lang="en-US" kern="100" sz="800" b="0" spc="20" dirty="0">
              <a:solidFill>
                <a:srgbClr val="F6F3EC">
                  <a:alpha val="70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9" name="Text 9"/>
          <p:cNvSpPr txBox="1"/>
          <p:nvPr/>
        </p:nvSpPr>
        <p:spPr>
          <a:xfrm>
            <a:off x="9931837" y="6193688"/>
            <a:ext cx="1688663" cy="156312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0" spc="20" dirty="0">
                <a:solidFill>
                  <a:srgbClr val="F6F3EC">
                    <a:alpha val="70000"/>
                  </a:srgbClr>
                </a:solidFill>
                <a:latin typeface="Avenir Next"/>
                <a:ea typeface="Avenir Next"/>
                <a:cs typeface="Avenir Next"/>
              </a:rPr>
              <a:t>Pattern: Karpathy, LLM Wiki, 2026</a:t>
            </a:r>
            <a:endParaRPr lang="en-US" kern="100" sz="800" b="0" spc="20" dirty="0">
              <a:solidFill>
                <a:srgbClr val="F6F3EC">
                  <a:alpha val="70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BG Design">
  <a:themeElements>
    <a:clrScheme name="NBG Design">
      <a:dk1>
        <a:srgbClr val="111316"/>
      </a:dk1>
      <a:lt1>
        <a:srgbClr val="FFFFFF"/>
      </a:lt1>
      <a:dk2>
        <a:srgbClr val="1B1D21"/>
      </a:dk2>
      <a:lt2>
        <a:srgbClr val="F6F3EC"/>
      </a:lt2>
      <a:accent1>
        <a:srgbClr val="C8623A"/>
      </a:accent1>
      <a:accent2>
        <a:srgbClr val="1B1D21"/>
      </a:accent2>
      <a:accent3>
        <a:srgbClr val="E08A5E"/>
      </a:accent3>
      <a:accent4>
        <a:srgbClr val="E3A64A"/>
      </a:accent4>
      <a:accent5>
        <a:srgbClr val="6E7379"/>
      </a:accent5>
      <a:accent6>
        <a:srgbClr val="111316"/>
      </a:accent6>
      <a:hlink>
        <a:srgbClr val="C8623A"/>
      </a:hlink>
      <a:folHlink>
        <a:srgbClr val="1B1D21"/>
      </a:folHlink>
    </a:clrScheme>
    <a:fontScheme name="NBG Design">
      <a:majorFont>
        <a:latin typeface="Avenir Next"/>
        <a:ea typeface=""/>
        <a:cs typeface=""/>
      </a:majorFont>
      <a:minorFont>
        <a:latin typeface="Avenir Next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BG Design">
  <a:themeElements>
    <a:clrScheme name="NBG Design">
      <a:dk1>
        <a:srgbClr val="111316"/>
      </a:dk1>
      <a:lt1>
        <a:srgbClr val="FFFFFF"/>
      </a:lt1>
      <a:dk2>
        <a:srgbClr val="1B1D21"/>
      </a:dk2>
      <a:lt2>
        <a:srgbClr val="F6F3EC"/>
      </a:lt2>
      <a:accent1>
        <a:srgbClr val="C8623A"/>
      </a:accent1>
      <a:accent2>
        <a:srgbClr val="1B1D21"/>
      </a:accent2>
      <a:accent3>
        <a:srgbClr val="E08A5E"/>
      </a:accent3>
      <a:accent4>
        <a:srgbClr val="E3A64A"/>
      </a:accent4>
      <a:accent5>
        <a:srgbClr val="6E7379"/>
      </a:accent5>
      <a:accent6>
        <a:srgbClr val="111316"/>
      </a:accent6>
      <a:hlink>
        <a:srgbClr val="C8623A"/>
      </a:hlink>
      <a:folHlink>
        <a:srgbClr val="1B1D21"/>
      </a:folHlink>
    </a:clrScheme>
    <a:fontScheme name="NBG Design">
      <a:majorFont>
        <a:latin typeface="Avenir Next"/>
        <a:ea typeface=""/>
        <a:cs typeface=""/>
      </a:majorFont>
      <a:minorFont>
        <a:latin typeface="Avenir Next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NBG Design export-pptx</Application>
  <Slides>24</Slides>
  <PresentationFormat>Custom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llm-wiki — User guide</dc:title>
  <dc:creator>NBG Design</dc:creator>
  <dcterms:created xsi:type="dcterms:W3CDTF">2026-10-13T18:46:29Z</dcterms:created>
  <dcterms:modified xsi:type="dcterms:W3CDTF">2026-10-13T18:46:29Z</dcterms:modified>
</cp:coreProperties>
</file>