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shows how to use llm-wiki day to day: set it up once, then feed it sources, search it, ask it questions and keep it healthy.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retrieves fragments every time; nothing accumulates. llm-wiki compiles knowledge into pages the model maintains, so every source and every question makes the wiki richer.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Raw is immutable. Wiki is owned by the model. The schema file tells any agent how the wiki is structured and how to maintain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one: install, configure, initialise. Ten minutes, done once.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 22 and pnpm. Build once; link:global puts llm-wiki on your PATH as an OS command. llm-wiki guide prints the complete manual, also for agents.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tiers, lowest to highest priority. Put long-lived settings in the tool-agents env file; override per run with flags. A missing setting raises an error — there are no hidden defaults.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providers out of the box, each read through the vendor's canonical variable names — never a tool-specific prefix. Any of them can be the chat, embedding or parser model independently.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 creates the layout and the schema in the format you choose, and registers the wiki by name. The first one becomes the current wiki.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two: the daily loop. Ingest, search, query, lint. Index and log run alongside.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 is the heart. Files outside raw are copied in. The model gets the index and related pages as context, writes a summary page and touches the entity and concept pages. Then the index, the search index, the ledger and the log are updated. Unchanged sources are skipped.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is local and instant. BM25 needs no model. Compute embeddings once with index --embed and hybrid search fuses both rankings.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 reads the index, searches, loads the top pages within a character budget, and answers with wikilink citations. With --file the answer becomes a synthesis page, indexed and logged, so your questions compound too.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Lint keeps the wiki healthy. The structural pass is free and deterministic. The LLM pass reads all pages within a budget and reports contradictions, stale claims, missing pages and good next questions. --report files it as a page.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index.md is content-oriented and generated; log.md is chronological and append-only. Both are what the gist calls the two special files.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three: PDF and DOCX. A dedicated parser model converts them; the original is kept and referenced.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 a PDF and it is converted first, then ingested like any markdown source. parse converts only, so you can review. Providers with native document input get the PDF itself; local servers get pdf.js text; DOCX always goes through mammoth to HTML first.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provenance looks like. The conversion carries the original path, type, hash and parser. The wiki source page carries original too, and links it in its body.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four: working with agents. The schema makes Claude Code the maintainer; the MCP server gives it the tools.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wiki root in Claude Code or Codex. The CLAUDE.md / AGENTS.md written by init is the contract: layout, page format, link rules, and the three workflows. Co-evolve it with the agent as your domain settles.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the MCP server once and the agent gets native tools for every registered wiki: each tool takes a wiki argument. Writing through wiki_write_page keeps index and search index current, in either format.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ever write a page by hand, this is the shape. Frontmatter drives the index; wikilinks drive the graph and the lint.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run on a four-line deployment note: eight pages, hybrid search ranked the right chunk first, the filed query cited five pages, and lint suggested the one concept that deserved its own page.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errors you will meet and what they mean. All of them are deliberate: the tool prefers to stop with a clear message than to guess.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five, new in 0.2 and 0.3: several named wikis, questions across them, markdown or HTML pages, converting a wiki, and the built-in guide and Claude skill.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wiki you init is registered by name. Each command works on exactly one wiki: the one you name with --wiki, else the current one, else you are asked. Nothing is guessed.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and query span wikis. Each wiki is ranked on its own index and the rankings are fused, so a large wiki cannot drown a small one. Query cites pages with the wiki name.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the page format per wiki at init. Markdown suits Obsidian, editors and agents. HTML gives standalone pages with relative links, a shared stylesheet and scripts disabled. Ingest, query, search, lint and MCP work the same in both.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turns a markdown wiki into an HTML wiki in place, without an LLM, keeping a backup. The built-in guide documents everything, and the Claude skill built from it lets Claude drive the tool.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workflow on one slide.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algn="l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239000" y="635000"/>
            <a:ext cx="4572000" cy="5588000"/>
          </a:xfrm>
          <a:prstGeom prst="roundRect">
            <a:avLst>
              <a:gd name="adj" fmla="val 2500"/>
            </a:avLst>
          </a:prstGeom>
          <a:solidFill>
            <a:srgbClr val="2E3238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2"/>
          <a:srcRect l="0" t="4381" r="0" b="4381"/>
          <a:stretch>
            <a:fillRect/>
          </a:stretch>
        </p:blipFill>
        <p:spPr>
          <a:xfrm>
            <a:off x="7239000" y="635000"/>
            <a:ext cx="4572000" cy="5588000"/>
          </a:xfrm>
          <a:prstGeom prst="roundRect">
            <a:avLst>
              <a:gd name="adj" fmla="val 2500"/>
            </a:avLst>
          </a:prstGeom>
        </p:spPr>
      </p:pic>
      <p:sp>
        <p:nvSpPr>
          <p:cNvPr id="4" name="Shape 4"/>
          <p:cNvSpPr/>
          <p:nvPr/>
        </p:nvSpPr>
        <p:spPr>
          <a:xfrm>
            <a:off x="5715000" y="0"/>
            <a:ext cx="1524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111316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956247"/>
            <a:ext cx="1752021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5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User guide · llm-wiki</a:t>
            </a:r>
            <a:endParaRPr lang="en-US" kern="100" sz="800" b="1" cap="all" spc="15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571500" y="1450416"/>
            <a:ext cx="3813191" cy="100318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7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4400" b="0" spc="-75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  <a:t>A wiki your LLM</a:t>
            </a:r>
            <a:br>
              <a:rPr lang="en-US" kern="100" sz="4400" b="0" spc="-75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</a:br>
            <a:r>
              <a:rPr lang="en-US" kern="100" sz="4400" b="0" i="1" spc="-75" dirty="0">
                <a:solidFill>
                  <a:srgbClr val="E08A5E"/>
                </a:solidFill>
                <a:latin typeface="Avenir Next"/>
                <a:ea typeface="Avenir Next"/>
                <a:cs typeface="Avenir Next"/>
              </a:rPr>
              <a:t>keeps for you.</a:t>
            </a:r>
            <a:endParaRPr lang="en-US" kern="100" sz="4400" b="0" i="1" spc="-75" dirty="0">
              <a:solidFill>
                <a:srgbClr val="E08A5E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71500" y="2867720"/>
            <a:ext cx="5195870" cy="4386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400" b="0" dirty="0">
                <a:solidFill>
                  <a:srgbClr val="F6F3EC">
                    <a:alpha val="86000"/>
                  </a:srgbClr>
                </a:solidFill>
                <a:latin typeface="Avenir Next"/>
                <a:ea typeface="Avenir Next"/>
                <a:cs typeface="Avenir Next"/>
              </a:rPr>
              <a:t>Index and search your personal documentation with Karpathy's LLM Wiki pattern: compiled once, kept current, cross-linked.</a:t>
            </a:r>
            <a:endParaRPr lang="en-US" kern="100" sz="1400" b="0" dirty="0">
              <a:solidFill>
                <a:srgbClr val="F6F3EC">
                  <a:alpha val="86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571500" y="3880304"/>
            <a:ext cx="1095851" cy="14043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0" spc="20" dirty="0">
                <a:solidFill>
                  <a:srgbClr val="F6F3EC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BikS2013 · field notes</a:t>
            </a:r>
            <a:endParaRPr lang="en-US" kern="100" sz="800" b="0" spc="20" dirty="0">
              <a:solidFill>
                <a:srgbClr val="F6F3EC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571500" y="4058104"/>
            <a:ext cx="1151676" cy="14043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0" spc="20" dirty="0">
                <a:solidFill>
                  <a:srgbClr val="F6F3EC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Athens · October 2026</a:t>
            </a:r>
            <a:endParaRPr lang="en-US" kern="100" sz="800" b="0" spc="20" dirty="0">
              <a:solidFill>
                <a:srgbClr val="F6F3EC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0" name="Picture 10" descr="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1500" y="5994400"/>
            <a:ext cx="1801707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04167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00 · The idea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4525701" cy="71725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Not retrieval at question time</a:t>
            </a:r>
            <a:b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</a:b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—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compilation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at ingest time.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111923" y="2369741"/>
            <a:ext cx="364232" cy="158750"/>
          </a:xfrm>
          <a:prstGeom prst="roundRect">
            <a:avLst>
              <a:gd name="adj" fmla="val 20000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71500" y="2130654"/>
            <a:ext cx="447008" cy="36807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3200" b="0" spc="-1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01</a:t>
            </a:r>
            <a:endParaRPr lang="en-US" kern="100" sz="3200" b="0" spc="-1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422400" y="2096922"/>
            <a:ext cx="1774103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You curate the sources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1422400" y="2350564"/>
            <a:ext cx="5058045" cy="3843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Drop articles, notes, PDFs and DOCX files into 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raw/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. They are never modified — this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is your source of truth.</a:t>
            </a:r>
            <a:endParaRPr lang="en-US" kern="100" sz="10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571500" y="2989094"/>
            <a:ext cx="447008" cy="36807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3200" b="0" spc="-1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02</a:t>
            </a:r>
            <a:endParaRPr lang="en-US" kern="100" sz="3200" b="0" spc="-1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422400" y="2955363"/>
            <a:ext cx="1858716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The LLM writes the wiki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1422400" y="3209004"/>
            <a:ext cx="5051750" cy="3843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Every ingest produces a summary page and updates the entity and concept pages it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touches, with wikilinks and citations.</a:t>
            </a:r>
            <a:endParaRPr lang="en-US" kern="100" sz="10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571500" y="3847535"/>
            <a:ext cx="447008" cy="36807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3200" b="0" spc="-1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03</a:t>
            </a:r>
            <a:endParaRPr lang="en-US" kern="100" sz="3200" b="0" spc="-1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1422400" y="3813804"/>
            <a:ext cx="1771833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You ask, it compounds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1422400" y="4067445"/>
            <a:ext cx="4622078" cy="3843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Search locally, ask with citations, file good answers back as pages, and lint for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contradictions and gaps.</a:t>
            </a:r>
            <a:endParaRPr lang="en-US" kern="100" sz="10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571500" y="6032768"/>
            <a:ext cx="4295180" cy="12486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Pattern: Andrej Karpathy, "LLM Wiki" (gist, April 2026). Implementation: github.com/BikS2013/llm-wiki.</a:t>
            </a:r>
            <a:endParaRPr lang="en-US" kern="100" sz="700" b="0" dirty="0">
              <a:solidFill>
                <a:srgbClr val="1B1D21">
                  <a:alpha val="5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985000" y="0"/>
            <a:ext cx="5207000" cy="6858000"/>
          </a:xfrm>
          <a:prstGeom prst="rect">
            <a:avLst/>
          </a:prstGeom>
          <a:solidFill>
            <a:srgbClr val="2E3238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7" name="Picture 17" descr=""/>
          <p:cNvPicPr>
            <a:picLocks noChangeAspect="1"/>
          </p:cNvPicPr>
          <p:nvPr/>
        </p:nvPicPr>
        <p:blipFill>
          <a:blip r:embed="rId2"/>
          <a:srcRect l="0" t="840" r="0" b="840"/>
          <a:stretch>
            <a:fillRect/>
          </a:stretch>
        </p:blipFill>
        <p:spPr>
          <a:xfrm>
            <a:off x="6985000" y="0"/>
            <a:ext cx="5207000" cy="6858000"/>
          </a:xfrm>
          <a:prstGeom prst="rect">
            <a:avLst/>
          </a:prstGeom>
        </p:spPr>
      </p:pic>
      <p:pic>
        <p:nvPicPr>
          <p:cNvPr id="18" name="Picture 18" descr="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6569770" y="6459106"/>
            <a:ext cx="85030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04167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00 · The idea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3997381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Three layers in one folder.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038600" y="3365856"/>
            <a:ext cx="292100" cy="3806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200" b="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→</a:t>
            </a:r>
            <a:endParaRPr lang="en-US" kern="100" sz="2200" b="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7874000" y="3365856"/>
            <a:ext cx="292100" cy="3806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200" b="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→</a:t>
            </a:r>
            <a:endParaRPr lang="en-US" kern="100" sz="2200" b="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71500" y="2222500"/>
            <a:ext cx="3378200" cy="2667000"/>
          </a:xfrm>
          <a:prstGeom prst="roundRect">
            <a:avLst>
              <a:gd name="adj" fmla="val 4286"/>
            </a:avLst>
          </a:prstGeom>
          <a:solidFill>
            <a:srgbClr val="F6F3EC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574675" y="2225675"/>
            <a:ext cx="3371850" cy="2660650"/>
          </a:xfrm>
          <a:prstGeom prst="roundRect">
            <a:avLst>
              <a:gd name="adj" fmla="val 4177"/>
            </a:avLst>
          </a:prstGeom>
          <a:noFill/>
          <a:ln w="6350">
            <a:solidFill>
              <a:srgbClr val="1B1D21">
                <a:alpha val="8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806450" y="2461387"/>
            <a:ext cx="1182838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Layer 1 · immutable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806450" y="2638368"/>
            <a:ext cx="1234123" cy="2353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700" b="0" spc="-25" dirty="0">
                <a:solidFill>
                  <a:srgbClr val="1B1D21"/>
                </a:solidFill>
                <a:latin typeface="Avenir Next Medium"/>
                <a:ea typeface="Avenir Next Medium"/>
                <a:cs typeface="Avenir Next Medium"/>
              </a:rPr>
              <a:t>Raw sources</a:t>
            </a:r>
            <a:endParaRPr lang="en-US" kern="100" sz="1700" b="0" spc="-25" dirty="0">
              <a:solidFill>
                <a:srgbClr val="1B1D21"/>
              </a:solidFill>
              <a:latin typeface="Avenir Next Medium"/>
              <a:ea typeface="Avenir Next Medium"/>
              <a:cs typeface="Avenir Next Medium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806450" y="2985610"/>
            <a:ext cx="2845832" cy="5471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Your documents, exactly as you added them. Read, never written — except the markdown conversion placed beside a PDF or DOCX.</a:t>
            </a:r>
            <a:endParaRPr lang="en-US" kern="100" sz="950" b="0" dirty="0">
              <a:solidFill>
                <a:srgbClr val="1B1D21">
                  <a:alpha val="8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806450" y="3662355"/>
            <a:ext cx="1149096" cy="74274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41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raw/article.md</a:t>
            </a:r>
            <a:b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raw/report.pdf</a:t>
            </a:r>
            <a:b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raw/report.pdf.md</a:t>
            </a:r>
            <a:b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raw/assets/</a:t>
            </a:r>
            <a:endParaRPr lang="en-US" kern="100" sz="85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4406900" y="2222500"/>
            <a:ext cx="3378200" cy="2667000"/>
          </a:xfrm>
          <a:prstGeom prst="roundRect">
            <a:avLst>
              <a:gd name="adj" fmla="val 4286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635500" y="2455037"/>
            <a:ext cx="1182838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E08A5E"/>
                </a:solidFill>
                <a:latin typeface="Menlo"/>
                <a:ea typeface="Menlo"/>
                <a:cs typeface="Menlo"/>
              </a:rPr>
              <a:t>Layer 2 · LLM-owned</a:t>
            </a:r>
            <a:endParaRPr lang="en-US" kern="100" sz="650" b="1" cap="all" spc="80" dirty="0">
              <a:solidFill>
                <a:srgbClr val="E08A5E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4635500" y="2632018"/>
            <a:ext cx="821476" cy="2353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700" b="0" spc="-25" dirty="0">
                <a:solidFill>
                  <a:srgbClr val="F6F3EC"/>
                </a:solidFill>
                <a:latin typeface="Avenir Next Medium"/>
                <a:ea typeface="Avenir Next Medium"/>
                <a:cs typeface="Avenir Next Medium"/>
              </a:rPr>
              <a:t>The wiki</a:t>
            </a:r>
            <a:endParaRPr lang="en-US" kern="100" sz="1700" b="0" spc="-25" dirty="0">
              <a:solidFill>
                <a:srgbClr val="F6F3EC"/>
              </a:solidFill>
              <a:latin typeface="Avenir Next Medium"/>
              <a:ea typeface="Avenir Next Medium"/>
              <a:cs typeface="Avenir Next Medium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4635500" y="2979260"/>
            <a:ext cx="2838849" cy="5471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F6F3EC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Interlinked pages — markdown, or HTML for the browser — the model creates and keeps consistent, plus a generated catalog and an append-only log.</a:t>
            </a:r>
            <a:endParaRPr lang="en-US" kern="100" sz="950" b="0" dirty="0">
              <a:solidFill>
                <a:srgbClr val="F6F3EC">
                  <a:alpha val="8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4635500" y="3656005"/>
            <a:ext cx="2230604" cy="74274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41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50" b="0" dirty="0">
                <a:solidFill>
                  <a:srgbClr val="F6F3EC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wiki/index · wiki/log (.md|.html)</a:t>
            </a:r>
            <a:br>
              <a:rPr lang="en-US" kern="100" sz="850" b="0" dirty="0">
                <a:solidFill>
                  <a:srgbClr val="F6F3EC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850" b="0" dirty="0">
                <a:solidFill>
                  <a:srgbClr val="F6F3EC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wiki/sources/ · entities/</a:t>
            </a:r>
            <a:br>
              <a:rPr lang="en-US" kern="100" sz="850" b="0" dirty="0">
                <a:solidFill>
                  <a:srgbClr val="F6F3EC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850" b="0" dirty="0">
                <a:solidFill>
                  <a:srgbClr val="F6F3EC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wiki/concepts/ · syntheses/</a:t>
            </a:r>
            <a:br>
              <a:rPr lang="en-US" kern="100" sz="850" b="0" dirty="0">
                <a:solidFill>
                  <a:srgbClr val="F6F3EC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850" b="0" dirty="0">
                <a:solidFill>
                  <a:srgbClr val="F6F3EC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wiki/lint/</a:t>
            </a:r>
            <a:endParaRPr lang="en-US" kern="100" sz="850" b="0" dirty="0">
              <a:solidFill>
                <a:srgbClr val="F6F3EC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8242300" y="2222500"/>
            <a:ext cx="33782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248650" y="2228850"/>
            <a:ext cx="3365500" cy="2654300"/>
          </a:xfrm>
          <a:prstGeom prst="roundRect">
            <a:avLst>
              <a:gd name="adj" fmla="val 4067"/>
            </a:avLst>
          </a:prstGeom>
          <a:noFill/>
          <a:ln w="12700">
            <a:solidFill>
              <a:srgbClr val="C8623A">
                <a:alpha val="60000"/>
              </a:srgbClr>
            </a:solidFill>
            <a:custDash>
              <a:ds d="275000" sp="250000"/>
            </a:custDash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8483600" y="2467737"/>
            <a:ext cx="1369608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Layer 3 · the contract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8483600" y="2644718"/>
            <a:ext cx="1197904" cy="2353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700" b="0" spc="-25" dirty="0">
                <a:solidFill>
                  <a:srgbClr val="1B1D21"/>
                </a:solidFill>
                <a:latin typeface="Avenir Next Medium"/>
                <a:ea typeface="Avenir Next Medium"/>
                <a:cs typeface="Avenir Next Medium"/>
              </a:rPr>
              <a:t>The schema</a:t>
            </a:r>
            <a:endParaRPr lang="en-US" kern="100" sz="1700" b="0" spc="-25" dirty="0">
              <a:solidFill>
                <a:srgbClr val="1B1D21"/>
              </a:solidFill>
              <a:latin typeface="Avenir Next Medium"/>
              <a:ea typeface="Avenir Next Medium"/>
              <a:cs typeface="Avenir Next Medium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8483600" y="2998310"/>
            <a:ext cx="2895600" cy="5471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A CLAUDE.md / AGENTS.md written by </a:t>
            </a:r>
            <a:r>
              <a:rPr lang="en-US" kern="100" sz="950" b="0" dirty="0">
                <a:solidFill>
                  <a:srgbClr val="1B1D21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init</a:t>
            </a:r>
            <a:r>
              <a:rPr lang="en-US" kern="100" sz="950" b="0" dirty="0">
                <a:solidFill>
                  <a:srgbClr val="1B1D21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: layout, page format, link rules and the ingest / query / lint workflows any agent must follow.</a:t>
            </a:r>
            <a:endParaRPr lang="en-US" kern="100" sz="950" b="0" dirty="0">
              <a:solidFill>
                <a:srgbClr val="1B1D21">
                  <a:alpha val="8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8483600" y="3675055"/>
            <a:ext cx="1554623" cy="55928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41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CLAUDE.md</a:t>
            </a:r>
            <a:b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AGENTS.md</a:t>
            </a:r>
            <a:b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85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.llm-wiki/ (tool state)</a:t>
            </a:r>
            <a:endParaRPr lang="en-US" kern="100" sz="85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pic>
        <p:nvPicPr>
          <p:cNvPr id="24" name="Picture 24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5" name="Text 25"/>
          <p:cNvSpPr txBox="1"/>
          <p:nvPr/>
        </p:nvSpPr>
        <p:spPr>
          <a:xfrm>
            <a:off x="11776770" y="6459106"/>
            <a:ext cx="85030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3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  <a:solidFill>
            <a:srgbClr val="2E3238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2"/>
          <a:srcRect l="14844" t="0" r="14844" b="0"/>
          <a:stretch>
            <a:fillRect/>
          </a:stretch>
        </p:blipFill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</p:spPr>
      </p:pic>
      <p:sp>
        <p:nvSpPr>
          <p:cNvPr id="4" name="Text 4"/>
          <p:cNvSpPr txBox="1"/>
          <p:nvPr/>
        </p:nvSpPr>
        <p:spPr>
          <a:xfrm>
            <a:off x="508000" y="2408428"/>
            <a:ext cx="1521603" cy="127139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0" b="0" spc="-400" dirty="0">
                <a:solidFill>
                  <a:srgbClr val="E08A5E"/>
                </a:solidFill>
                <a:latin typeface="Avenir Next Ultra Light"/>
                <a:ea typeface="Avenir Next Ultra Light"/>
                <a:cs typeface="Avenir Next Ultra Light"/>
              </a:rPr>
              <a:t>01</a:t>
            </a:r>
            <a:endParaRPr lang="en-US" kern="100" sz="11000" b="0" spc="-400" dirty="0">
              <a:solidFill>
                <a:srgbClr val="E08A5E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571500" y="3770103"/>
            <a:ext cx="2337506" cy="35708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900" b="0" spc="-50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  <a:t>Set it up once.</a:t>
            </a:r>
            <a:endParaRPr lang="en-US" kern="100" sz="2900" b="0" spc="-50" dirty="0">
              <a:solidFill>
                <a:srgbClr val="F6F3EC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571500" y="4695368"/>
            <a:ext cx="3793093" cy="5877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0" dirty="0">
                <a:solidFill>
                  <a:srgbClr val="F6F3EC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Install the CLI, choose the models, then create and register your wikis — markdown or HTML. Nothing is defaulted silently — every missing setting is a clear error.</a:t>
            </a:r>
            <a:endParaRPr lang="en-US" kern="100" sz="1100" b="0" dirty="0">
              <a:solidFill>
                <a:srgbClr val="F6F3EC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7" name="Picture 7" descr="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1776770" y="6459106"/>
            <a:ext cx="85030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70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4</a:t>
            </a:r>
            <a:endParaRPr lang="en-US" kern="100" sz="900" b="0" spc="20" dirty="0">
              <a:solidFill>
                <a:srgbClr val="FFFFFF">
                  <a:alpha val="70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358900" y="6459106"/>
            <a:ext cx="1026406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49000"/>
                  </a:srgbClr>
                </a:solidFill>
                <a:latin typeface="Avenir Next"/>
                <a:ea typeface="Avenir Next"/>
                <a:cs typeface="Avenir Next"/>
              </a:rPr>
              <a:t>Section 01 · Setup</a:t>
            </a:r>
            <a:endParaRPr lang="en-US" kern="100" sz="900" b="0" spc="20" dirty="0">
              <a:solidFill>
                <a:srgbClr val="FFFFFF">
                  <a:alpha val="49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801251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01 · Setup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4099433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Install in three commands.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6350000" cy="2087563"/>
          </a:xfrm>
          <a:prstGeom prst="roundRect">
            <a:avLst>
              <a:gd name="adj" fmla="val 4867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334197"/>
            <a:ext cx="4926274" cy="171682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requires Node 22+ and pnpm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git clone git@github.com:BikS2013/llm-wiki.git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cd llm-wiki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pnpm install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pnpm link:global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build + put `llm-wiki` on your PATH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llm-wiki --version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llm-wiki guide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the complete manual</a:t>
            </a:r>
            <a:endParaRPr lang="en-US" kern="100" sz="1050" b="0" dirty="0">
              <a:solidFill>
                <a:srgbClr val="F6F3EC">
                  <a:alpha val="50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Shape 7"/>
          <p:cNvSpPr/>
          <p:nvPr/>
        </p:nvSpPr>
        <p:spPr>
          <a:xfrm>
            <a:off x="10885190" y="2171700"/>
            <a:ext cx="347166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7518400" y="2374205"/>
            <a:ext cx="422771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8685411" y="2374205"/>
            <a:ext cx="1450777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518400" y="2150129"/>
            <a:ext cx="3862515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An OS command: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the link points at the checkout, so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pnpm</a:t>
            </a:r>
            <a:b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build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updates it;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pnpm unlink:global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removes it.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302500" y="2247900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8515449" y="2678311"/>
            <a:ext cx="1753394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10474424" y="2678311"/>
            <a:ext cx="542925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518400" y="2656405"/>
            <a:ext cx="3762423" cy="4082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Built-in guide: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llm-wiki guide &lt;topic&gt;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or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--json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—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generated from the installed CLI, never stale.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7302500" y="2754511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8917285" y="3184922"/>
            <a:ext cx="769838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518400" y="3163351"/>
            <a:ext cx="4249468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Check the build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with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pnpm test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: 54 tests, no network needed.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Dependencies are vetted and audited.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7302500" y="3261122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9" name="Picture 19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11776770" y="6459106"/>
            <a:ext cx="85030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5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801251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01 · Setup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7411855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Configure once — four tiers,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no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hidden defaults.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1279525" cy="1136650"/>
          </a:xfrm>
          <a:prstGeom prst="roundRect">
            <a:avLst>
              <a:gd name="adj" fmla="val 8939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76179" sy="73184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>
            <a:off x="574675" y="2162175"/>
            <a:ext cx="1273175" cy="1130300"/>
          </a:xfrm>
          <a:prstGeom prst="roundRect">
            <a:avLst>
              <a:gd name="adj" fmla="val 8708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1965325" y="2159000"/>
            <a:ext cx="1279525" cy="1136650"/>
          </a:xfrm>
          <a:prstGeom prst="roundRect">
            <a:avLst>
              <a:gd name="adj" fmla="val 8939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76179" sy="73184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1968500" y="2162175"/>
            <a:ext cx="1273175" cy="1130300"/>
          </a:xfrm>
          <a:prstGeom prst="roundRect">
            <a:avLst>
              <a:gd name="adj" fmla="val 8708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3359150" y="2159000"/>
            <a:ext cx="1279525" cy="1136650"/>
          </a:xfrm>
          <a:prstGeom prst="roundRect">
            <a:avLst>
              <a:gd name="adj" fmla="val 8939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76179" sy="73184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3362325" y="2162175"/>
            <a:ext cx="1273175" cy="1130300"/>
          </a:xfrm>
          <a:prstGeom prst="roundRect">
            <a:avLst>
              <a:gd name="adj" fmla="val 8708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Shape 11"/>
          <p:cNvSpPr/>
          <p:nvPr/>
        </p:nvSpPr>
        <p:spPr>
          <a:xfrm>
            <a:off x="4752975" y="2159000"/>
            <a:ext cx="1279525" cy="1136650"/>
          </a:xfrm>
          <a:prstGeom prst="roundRect">
            <a:avLst>
              <a:gd name="adj" fmla="val 8939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76179" sy="73184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756150" y="2162175"/>
            <a:ext cx="1273175" cy="1130300"/>
          </a:xfrm>
          <a:prstGeom prst="roundRect">
            <a:avLst>
              <a:gd name="adj" fmla="val 8708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71500" y="3746798"/>
            <a:ext cx="2553593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Shape 14"/>
          <p:cNvSpPr/>
          <p:nvPr/>
        </p:nvSpPr>
        <p:spPr>
          <a:xfrm>
            <a:off x="3125093" y="3746798"/>
            <a:ext cx="2907407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5" name="Line 15"/>
          <p:cNvCxnSpPr/>
          <p:nvPr/>
        </p:nvCxnSpPr>
        <p:spPr>
          <a:xfrm>
            <a:off x="571500" y="4264323"/>
            <a:ext cx="255359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6" name="Line 16"/>
          <p:cNvCxnSpPr/>
          <p:nvPr/>
        </p:nvCxnSpPr>
        <p:spPr>
          <a:xfrm>
            <a:off x="3125093" y="4264323"/>
            <a:ext cx="290740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7" name="Line 17"/>
          <p:cNvCxnSpPr/>
          <p:nvPr/>
        </p:nvCxnSpPr>
        <p:spPr>
          <a:xfrm>
            <a:off x="571500" y="4607223"/>
            <a:ext cx="255359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8" name="Line 18"/>
          <p:cNvCxnSpPr/>
          <p:nvPr/>
        </p:nvCxnSpPr>
        <p:spPr>
          <a:xfrm>
            <a:off x="3125093" y="4607223"/>
            <a:ext cx="290740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9" name="Line 19"/>
          <p:cNvCxnSpPr/>
          <p:nvPr/>
        </p:nvCxnSpPr>
        <p:spPr>
          <a:xfrm>
            <a:off x="571500" y="5087243"/>
            <a:ext cx="255359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0" name="Line 20"/>
          <p:cNvCxnSpPr/>
          <p:nvPr/>
        </p:nvCxnSpPr>
        <p:spPr>
          <a:xfrm>
            <a:off x="3125093" y="5087243"/>
            <a:ext cx="290740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1" name="Line 21"/>
          <p:cNvCxnSpPr/>
          <p:nvPr/>
        </p:nvCxnSpPr>
        <p:spPr>
          <a:xfrm>
            <a:off x="571500" y="5430143"/>
            <a:ext cx="255359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2" name="Line 22"/>
          <p:cNvCxnSpPr/>
          <p:nvPr/>
        </p:nvCxnSpPr>
        <p:spPr>
          <a:xfrm>
            <a:off x="3125093" y="5430143"/>
            <a:ext cx="290740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sp>
        <p:nvSpPr>
          <p:cNvPr id="23" name="Text 23"/>
          <p:cNvSpPr txBox="1"/>
          <p:nvPr/>
        </p:nvSpPr>
        <p:spPr>
          <a:xfrm>
            <a:off x="704850" y="2308987"/>
            <a:ext cx="622633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1 · lowest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704850" y="2466848"/>
            <a:ext cx="553085" cy="1461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Shell env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704850" y="2688488"/>
            <a:ext cx="729472" cy="3087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What your shell already exports</a:t>
            </a:r>
            <a:endParaRPr lang="en-US" kern="100" sz="8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2098675" y="2308987"/>
            <a:ext cx="72628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2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2098675" y="2466848"/>
            <a:ext cx="921155" cy="2985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~/.tool-agents/</a:t>
            </a:r>
            <a:b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</a:b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llm-wiki/.env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2098675" y="2840888"/>
            <a:ext cx="716012" cy="3087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Your long-lived settings (0600)</a:t>
            </a:r>
            <a:endParaRPr lang="en-US" kern="100" sz="8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3492500" y="2308987"/>
            <a:ext cx="72628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3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3492500" y="2466848"/>
            <a:ext cx="340519" cy="1461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./.env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3492500" y="2688488"/>
            <a:ext cx="1004737" cy="15631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Per-project overrides</a:t>
            </a:r>
            <a:endParaRPr lang="en-US" kern="100" sz="8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4886325" y="2308987"/>
            <a:ext cx="684855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4 · highest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4886325" y="2466848"/>
            <a:ext cx="522851" cy="1461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CLI flags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4886325" y="2688488"/>
            <a:ext cx="840153" cy="15631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--wiki, --model, …</a:t>
            </a:r>
            <a:endParaRPr lang="en-US" kern="100" sz="8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5" name="Text 35"/>
          <p:cNvSpPr txBox="1"/>
          <p:nvPr/>
        </p:nvSpPr>
        <p:spPr>
          <a:xfrm>
            <a:off x="571500" y="3547793"/>
            <a:ext cx="426577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Setting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6" name="Text 36"/>
          <p:cNvSpPr txBox="1"/>
          <p:nvPr/>
        </p:nvSpPr>
        <p:spPr>
          <a:xfrm>
            <a:off x="3125093" y="3547793"/>
            <a:ext cx="426577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Purpose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571500" y="3836301"/>
            <a:ext cx="1574538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LLM_WIKI_NAME / --wiki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3125093" y="3840333"/>
            <a:ext cx="2522184" cy="34143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Which registered wiki · or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LLM_WIKI_ROOT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/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--root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9" name="Text 39"/>
          <p:cNvSpPr txBox="1"/>
          <p:nvPr/>
        </p:nvSpPr>
        <p:spPr>
          <a:xfrm>
            <a:off x="571500" y="4350651"/>
            <a:ext cx="1860780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LLM_WIKI_PROVIDER / _MODEL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0" name="Text 40"/>
          <p:cNvSpPr txBox="1"/>
          <p:nvPr/>
        </p:nvSpPr>
        <p:spPr>
          <a:xfrm>
            <a:off x="3125093" y="4354683"/>
            <a:ext cx="2264966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Chat model for ingest, query, lint --llm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1" name="Text 41"/>
          <p:cNvSpPr txBox="1"/>
          <p:nvPr/>
        </p:nvSpPr>
        <p:spPr>
          <a:xfrm>
            <a:off x="571500" y="4693551"/>
            <a:ext cx="2035600" cy="3070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LLM_WIKI_EMBEDDING_PROVIDER / _MODEL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2" name="Text 42"/>
          <p:cNvSpPr txBox="1"/>
          <p:nvPr/>
        </p:nvSpPr>
        <p:spPr>
          <a:xfrm>
            <a:off x="3125093" y="4697583"/>
            <a:ext cx="2629218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Optional · enables vector and hybrid search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3" name="Text 43"/>
          <p:cNvSpPr txBox="1"/>
          <p:nvPr/>
        </p:nvSpPr>
        <p:spPr>
          <a:xfrm>
            <a:off x="571500" y="5173571"/>
            <a:ext cx="2361756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LLM_WIKI_PARSER_PROVIDER / _MODEL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4" name="Text 44"/>
          <p:cNvSpPr txBox="1"/>
          <p:nvPr/>
        </p:nvSpPr>
        <p:spPr>
          <a:xfrm>
            <a:off x="3125093" y="5177603"/>
            <a:ext cx="2665436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Optional · converts PDF and DOCX originals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5" name="Shape 45"/>
          <p:cNvSpPr/>
          <p:nvPr/>
        </p:nvSpPr>
        <p:spPr>
          <a:xfrm>
            <a:off x="6413500" y="2159000"/>
            <a:ext cx="5207000" cy="2940844"/>
          </a:xfrm>
          <a:prstGeom prst="roundRect">
            <a:avLst>
              <a:gd name="adj" fmla="val 3455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6" name="Text 46"/>
          <p:cNvSpPr txBox="1"/>
          <p:nvPr/>
        </p:nvSpPr>
        <p:spPr>
          <a:xfrm>
            <a:off x="6642100" y="2334197"/>
            <a:ext cx="3924324" cy="257010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~/.tool-agents/llm-wiki/.env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LLM_WIKI_PROVIDER=anthropic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LLM_WIKI_MODEL=claude-opus-5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ANTHROPIC_API_KEY=…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LLM_WIKI_EMBEDDING_PROVIDER=openai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LLM_WIKI_EMBEDDING_MODEL=text-embedding-3-small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OPENAI_API_KEY=…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LLM_WIKI_PARSER_PROVIDER=gemini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LLM_WIKI_PARSER_MODEL=gemini-3.6-pro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GOOGLE_API_KEY=…</a:t>
            </a:r>
            <a:endParaRPr lang="en-US" kern="100" sz="105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7" name="Text 47"/>
          <p:cNvSpPr txBox="1"/>
          <p:nvPr/>
        </p:nvSpPr>
        <p:spPr>
          <a:xfrm>
            <a:off x="6413500" y="5215071"/>
            <a:ext cx="4168775" cy="17052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llm-wiki config</a:t>
            </a:r>
            <a:r>
              <a:rPr lang="en-US" kern="100" sz="900" b="0" dirty="0">
                <a:solidFill>
                  <a:srgbClr val="1B1D21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 shows every resolved setting, its tier, and masks the keys.</a:t>
            </a:r>
            <a:endParaRPr lang="en-US" kern="100" sz="900" b="0" dirty="0">
              <a:solidFill>
                <a:srgbClr val="1B1D21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48" name="Picture 48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49" name="Text 49"/>
          <p:cNvSpPr txBox="1"/>
          <p:nvPr/>
        </p:nvSpPr>
        <p:spPr>
          <a:xfrm>
            <a:off x="11776770" y="6459106"/>
            <a:ext cx="85030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6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50" name="Text 50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801251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01 · Setup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6741343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Eight providers, vendor-canonical variables.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292648"/>
            <a:ext cx="1397000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>
            <a:off x="1968500" y="2292648"/>
            <a:ext cx="4064000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6032500" y="2292648"/>
            <a:ext cx="825500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6858000" y="2292648"/>
            <a:ext cx="825500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7683500" y="2292648"/>
            <a:ext cx="3937000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0" name="Line 10"/>
          <p:cNvCxnSpPr/>
          <p:nvPr/>
        </p:nvCxnSpPr>
        <p:spPr>
          <a:xfrm>
            <a:off x="571500" y="2638723"/>
            <a:ext cx="139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1" name="Line 11"/>
          <p:cNvCxnSpPr/>
          <p:nvPr/>
        </p:nvCxnSpPr>
        <p:spPr>
          <a:xfrm>
            <a:off x="1968500" y="2638723"/>
            <a:ext cx="4064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2" name="Line 12"/>
          <p:cNvCxnSpPr/>
          <p:nvPr/>
        </p:nvCxnSpPr>
        <p:spPr>
          <a:xfrm>
            <a:off x="6032500" y="263872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3" name="Line 13"/>
          <p:cNvCxnSpPr/>
          <p:nvPr/>
        </p:nvCxnSpPr>
        <p:spPr>
          <a:xfrm>
            <a:off x="6858000" y="263872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4" name="Line 14"/>
          <p:cNvCxnSpPr/>
          <p:nvPr/>
        </p:nvCxnSpPr>
        <p:spPr>
          <a:xfrm>
            <a:off x="7683500" y="2638723"/>
            <a:ext cx="393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5" name="Line 15"/>
          <p:cNvCxnSpPr/>
          <p:nvPr/>
        </p:nvCxnSpPr>
        <p:spPr>
          <a:xfrm>
            <a:off x="571500" y="2981623"/>
            <a:ext cx="139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6" name="Line 16"/>
          <p:cNvCxnSpPr/>
          <p:nvPr/>
        </p:nvCxnSpPr>
        <p:spPr>
          <a:xfrm>
            <a:off x="1968500" y="2981623"/>
            <a:ext cx="4064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7" name="Line 17"/>
          <p:cNvCxnSpPr/>
          <p:nvPr/>
        </p:nvCxnSpPr>
        <p:spPr>
          <a:xfrm>
            <a:off x="6032500" y="298162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8" name="Line 18"/>
          <p:cNvCxnSpPr/>
          <p:nvPr/>
        </p:nvCxnSpPr>
        <p:spPr>
          <a:xfrm>
            <a:off x="6858000" y="298162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9" name="Line 19"/>
          <p:cNvCxnSpPr/>
          <p:nvPr/>
        </p:nvCxnSpPr>
        <p:spPr>
          <a:xfrm>
            <a:off x="7683500" y="2981623"/>
            <a:ext cx="393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0" name="Line 20"/>
          <p:cNvCxnSpPr/>
          <p:nvPr/>
        </p:nvCxnSpPr>
        <p:spPr>
          <a:xfrm>
            <a:off x="571500" y="3324523"/>
            <a:ext cx="139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1" name="Line 21"/>
          <p:cNvCxnSpPr/>
          <p:nvPr/>
        </p:nvCxnSpPr>
        <p:spPr>
          <a:xfrm>
            <a:off x="1968500" y="3324523"/>
            <a:ext cx="4064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2" name="Line 22"/>
          <p:cNvCxnSpPr/>
          <p:nvPr/>
        </p:nvCxnSpPr>
        <p:spPr>
          <a:xfrm>
            <a:off x="6032500" y="332452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3" name="Line 23"/>
          <p:cNvCxnSpPr/>
          <p:nvPr/>
        </p:nvCxnSpPr>
        <p:spPr>
          <a:xfrm>
            <a:off x="6858000" y="332452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4" name="Line 24"/>
          <p:cNvCxnSpPr/>
          <p:nvPr/>
        </p:nvCxnSpPr>
        <p:spPr>
          <a:xfrm>
            <a:off x="7683500" y="3324523"/>
            <a:ext cx="393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5" name="Line 25"/>
          <p:cNvCxnSpPr/>
          <p:nvPr/>
        </p:nvCxnSpPr>
        <p:spPr>
          <a:xfrm>
            <a:off x="571500" y="3804543"/>
            <a:ext cx="139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6" name="Line 26"/>
          <p:cNvCxnSpPr/>
          <p:nvPr/>
        </p:nvCxnSpPr>
        <p:spPr>
          <a:xfrm>
            <a:off x="1968500" y="3804543"/>
            <a:ext cx="4064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7" name="Line 27"/>
          <p:cNvCxnSpPr/>
          <p:nvPr/>
        </p:nvCxnSpPr>
        <p:spPr>
          <a:xfrm>
            <a:off x="6032500" y="38045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8" name="Line 28"/>
          <p:cNvCxnSpPr/>
          <p:nvPr/>
        </p:nvCxnSpPr>
        <p:spPr>
          <a:xfrm>
            <a:off x="6858000" y="38045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9" name="Line 29"/>
          <p:cNvCxnSpPr/>
          <p:nvPr/>
        </p:nvCxnSpPr>
        <p:spPr>
          <a:xfrm>
            <a:off x="7683500" y="3804543"/>
            <a:ext cx="393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0" name="Line 30"/>
          <p:cNvCxnSpPr/>
          <p:nvPr/>
        </p:nvCxnSpPr>
        <p:spPr>
          <a:xfrm>
            <a:off x="571500" y="4147443"/>
            <a:ext cx="139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1" name="Line 31"/>
          <p:cNvCxnSpPr/>
          <p:nvPr/>
        </p:nvCxnSpPr>
        <p:spPr>
          <a:xfrm>
            <a:off x="1968500" y="4147443"/>
            <a:ext cx="4064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2" name="Line 32"/>
          <p:cNvCxnSpPr/>
          <p:nvPr/>
        </p:nvCxnSpPr>
        <p:spPr>
          <a:xfrm>
            <a:off x="6032500" y="41474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3" name="Line 33"/>
          <p:cNvCxnSpPr/>
          <p:nvPr/>
        </p:nvCxnSpPr>
        <p:spPr>
          <a:xfrm>
            <a:off x="6858000" y="41474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4" name="Line 34"/>
          <p:cNvCxnSpPr/>
          <p:nvPr/>
        </p:nvCxnSpPr>
        <p:spPr>
          <a:xfrm>
            <a:off x="7683500" y="4147443"/>
            <a:ext cx="393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5" name="Line 35"/>
          <p:cNvCxnSpPr/>
          <p:nvPr/>
        </p:nvCxnSpPr>
        <p:spPr>
          <a:xfrm>
            <a:off x="571500" y="4490343"/>
            <a:ext cx="139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6" name="Line 36"/>
          <p:cNvCxnSpPr/>
          <p:nvPr/>
        </p:nvCxnSpPr>
        <p:spPr>
          <a:xfrm>
            <a:off x="1968500" y="4490343"/>
            <a:ext cx="4064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7" name="Line 37"/>
          <p:cNvCxnSpPr/>
          <p:nvPr/>
        </p:nvCxnSpPr>
        <p:spPr>
          <a:xfrm>
            <a:off x="6032500" y="44903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8" name="Line 38"/>
          <p:cNvCxnSpPr/>
          <p:nvPr/>
        </p:nvCxnSpPr>
        <p:spPr>
          <a:xfrm>
            <a:off x="6858000" y="44903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39" name="Line 39"/>
          <p:cNvCxnSpPr/>
          <p:nvPr/>
        </p:nvCxnSpPr>
        <p:spPr>
          <a:xfrm>
            <a:off x="7683500" y="4490343"/>
            <a:ext cx="393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0" name="Line 40"/>
          <p:cNvCxnSpPr/>
          <p:nvPr/>
        </p:nvCxnSpPr>
        <p:spPr>
          <a:xfrm>
            <a:off x="571500" y="4833243"/>
            <a:ext cx="139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1" name="Line 41"/>
          <p:cNvCxnSpPr/>
          <p:nvPr/>
        </p:nvCxnSpPr>
        <p:spPr>
          <a:xfrm>
            <a:off x="1968500" y="4833243"/>
            <a:ext cx="4064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2" name="Line 42"/>
          <p:cNvCxnSpPr/>
          <p:nvPr/>
        </p:nvCxnSpPr>
        <p:spPr>
          <a:xfrm>
            <a:off x="6032500" y="48332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3" name="Line 43"/>
          <p:cNvCxnSpPr/>
          <p:nvPr/>
        </p:nvCxnSpPr>
        <p:spPr>
          <a:xfrm>
            <a:off x="6858000" y="48332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4" name="Line 44"/>
          <p:cNvCxnSpPr/>
          <p:nvPr/>
        </p:nvCxnSpPr>
        <p:spPr>
          <a:xfrm>
            <a:off x="7683500" y="4833243"/>
            <a:ext cx="393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5" name="Line 45"/>
          <p:cNvCxnSpPr/>
          <p:nvPr/>
        </p:nvCxnSpPr>
        <p:spPr>
          <a:xfrm>
            <a:off x="571500" y="5176143"/>
            <a:ext cx="139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6" name="Line 46"/>
          <p:cNvCxnSpPr/>
          <p:nvPr/>
        </p:nvCxnSpPr>
        <p:spPr>
          <a:xfrm>
            <a:off x="1968500" y="5176143"/>
            <a:ext cx="4064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7" name="Line 47"/>
          <p:cNvCxnSpPr/>
          <p:nvPr/>
        </p:nvCxnSpPr>
        <p:spPr>
          <a:xfrm>
            <a:off x="6032500" y="51761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8" name="Line 48"/>
          <p:cNvCxnSpPr/>
          <p:nvPr/>
        </p:nvCxnSpPr>
        <p:spPr>
          <a:xfrm>
            <a:off x="6858000" y="5176143"/>
            <a:ext cx="825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49" name="Line 49"/>
          <p:cNvCxnSpPr/>
          <p:nvPr/>
        </p:nvCxnSpPr>
        <p:spPr>
          <a:xfrm>
            <a:off x="7683500" y="5176143"/>
            <a:ext cx="393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sp>
        <p:nvSpPr>
          <p:cNvPr id="50" name="Text 50"/>
          <p:cNvSpPr txBox="1"/>
          <p:nvPr/>
        </p:nvSpPr>
        <p:spPr>
          <a:xfrm>
            <a:off x="571500" y="2093643"/>
            <a:ext cx="487561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Provider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51" name="Text 51"/>
          <p:cNvSpPr txBox="1"/>
          <p:nvPr/>
        </p:nvSpPr>
        <p:spPr>
          <a:xfrm>
            <a:off x="1968500" y="2093643"/>
            <a:ext cx="1096883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Variables it reads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52" name="Text 52"/>
          <p:cNvSpPr txBox="1"/>
          <p:nvPr/>
        </p:nvSpPr>
        <p:spPr>
          <a:xfrm>
            <a:off x="6032500" y="2093643"/>
            <a:ext cx="247154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Chat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53" name="Text 53"/>
          <p:cNvSpPr txBox="1"/>
          <p:nvPr/>
        </p:nvSpPr>
        <p:spPr>
          <a:xfrm>
            <a:off x="6858000" y="2093643"/>
            <a:ext cx="305693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Embed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54" name="Text 54"/>
          <p:cNvSpPr txBox="1"/>
          <p:nvPr/>
        </p:nvSpPr>
        <p:spPr>
          <a:xfrm>
            <a:off x="7683500" y="2093643"/>
            <a:ext cx="731290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PDF natively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55" name="Text 55"/>
          <p:cNvSpPr txBox="1"/>
          <p:nvPr/>
        </p:nvSpPr>
        <p:spPr>
          <a:xfrm>
            <a:off x="571500" y="2386183"/>
            <a:ext cx="424926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openai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56" name="Text 56"/>
          <p:cNvSpPr txBox="1"/>
          <p:nvPr/>
        </p:nvSpPr>
        <p:spPr>
          <a:xfrm>
            <a:off x="1968500" y="2382151"/>
            <a:ext cx="3435215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OPENAI_API_KEY · OPENAI_BASE_URL · OPENAI_ORG_ID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57" name="Text 57"/>
          <p:cNvSpPr txBox="1"/>
          <p:nvPr/>
        </p:nvSpPr>
        <p:spPr>
          <a:xfrm>
            <a:off x="6032500" y="23861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58" name="Text 58"/>
          <p:cNvSpPr txBox="1"/>
          <p:nvPr/>
        </p:nvSpPr>
        <p:spPr>
          <a:xfrm>
            <a:off x="6858000" y="23861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59" name="Text 59"/>
          <p:cNvSpPr txBox="1"/>
          <p:nvPr/>
        </p:nvSpPr>
        <p:spPr>
          <a:xfrm>
            <a:off x="7683500" y="23861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0" name="Text 60"/>
          <p:cNvSpPr txBox="1"/>
          <p:nvPr/>
        </p:nvSpPr>
        <p:spPr>
          <a:xfrm>
            <a:off x="571500" y="2729083"/>
            <a:ext cx="581358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anthropic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61" name="Text 61"/>
          <p:cNvSpPr txBox="1"/>
          <p:nvPr/>
        </p:nvSpPr>
        <p:spPr>
          <a:xfrm>
            <a:off x="1968500" y="2725051"/>
            <a:ext cx="2719610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ANTHROPIC_API_KEY · ANTHROPIC_BASE_URL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62" name="Text 62"/>
          <p:cNvSpPr txBox="1"/>
          <p:nvPr/>
        </p:nvSpPr>
        <p:spPr>
          <a:xfrm>
            <a:off x="6032500" y="27290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3" name="Text 63"/>
          <p:cNvSpPr txBox="1"/>
          <p:nvPr/>
        </p:nvSpPr>
        <p:spPr>
          <a:xfrm>
            <a:off x="6858000" y="2729083"/>
            <a:ext cx="88900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—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4" name="Text 64"/>
          <p:cNvSpPr txBox="1"/>
          <p:nvPr/>
        </p:nvSpPr>
        <p:spPr>
          <a:xfrm>
            <a:off x="7683500" y="27290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5" name="Text 65"/>
          <p:cNvSpPr txBox="1"/>
          <p:nvPr/>
        </p:nvSpPr>
        <p:spPr>
          <a:xfrm>
            <a:off x="571500" y="3071983"/>
            <a:ext cx="424513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gemini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66" name="Text 66"/>
          <p:cNvSpPr txBox="1"/>
          <p:nvPr/>
        </p:nvSpPr>
        <p:spPr>
          <a:xfrm>
            <a:off x="1968500" y="3067951"/>
            <a:ext cx="2433368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GOOGLE_API_KEY (or GEMINI_API_KEY)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67" name="Text 67"/>
          <p:cNvSpPr txBox="1"/>
          <p:nvPr/>
        </p:nvSpPr>
        <p:spPr>
          <a:xfrm>
            <a:off x="6032500" y="30719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8" name="Text 68"/>
          <p:cNvSpPr txBox="1"/>
          <p:nvPr/>
        </p:nvSpPr>
        <p:spPr>
          <a:xfrm>
            <a:off x="6858000" y="30719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9" name="Text 69"/>
          <p:cNvSpPr txBox="1"/>
          <p:nvPr/>
        </p:nvSpPr>
        <p:spPr>
          <a:xfrm>
            <a:off x="7683500" y="30719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70" name="Text 70"/>
          <p:cNvSpPr txBox="1"/>
          <p:nvPr/>
        </p:nvSpPr>
        <p:spPr>
          <a:xfrm>
            <a:off x="571500" y="3414883"/>
            <a:ext cx="801870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azure-openai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71" name="Text 71"/>
          <p:cNvSpPr txBox="1"/>
          <p:nvPr/>
        </p:nvSpPr>
        <p:spPr>
          <a:xfrm>
            <a:off x="1968500" y="3410851"/>
            <a:ext cx="3369153" cy="3070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AZURE_OPENAI_API_KEY · _ENDPOINT · _DEPLOYMENT · _API_VERSION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2" name="Text 72"/>
          <p:cNvSpPr txBox="1"/>
          <p:nvPr/>
        </p:nvSpPr>
        <p:spPr>
          <a:xfrm>
            <a:off x="6032500" y="34148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73" name="Text 73"/>
          <p:cNvSpPr txBox="1"/>
          <p:nvPr/>
        </p:nvSpPr>
        <p:spPr>
          <a:xfrm>
            <a:off x="6858000" y="34148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74" name="Text 74"/>
          <p:cNvSpPr txBox="1"/>
          <p:nvPr/>
        </p:nvSpPr>
        <p:spPr>
          <a:xfrm>
            <a:off x="7683500" y="341488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75" name="Text 75"/>
          <p:cNvSpPr txBox="1"/>
          <p:nvPr/>
        </p:nvSpPr>
        <p:spPr>
          <a:xfrm>
            <a:off x="571500" y="3894903"/>
            <a:ext cx="958302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azure-anthropic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76" name="Text 76"/>
          <p:cNvSpPr txBox="1"/>
          <p:nvPr/>
        </p:nvSpPr>
        <p:spPr>
          <a:xfrm>
            <a:off x="1968500" y="3890871"/>
            <a:ext cx="3721560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AZURE_AI_INFERENCE_KEY · AZURE_AI_INFERENCE_ENDPOINT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7" name="Text 77"/>
          <p:cNvSpPr txBox="1"/>
          <p:nvPr/>
        </p:nvSpPr>
        <p:spPr>
          <a:xfrm>
            <a:off x="6032500" y="389490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78" name="Text 78"/>
          <p:cNvSpPr txBox="1"/>
          <p:nvPr/>
        </p:nvSpPr>
        <p:spPr>
          <a:xfrm>
            <a:off x="6858000" y="3894903"/>
            <a:ext cx="88900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—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79" name="Text 79"/>
          <p:cNvSpPr txBox="1"/>
          <p:nvPr/>
        </p:nvSpPr>
        <p:spPr>
          <a:xfrm>
            <a:off x="7683500" y="389490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0" name="Text 80"/>
          <p:cNvSpPr txBox="1"/>
          <p:nvPr/>
        </p:nvSpPr>
        <p:spPr>
          <a:xfrm>
            <a:off x="571500" y="4237803"/>
            <a:ext cx="414298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ollama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81" name="Text 81"/>
          <p:cNvSpPr txBox="1"/>
          <p:nvPr/>
        </p:nvSpPr>
        <p:spPr>
          <a:xfrm>
            <a:off x="1968500" y="4233771"/>
            <a:ext cx="787321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OLLAMA_HOST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82" name="Text 82"/>
          <p:cNvSpPr txBox="1"/>
          <p:nvPr/>
        </p:nvSpPr>
        <p:spPr>
          <a:xfrm>
            <a:off x="6032500" y="423780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3" name="Text 83"/>
          <p:cNvSpPr txBox="1"/>
          <p:nvPr/>
        </p:nvSpPr>
        <p:spPr>
          <a:xfrm>
            <a:off x="6858000" y="423780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4" name="Text 84"/>
          <p:cNvSpPr txBox="1"/>
          <p:nvPr/>
        </p:nvSpPr>
        <p:spPr>
          <a:xfrm>
            <a:off x="7683500" y="4237803"/>
            <a:ext cx="1234742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text extracted locally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5" name="Text 85"/>
          <p:cNvSpPr txBox="1"/>
          <p:nvPr/>
        </p:nvSpPr>
        <p:spPr>
          <a:xfrm>
            <a:off x="571500" y="4580703"/>
            <a:ext cx="379936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litellm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86" name="Text 86"/>
          <p:cNvSpPr txBox="1"/>
          <p:nvPr/>
        </p:nvSpPr>
        <p:spPr>
          <a:xfrm>
            <a:off x="1968500" y="4576671"/>
            <a:ext cx="2719610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LITELLM_PROXY_URL · LITELLM_MASTER_KEY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87" name="Text 87"/>
          <p:cNvSpPr txBox="1"/>
          <p:nvPr/>
        </p:nvSpPr>
        <p:spPr>
          <a:xfrm>
            <a:off x="6032500" y="458070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8" name="Text 88"/>
          <p:cNvSpPr txBox="1"/>
          <p:nvPr/>
        </p:nvSpPr>
        <p:spPr>
          <a:xfrm>
            <a:off x="6858000" y="458070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9" name="Text 89"/>
          <p:cNvSpPr txBox="1"/>
          <p:nvPr/>
        </p:nvSpPr>
        <p:spPr>
          <a:xfrm>
            <a:off x="7683500" y="458070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0" name="Text 90"/>
          <p:cNvSpPr txBox="1"/>
          <p:nvPr/>
        </p:nvSpPr>
        <p:spPr>
          <a:xfrm>
            <a:off x="571500" y="4923603"/>
            <a:ext cx="22800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mlx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91" name="Text 91"/>
          <p:cNvSpPr txBox="1"/>
          <p:nvPr/>
        </p:nvSpPr>
        <p:spPr>
          <a:xfrm>
            <a:off x="1968500" y="4919571"/>
            <a:ext cx="3005852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OPENAI_BASE_URL (OpenAI-compatible server)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92" name="Text 92"/>
          <p:cNvSpPr txBox="1"/>
          <p:nvPr/>
        </p:nvSpPr>
        <p:spPr>
          <a:xfrm>
            <a:off x="6032500" y="492360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3" name="Text 93"/>
          <p:cNvSpPr txBox="1"/>
          <p:nvPr/>
        </p:nvSpPr>
        <p:spPr>
          <a:xfrm>
            <a:off x="6858000" y="4923603"/>
            <a:ext cx="20379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4" name="Text 94"/>
          <p:cNvSpPr txBox="1"/>
          <p:nvPr/>
        </p:nvSpPr>
        <p:spPr>
          <a:xfrm>
            <a:off x="7683500" y="4923603"/>
            <a:ext cx="1234742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text extracted locally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5" name="Text 95"/>
          <p:cNvSpPr txBox="1"/>
          <p:nvPr/>
        </p:nvSpPr>
        <p:spPr>
          <a:xfrm>
            <a:off x="571500" y="6032768"/>
            <a:ext cx="7292364" cy="12486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Model names are yours to choose (e.g. claude-opus-5, gpt-5, gemini-3.6-flash, llama3). For azure-openai the chat model is the deployment in AZURE_OPENAI_DEPLOYMENT.</a:t>
            </a:r>
            <a:endParaRPr lang="en-US" kern="100" sz="700" b="0" dirty="0">
              <a:solidFill>
                <a:srgbClr val="1B1D21">
                  <a:alpha val="5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96" name="Picture 96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97" name="Text 97"/>
          <p:cNvSpPr txBox="1"/>
          <p:nvPr/>
        </p:nvSpPr>
        <p:spPr>
          <a:xfrm>
            <a:off x="11776770" y="6459106"/>
            <a:ext cx="85030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7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98" name="Text 98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801251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01 · Setup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3040213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Create the wiki: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init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5715000" cy="2727523"/>
          </a:xfrm>
          <a:prstGeom prst="roundRect">
            <a:avLst>
              <a:gd name="adj" fmla="val 3725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334197"/>
            <a:ext cx="5093232" cy="23567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init ~/notes-wiki --format markdown \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  --name notes --description "Personal notes"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initialised markdown wiki at /Users/you/notes-wiki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created …/raw  raw/assets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created …/wiki/sources  entities  concepts  syntheses  lint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created …/.llm-wiki/wiki.json  CLAUDE.md  AGENTS.md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created …/wiki/index.md  wiki/log.md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registered as "notes"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E08A5E"/>
                </a:solidFill>
                <a:latin typeface="Menlo"/>
                <a:ea typeface="Menlo"/>
                <a:cs typeface="Menlo"/>
              </a:rPr>
              <a:t>"notes" is now the current wiki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init ~/handbook --format html --name handbook</a:t>
            </a:r>
            <a:endParaRPr lang="en-US" kern="100" sz="105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731000" y="2159000"/>
            <a:ext cx="4889500" cy="1395016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3766" sy="78151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6734175" y="2162175"/>
            <a:ext cx="4883150" cy="1388666"/>
          </a:xfrm>
          <a:prstGeom prst="roundRect">
            <a:avLst>
              <a:gd name="adj" fmla="val 7088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6731000" y="3706416"/>
            <a:ext cx="4889500" cy="1220391"/>
          </a:xfrm>
          <a:prstGeom prst="roundRect">
            <a:avLst>
              <a:gd name="adj" fmla="val 8325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3766" sy="75024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6734175" y="3709591"/>
            <a:ext cx="4883150" cy="1214041"/>
          </a:xfrm>
          <a:prstGeom prst="roundRect">
            <a:avLst>
              <a:gd name="adj" fmla="val 8107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965950" y="2372487"/>
            <a:ext cx="747078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What you get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6965950" y="2528722"/>
            <a:ext cx="2071283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A folder that is also a repo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6965950" y="2795705"/>
            <a:ext cx="4307509" cy="5471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Markdown for Obsidian and editors, or HTML pages that open in a browser — your choice per wiki. Put it under git; open it in Claude Code and the schema makes the agent its maintainer.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6965950" y="3919903"/>
            <a:ext cx="871625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Safe to re-run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6965950" y="4076138"/>
            <a:ext cx="1691656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Existing files are kept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6965950" y="4349229"/>
            <a:ext cx="4304270" cy="36643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init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refuses to overwrite a wiki that already has a schema; 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--force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rewrites only CLAUDE.md and AGENTS.md.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7" name="Picture 17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11776770" y="6459106"/>
            <a:ext cx="85030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8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  <a:solidFill>
            <a:srgbClr val="2E3238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2"/>
          <a:srcRect l="14844" t="0" r="14844" b="0"/>
          <a:stretch>
            <a:fillRect/>
          </a:stretch>
        </p:blipFill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</p:spPr>
      </p:pic>
      <p:sp>
        <p:nvSpPr>
          <p:cNvPr id="4" name="Text 4"/>
          <p:cNvSpPr txBox="1"/>
          <p:nvPr/>
        </p:nvSpPr>
        <p:spPr>
          <a:xfrm>
            <a:off x="508000" y="2408428"/>
            <a:ext cx="1521603" cy="127139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0" b="0" spc="-400" dirty="0">
                <a:solidFill>
                  <a:srgbClr val="E08A5E"/>
                </a:solidFill>
                <a:latin typeface="Avenir Next Ultra Light"/>
                <a:ea typeface="Avenir Next Ultra Light"/>
                <a:cs typeface="Avenir Next Ultra Light"/>
              </a:rPr>
              <a:t>02</a:t>
            </a:r>
            <a:endParaRPr lang="en-US" kern="100" sz="11000" b="0" spc="-400" dirty="0">
              <a:solidFill>
                <a:srgbClr val="E08A5E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571500" y="3770103"/>
            <a:ext cx="2373416" cy="35708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900" b="0" spc="-50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  <a:t>The daily loop.</a:t>
            </a:r>
            <a:endParaRPr lang="en-US" kern="100" sz="2900" b="0" spc="-50" dirty="0">
              <a:solidFill>
                <a:srgbClr val="F6F3EC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571500" y="4695368"/>
            <a:ext cx="3730246" cy="5877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0" dirty="0">
                <a:solidFill>
                  <a:srgbClr val="F6F3EC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Ingest a source, search the pages, ask a question, file the answer, lint now and then. Each step leaves the wiki richer than it found it.</a:t>
            </a:r>
            <a:endParaRPr lang="en-US" kern="100" sz="1100" b="0" dirty="0">
              <a:solidFill>
                <a:srgbClr val="F6F3EC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7" name="Picture 7" descr="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1776770" y="6459106"/>
            <a:ext cx="85030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70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9</a:t>
            </a:r>
            <a:endParaRPr lang="en-US" kern="100" sz="900" b="0" spc="20" dirty="0">
              <a:solidFill>
                <a:srgbClr val="FFFFFF">
                  <a:alpha val="70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358900" y="6459106"/>
            <a:ext cx="1499934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49000"/>
                  </a:srgbClr>
                </a:solidFill>
                <a:latin typeface="Avenir Next"/>
                <a:ea typeface="Avenir Next"/>
                <a:cs typeface="Avenir Next"/>
              </a:rPr>
              <a:t>Section 02 · The daily loop</a:t>
            </a:r>
            <a:endParaRPr lang="en-US" kern="100" sz="900" b="0" spc="20" dirty="0">
              <a:solidFill>
                <a:srgbClr val="FFFFFF">
                  <a:alpha val="49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04167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02 · The loop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8037068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Ingest: one source in,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five to fifteen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pages touched.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5588000" cy="3580805"/>
          </a:xfrm>
          <a:prstGeom prst="roundRect">
            <a:avLst>
              <a:gd name="adj" fmla="val 2837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334197"/>
            <a:ext cx="5093232" cy="321006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ingest ~/Downloads/deploy-notes.md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reading related pages for raw/deploy-notes.md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asking anthropic/claude-opus-5 to compile raw/deploy-notes.md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E08A5E"/>
                </a:solidFill>
                <a:latin typeface="Menlo"/>
                <a:ea typeface="Menlo"/>
                <a:cs typeface="Menlo"/>
              </a:rPr>
              <a:t># Deployment notes for the Ntakker API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Takeaways: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 Deploys to Azure Web App as a Docker container …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Pages written: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 replace wiki/sources/deploy-notes.md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 create wiki/entities/ntakker-api.md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 create wiki/entities/azure-blob-storage.md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 create wiki/concepts/configuration-management.md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…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ingest       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every pending source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ingest raw/x.md --dry-run</a:t>
            </a:r>
            <a:endParaRPr lang="en-US" kern="100" sz="105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6756400" y="2150129"/>
            <a:ext cx="4711335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Context for the model: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the index plus the most related existing pages,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found by search — so it updates pages instead of duplicating them.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540500" y="2247900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7702252" y="2678311"/>
            <a:ext cx="694234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6756400" y="2656740"/>
            <a:ext cx="4722170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After writing: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index.md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is regenerated, the search index rebuilt, a log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entry appended, and the source's hash recorded.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540500" y="2754511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9776222" y="3184922"/>
            <a:ext cx="618530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11064677" y="3184922"/>
            <a:ext cx="498475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Shape 14"/>
          <p:cNvSpPr/>
          <p:nvPr/>
        </p:nvSpPr>
        <p:spPr>
          <a:xfrm>
            <a:off x="6756400" y="3387427"/>
            <a:ext cx="271463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756400" y="3163351"/>
            <a:ext cx="4999022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Idempotent: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an unchanged source is skipped;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--force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redoes it;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--dry-</a:t>
            </a:r>
            <a:b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run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shows the plan only.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540500" y="3261122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Shape 17"/>
          <p:cNvSpPr/>
          <p:nvPr/>
        </p:nvSpPr>
        <p:spPr>
          <a:xfrm>
            <a:off x="8914805" y="3691533"/>
            <a:ext cx="1450777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756400" y="3669627"/>
            <a:ext cx="4853011" cy="4082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Never truncates: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a source above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--max-source-chars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is refused with a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message, not silently cut.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540500" y="3767733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0" name="Picture 20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10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04167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02 · The loop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5427043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Search: local, instant,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three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modes.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3479800" cy="1401366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1241" sy="78250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>
            <a:off x="574675" y="2162175"/>
            <a:ext cx="3473450" cy="1395016"/>
          </a:xfrm>
          <a:prstGeom prst="roundRect">
            <a:avLst>
              <a:gd name="adj" fmla="val 7055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4356100" y="2159000"/>
            <a:ext cx="3479800" cy="1401366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1241" sy="78250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4359275" y="2162175"/>
            <a:ext cx="3473450" cy="1395016"/>
          </a:xfrm>
          <a:prstGeom prst="roundRect">
            <a:avLst>
              <a:gd name="adj" fmla="val 7055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8140700" y="2159000"/>
            <a:ext cx="3479800" cy="1401366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1241" sy="78250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8143875" y="2162175"/>
            <a:ext cx="3473450" cy="1395016"/>
          </a:xfrm>
          <a:prstGeom prst="roundRect">
            <a:avLst>
              <a:gd name="adj" fmla="val 7055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806450" y="2372487"/>
            <a:ext cx="871625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bm25 · default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806450" y="2528722"/>
            <a:ext cx="1356193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Keyword ranking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06450" y="2795705"/>
            <a:ext cx="3004012" cy="5471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Okapi BM25 over heading-level chunks with a light stemmer. No model, no network, works the moment a page exists.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4591050" y="2372487"/>
            <a:ext cx="373539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vector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4591050" y="2528722"/>
            <a:ext cx="1491988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Semantic similarity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4591050" y="2795705"/>
            <a:ext cx="2968490" cy="5535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Cosine over embeddings cached by chunk hash. Run 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llm-wiki index --embed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once; only new or changed chunks are embedded afterwards.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8375650" y="2372487"/>
            <a:ext cx="373539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hybrid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8375650" y="2528722"/>
            <a:ext cx="896183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Both, fused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8375650" y="2795705"/>
            <a:ext cx="2952095" cy="3661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Reciprocal-rank fusion of the two lists. The default for 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query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as soon as embeddings exist.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571500" y="4445000"/>
            <a:ext cx="11049000" cy="1447602"/>
          </a:xfrm>
          <a:prstGeom prst="roundRect">
            <a:avLst>
              <a:gd name="adj" fmla="val 7019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800100" y="4620197"/>
            <a:ext cx="8433102" cy="107686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search "postgres docker"              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bm25, wiki pages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search "how do I run the db" --mode hybrid --limit 5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search "psql" --layer all --json        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include raw/ sources, machine-readable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1. wiki/entities/postgres.md › Postgres  (0.727)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 Postgres runs in a Docker container on port 5432. See [[docker]] …</a:t>
            </a:r>
            <a:endParaRPr lang="en-US" kern="100" sz="105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pic>
        <p:nvPicPr>
          <p:cNvPr id="22" name="Picture 22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11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04167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02 · The loop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8308967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Query: answers with citations —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filed back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on request.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6223000" cy="2940844"/>
          </a:xfrm>
          <a:prstGeom prst="roundRect">
            <a:avLst>
              <a:gd name="adj" fmla="val 3455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334197"/>
            <a:ext cx="5594207" cy="257010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query "Where does the API read its config?" --file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### Where the API reads configuration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The [[entities/ntakker-api|Ntakker API]] fetches its configuration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at startup from [[entities/azure-blob-storage]] in the `app-config`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container ([[sources/deploy-notes]]).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### What remains undecided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Whether to move to Azure App Configuration ([[entities/giorgos]]).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### Sources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 [[sources/deploy-notes]] · [[entities/ntakker-api]] · …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E3A64A"/>
                </a:solidFill>
                <a:latin typeface="Menlo"/>
                <a:ea typeface="Menlo"/>
                <a:cs typeface="Menlo"/>
              </a:rPr>
              <a:t>filed as wiki/syntheses/where-does-the-api-read-its-config….md</a:t>
            </a:r>
            <a:endParaRPr lang="en-US" kern="100" sz="1050" b="0" dirty="0">
              <a:solidFill>
                <a:srgbClr val="E3A64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391400" y="2150129"/>
            <a:ext cx="4249674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Every claim cites a page.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If the wiki lacks the answer, the model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says what is missing instead of inventing it.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175500" y="2247900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7391400" y="2678311"/>
            <a:ext cx="542925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9529763" y="2678311"/>
            <a:ext cx="1223764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391400" y="2651990"/>
            <a:ext cx="3808444" cy="41265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90" b="1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1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--file</a:t>
            </a:r>
            <a:r>
              <a:rPr lang="en-US" kern="100" sz="990" b="1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stores the answer under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wiki/syntheses/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with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frontmatter, updates the index and logs it.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7175500" y="2754511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8890595" y="3184922"/>
            <a:ext cx="921147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Shape 14"/>
          <p:cNvSpPr/>
          <p:nvPr/>
        </p:nvSpPr>
        <p:spPr>
          <a:xfrm>
            <a:off x="10017323" y="3184922"/>
            <a:ext cx="921147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7716838" y="3387427"/>
            <a:ext cx="1072455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91400" y="3163351"/>
            <a:ext cx="4320151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Several wikis at once: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--wikis a,b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or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--all-wikis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; citations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read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[[wiki:page]]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7175500" y="3261122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599388" y="3691533"/>
            <a:ext cx="618530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9284990" y="3691533"/>
            <a:ext cx="618530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Shape 20"/>
          <p:cNvSpPr/>
          <p:nvPr/>
        </p:nvSpPr>
        <p:spPr>
          <a:xfrm>
            <a:off x="9970591" y="3691533"/>
            <a:ext cx="1223764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7391400" y="3894038"/>
            <a:ext cx="542925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391400" y="3669962"/>
            <a:ext cx="3992943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Tune the context: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--limit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--pages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--context-chars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b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--mode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7175500" y="3767733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4" name="Picture 24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5" name="Text 25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12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04167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02 · The loop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5229439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Lint: a health check in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two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passes.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5397500" cy="1401366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4353" sy="78250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>
            <a:off x="574675" y="2162175"/>
            <a:ext cx="5391150" cy="1395016"/>
          </a:xfrm>
          <a:prstGeom prst="roundRect">
            <a:avLst>
              <a:gd name="adj" fmla="val 7055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6223000" y="2159000"/>
            <a:ext cx="5397500" cy="1401366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4353" sy="78250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6226175" y="2162175"/>
            <a:ext cx="5391150" cy="1395016"/>
          </a:xfrm>
          <a:prstGeom prst="roundRect">
            <a:avLst>
              <a:gd name="adj" fmla="val 7055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806450" y="2372487"/>
            <a:ext cx="1182838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Structural · no LLM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806450" y="2528722"/>
            <a:ext cx="1742631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Deterministic findings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806450" y="2795705"/>
            <a:ext cx="4927600" cy="5535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Dangling wikilinks · orphan pages · pages without outbound links · missing frontmatter or summary · basename collisions · stale 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index.md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· sources in 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raw/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not yet ingested · PDF/DOCX originals not yet converted.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6457950" y="2372487"/>
            <a:ext cx="996069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Semantic · --llm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6457950" y="2528722"/>
            <a:ext cx="2144443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What only a reader can see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6457950" y="2795705"/>
            <a:ext cx="4502223" cy="5471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Contradictions between pages · claims superseded by newer sources · concepts mentioned repeatedly but lacking a page · missing cross-references · data gaps · suggested questions and sources.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571500" y="4572000"/>
            <a:ext cx="11049000" cy="1020961"/>
          </a:xfrm>
          <a:prstGeom prst="roundRect">
            <a:avLst>
              <a:gd name="adj" fmla="val 9951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800100" y="4747197"/>
            <a:ext cx="7765066" cy="6502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lint            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structural, exit 1 on errors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lint --fix      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also regenerate index.md and the search index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lint --llm --report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semantic pass, filed as wiki/lint/&lt;date&gt;.md and logged</a:t>
            </a:r>
            <a:endParaRPr lang="en-US" kern="100" sz="1050" b="0" dirty="0">
              <a:solidFill>
                <a:srgbClr val="F6F3EC">
                  <a:alpha val="50000"/>
                </a:srgbClr>
              </a:solidFill>
              <a:latin typeface="Menlo"/>
              <a:ea typeface="Menlo"/>
              <a:cs typeface="Menlo"/>
            </a:endParaRPr>
          </a:p>
        </p:txBody>
      </p:sp>
      <p:pic>
        <p:nvPicPr>
          <p:cNvPr id="17" name="Picture 17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13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04167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02 · The loop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6193933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Two special files: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index.md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and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log.md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22602" y="2458641"/>
            <a:ext cx="570607" cy="158750"/>
          </a:xfrm>
          <a:prstGeom prst="roundRect">
            <a:avLst>
              <a:gd name="adj" fmla="val 20000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>
            <a:off x="3525341" y="2649141"/>
            <a:ext cx="1052314" cy="158750"/>
          </a:xfrm>
          <a:prstGeom prst="roundRect">
            <a:avLst>
              <a:gd name="adj" fmla="val 20000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571500" y="3157141"/>
            <a:ext cx="5372100" cy="1295301"/>
          </a:xfrm>
          <a:prstGeom prst="roundRect">
            <a:avLst>
              <a:gd name="adj" fmla="val 7844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10666313" y="2458641"/>
            <a:ext cx="939105" cy="158750"/>
          </a:xfrm>
          <a:prstGeom prst="roundRect">
            <a:avLst>
              <a:gd name="adj" fmla="val 20000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6248400" y="2649141"/>
            <a:ext cx="1145480" cy="158750"/>
          </a:xfrm>
          <a:prstGeom prst="roundRect">
            <a:avLst>
              <a:gd name="adj" fmla="val 20000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8642548" y="2649141"/>
            <a:ext cx="2497435" cy="158750"/>
          </a:xfrm>
          <a:prstGeom prst="roundRect">
            <a:avLst>
              <a:gd name="adj" fmla="val 20000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Shape 11"/>
          <p:cNvSpPr/>
          <p:nvPr/>
        </p:nvSpPr>
        <p:spPr>
          <a:xfrm>
            <a:off x="6248400" y="2966641"/>
            <a:ext cx="5372100" cy="1478161"/>
          </a:xfrm>
          <a:prstGeom prst="roundRect">
            <a:avLst>
              <a:gd name="adj" fmla="val 6873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2160422"/>
            <a:ext cx="2348960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index.md — what is in the wiki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571500" y="2439464"/>
            <a:ext cx="5571815" cy="5748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A catalog of every page grouped by type, each with a link, its one-line 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summary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, its date and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source count. Generated from page frontmatter by 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llm-wiki index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— never hand-edit it;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edit the frontmatter instead.</a:t>
            </a:r>
            <a:endParaRPr lang="en-US" kern="100" sz="10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00100" y="3336338"/>
            <a:ext cx="4294045" cy="919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## Entities (6)</a:t>
            </a:r>
            <a:b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 [[azure-blob-storage|Azure Blob Storage]] — Object storage</a:t>
            </a:r>
            <a:b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used for runtime configuration. _(2026-09-12, 1 source)_</a:t>
            </a:r>
            <a:b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 [[ntakker-api|Ntakker API]] — Backend API deployed to</a:t>
            </a:r>
            <a:b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Azure Web App in Docker. _(2026-09-12, 1 source)_</a:t>
            </a:r>
            <a:endParaRPr lang="en-US" kern="100" sz="90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6248400" y="2160422"/>
            <a:ext cx="2524069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log.md — what happened, when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6248400" y="2439464"/>
            <a:ext cx="5571300" cy="3843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Append-only. Every entry starts with the same prefix, so the log is grep-able: 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grep "^## \["</a:t>
            </a:r>
            <a:b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log.md | tail -5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. The CLI reads it too: 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llm-wiki log --last 5 --kind ingest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0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6477000" y="3145838"/>
            <a:ext cx="4365657" cy="1102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## [2026-09-12] ingest | Deployment notes for the Ntakker API</a:t>
            </a:r>
            <a:b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Source: raw/deploy-notes.md</a:t>
            </a:r>
            <a:b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Pages touched: … · Takeaways: …</a:t>
            </a:r>
            <a:b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## [2026-09-12] query | Where does the API read its config…</a:t>
            </a:r>
            <a:b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Filed as [[syntheses/where-does-the-api-…]].</a:t>
            </a:r>
            <a:endParaRPr lang="en-US" kern="100" sz="90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571500" y="6032768"/>
            <a:ext cx="6642695" cy="1216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In HTML wikis they are 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Courier New"/>
                <a:ea typeface="Courier New"/>
                <a:cs typeface="Courier New"/>
              </a:rPr>
              <a:t>index.html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 and 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Courier New"/>
                <a:ea typeface="Courier New"/>
                <a:cs typeface="Courier New"/>
              </a:rPr>
              <a:t>log.html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. 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Courier New"/>
                <a:ea typeface="Courier New"/>
                <a:cs typeface="Courier New"/>
              </a:rPr>
              <a:t>llm-wiki index --raw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 also indexes raw sources for search; 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Courier New"/>
                <a:ea typeface="Courier New"/>
                <a:cs typeface="Courier New"/>
              </a:rPr>
              <a:t>--embed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 computes missing embeddings.</a:t>
            </a:r>
            <a:endParaRPr lang="en-US" kern="100" sz="700" b="0" dirty="0">
              <a:solidFill>
                <a:srgbClr val="1B1D21">
                  <a:alpha val="5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9" name="Picture 19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14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  <a:solidFill>
            <a:srgbClr val="2E3238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2"/>
          <a:srcRect l="15125" t="0" r="15125" b="0"/>
          <a:stretch>
            <a:fillRect/>
          </a:stretch>
        </p:blipFill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</p:spPr>
      </p:pic>
      <p:sp>
        <p:nvSpPr>
          <p:cNvPr id="4" name="Text 4"/>
          <p:cNvSpPr txBox="1"/>
          <p:nvPr/>
        </p:nvSpPr>
        <p:spPr>
          <a:xfrm>
            <a:off x="508000" y="2408428"/>
            <a:ext cx="1521603" cy="127139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0" b="0" spc="-400" dirty="0">
                <a:solidFill>
                  <a:srgbClr val="E08A5E"/>
                </a:solidFill>
                <a:latin typeface="Avenir Next Ultra Light"/>
                <a:ea typeface="Avenir Next Ultra Light"/>
                <a:cs typeface="Avenir Next Ultra Light"/>
              </a:rPr>
              <a:t>03</a:t>
            </a:r>
            <a:endParaRPr lang="en-US" kern="100" sz="11000" b="0" spc="-400" dirty="0">
              <a:solidFill>
                <a:srgbClr val="E08A5E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571500" y="3770103"/>
            <a:ext cx="2420779" cy="74373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900" b="0" spc="-50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  <a:t>Documents,</a:t>
            </a:r>
            <a:br>
              <a:rPr lang="en-US" kern="100" sz="2900" b="0" spc="-50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</a:br>
            <a:r>
              <a:rPr lang="en-US" kern="100" sz="2900" b="0" spc="-50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  <a:t>originals intact.</a:t>
            </a:r>
            <a:endParaRPr lang="en-US" kern="100" sz="2900" b="0" spc="-50" dirty="0">
              <a:solidFill>
                <a:srgbClr val="F6F3EC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571500" y="4695368"/>
            <a:ext cx="3810000" cy="5877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0" dirty="0">
                <a:solidFill>
                  <a:srgbClr val="F6F3EC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A dedicated parser model converts the document to markdown. The original stays untouched in </a:t>
            </a:r>
            <a:r>
              <a:rPr lang="en-US" kern="100" sz="1100" b="0" dirty="0">
                <a:solidFill>
                  <a:srgbClr val="F6F3EC">
                    <a:alpha val="70000"/>
                  </a:srgbClr>
                </a:solidFill>
                <a:latin typeface="Menlo"/>
                <a:ea typeface="Menlo"/>
                <a:cs typeface="Menlo"/>
              </a:rPr>
              <a:t>raw/</a:t>
            </a:r>
            <a:r>
              <a:rPr lang="en-US" kern="100" sz="1100" b="0" dirty="0">
                <a:solidFill>
                  <a:srgbClr val="F6F3EC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 and every derived page points back to it.</a:t>
            </a:r>
            <a:endParaRPr lang="en-US" kern="100" sz="1100" b="0" dirty="0">
              <a:solidFill>
                <a:srgbClr val="F6F3EC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7" name="Picture 7" descr="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70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15</a:t>
            </a:r>
            <a:endParaRPr lang="en-US" kern="100" sz="900" b="0" spc="20" dirty="0">
              <a:solidFill>
                <a:srgbClr val="FFFFFF">
                  <a:alpha val="70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358900" y="6459106"/>
            <a:ext cx="1343295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49000"/>
                  </a:srgbClr>
                </a:solidFill>
                <a:latin typeface="Avenir Next"/>
                <a:ea typeface="Avenir Next"/>
                <a:cs typeface="Avenir Next"/>
              </a:rPr>
              <a:t>Section 03 · Documents</a:t>
            </a:r>
            <a:endParaRPr lang="en-US" kern="100" sz="900" b="0" spc="20" dirty="0">
              <a:solidFill>
                <a:srgbClr val="FFFFFF">
                  <a:alpha val="49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121751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03 · Documents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6983627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A separate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parser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model, chosen for the job.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038600" y="3111856"/>
            <a:ext cx="292100" cy="3806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200" b="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→</a:t>
            </a:r>
            <a:endParaRPr lang="en-US" kern="100" sz="2200" b="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7874000" y="3111856"/>
            <a:ext cx="292100" cy="3806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200" b="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→</a:t>
            </a:r>
            <a:endParaRPr lang="en-US" kern="100" sz="2200" b="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71500" y="2159000"/>
            <a:ext cx="3378200" cy="2286000"/>
          </a:xfrm>
          <a:prstGeom prst="roundRect">
            <a:avLst>
              <a:gd name="adj" fmla="val 5000"/>
            </a:avLst>
          </a:prstGeom>
          <a:solidFill>
            <a:srgbClr val="F6F3EC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574675" y="2162175"/>
            <a:ext cx="3371850" cy="2279650"/>
          </a:xfrm>
          <a:prstGeom prst="roundRect">
            <a:avLst>
              <a:gd name="adj" fmla="val 4875"/>
            </a:avLst>
          </a:prstGeom>
          <a:noFill/>
          <a:ln w="6350">
            <a:solidFill>
              <a:srgbClr val="1B1D21">
                <a:alpha val="8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806450" y="2397887"/>
            <a:ext cx="684855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1 · you add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806450" y="2574868"/>
            <a:ext cx="1463405" cy="2353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700" b="0" spc="-25" dirty="0">
                <a:solidFill>
                  <a:srgbClr val="1B1D21"/>
                </a:solidFill>
                <a:latin typeface="Avenir Next Medium"/>
                <a:ea typeface="Avenir Next Medium"/>
                <a:cs typeface="Avenir Next Medium"/>
              </a:rPr>
              <a:t>raw/report.pdf</a:t>
            </a:r>
            <a:endParaRPr lang="en-US" kern="100" sz="1700" b="0" spc="-25" dirty="0">
              <a:solidFill>
                <a:srgbClr val="1B1D21"/>
              </a:solidFill>
              <a:latin typeface="Avenir Next Medium"/>
              <a:ea typeface="Avenir Next Medium"/>
              <a:cs typeface="Avenir Next Medium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806450" y="2928460"/>
            <a:ext cx="2501640" cy="3661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Any PDF or DOCX, copied into </a:t>
            </a:r>
            <a:r>
              <a:rPr lang="en-US" kern="100" sz="950" b="0" dirty="0">
                <a:solidFill>
                  <a:srgbClr val="1B1D21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raw/</a:t>
            </a:r>
            <a:r>
              <a:rPr lang="en-US" kern="100" sz="950" b="0" dirty="0">
                <a:solidFill>
                  <a:srgbClr val="1B1D21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 if it was elsewhere. It is never modified.</a:t>
            </a:r>
            <a:endParaRPr lang="en-US" kern="100" sz="950" b="0" dirty="0">
              <a:solidFill>
                <a:srgbClr val="1B1D21">
                  <a:alpha val="8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4406900" y="2159000"/>
            <a:ext cx="3378200" cy="2286000"/>
          </a:xfrm>
          <a:prstGeom prst="roundRect">
            <a:avLst>
              <a:gd name="adj" fmla="val 5000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635500" y="2391537"/>
            <a:ext cx="871625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E08A5E"/>
                </a:solidFill>
                <a:latin typeface="Menlo"/>
                <a:ea typeface="Menlo"/>
                <a:cs typeface="Menlo"/>
              </a:rPr>
              <a:t>2 · parser LLM</a:t>
            </a:r>
            <a:endParaRPr lang="en-US" kern="100" sz="650" b="1" cap="all" spc="80" dirty="0">
              <a:solidFill>
                <a:srgbClr val="E08A5E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4635500" y="2568518"/>
            <a:ext cx="1817441" cy="2353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700" b="0" spc="-25" dirty="0">
                <a:solidFill>
                  <a:srgbClr val="F6F3EC"/>
                </a:solidFill>
                <a:latin typeface="Avenir Next Medium"/>
                <a:ea typeface="Avenir Next Medium"/>
                <a:cs typeface="Avenir Next Medium"/>
              </a:rPr>
              <a:t>faithful markdown</a:t>
            </a:r>
            <a:endParaRPr lang="en-US" kern="100" sz="1700" b="0" spc="-25" dirty="0">
              <a:solidFill>
                <a:srgbClr val="F6F3EC"/>
              </a:solidFill>
              <a:latin typeface="Avenir Next Medium"/>
              <a:ea typeface="Avenir Next Medium"/>
              <a:cs typeface="Avenir Next Medium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4635500" y="2915760"/>
            <a:ext cx="2865060" cy="7344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F6F3EC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Headings, lists, tables, figures as bracketed descriptions. Nothing summarised, nothing dropped. Set by </a:t>
            </a:r>
            <a:r>
              <a:rPr lang="en-US" kern="100" sz="950" b="0" dirty="0">
                <a:solidFill>
                  <a:srgbClr val="F6F3EC">
                    <a:alpha val="80000"/>
                  </a:srgbClr>
                </a:solidFill>
                <a:latin typeface="Menlo"/>
                <a:ea typeface="Menlo"/>
                <a:cs typeface="Menlo"/>
              </a:rPr>
              <a:t>LLM_WIKI_PARSER_PROVIDER / _MODEL</a:t>
            </a:r>
            <a:r>
              <a:rPr lang="en-US" kern="100" sz="950" b="0" dirty="0">
                <a:solidFill>
                  <a:srgbClr val="F6F3EC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950" b="0" dirty="0">
              <a:solidFill>
                <a:srgbClr val="F6F3EC">
                  <a:alpha val="8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8242300" y="2159000"/>
            <a:ext cx="3378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Shape 17"/>
          <p:cNvSpPr/>
          <p:nvPr/>
        </p:nvSpPr>
        <p:spPr>
          <a:xfrm>
            <a:off x="8248650" y="2165350"/>
            <a:ext cx="3365500" cy="2273300"/>
          </a:xfrm>
          <a:prstGeom prst="roundRect">
            <a:avLst>
              <a:gd name="adj" fmla="val 4749"/>
            </a:avLst>
          </a:prstGeom>
          <a:noFill/>
          <a:ln w="12700">
            <a:solidFill>
              <a:srgbClr val="C8623A">
                <a:alpha val="60000"/>
              </a:srgbClr>
            </a:solidFill>
            <a:custDash>
              <a:ds d="275000" sp="250000"/>
            </a:custDash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8483600" y="2404237"/>
            <a:ext cx="1120616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3 · the wiki reads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8483600" y="2581218"/>
            <a:ext cx="1853557" cy="2353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700" b="0" spc="-25" dirty="0">
                <a:solidFill>
                  <a:srgbClr val="1B1D21"/>
                </a:solidFill>
                <a:latin typeface="Avenir Next Medium"/>
                <a:ea typeface="Avenir Next Medium"/>
                <a:cs typeface="Avenir Next Medium"/>
              </a:rPr>
              <a:t>raw/report.pdf.md</a:t>
            </a:r>
            <a:endParaRPr lang="en-US" kern="100" sz="1700" b="0" spc="-25" dirty="0">
              <a:solidFill>
                <a:srgbClr val="1B1D21"/>
              </a:solidFill>
              <a:latin typeface="Avenir Next Medium"/>
              <a:ea typeface="Avenir Next Medium"/>
              <a:cs typeface="Avenir Next Medium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8483600" y="2928460"/>
            <a:ext cx="2679049" cy="3661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Written beside the original with provenance frontmatter, then ingested like any other source.</a:t>
            </a:r>
            <a:endParaRPr lang="en-US" kern="100" sz="950" b="0" dirty="0">
              <a:solidFill>
                <a:srgbClr val="1B1D21">
                  <a:alpha val="8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571500" y="4826000"/>
            <a:ext cx="11049000" cy="1020961"/>
          </a:xfrm>
          <a:prstGeom prst="roundRect">
            <a:avLst>
              <a:gd name="adj" fmla="val 9951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800100" y="5001197"/>
            <a:ext cx="7932126" cy="6502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ingest raw/report.pdf   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convert, then ingest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parse raw/contract.docx 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convert only — review raw/contract.docx.md first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ingest raw/report.pdf --reparse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redo the conversion; cached by hash otherwise</a:t>
            </a:r>
            <a:endParaRPr lang="en-US" kern="100" sz="1050" b="0" dirty="0">
              <a:solidFill>
                <a:srgbClr val="F6F3EC">
                  <a:alpha val="50000"/>
                </a:srgbClr>
              </a:solidFill>
              <a:latin typeface="Menlo"/>
              <a:ea typeface="Menlo"/>
              <a:cs typeface="Menlo"/>
            </a:endParaRPr>
          </a:p>
        </p:txBody>
      </p:sp>
      <p:pic>
        <p:nvPicPr>
          <p:cNvPr id="23" name="Picture 23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16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121751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03 · Documents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5504847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Provenance travels with every page.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5715000" cy="3275707"/>
          </a:xfrm>
          <a:prstGeom prst="roundRect">
            <a:avLst>
              <a:gd name="adj" fmla="val 3102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343214"/>
            <a:ext cx="4306014" cy="289978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raw/report.pdf.md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---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title: Quarterly Report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original: raw/report.pdf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original_type: PDF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original_sha256: 3f2a9c…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parsed_by: gemini/gemini-3.6-pro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parsed_at: 2026-09-12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---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&gt; </a:t>
            </a:r>
            <a:r>
              <a:rPr lang="en-US" kern="100" sz="950" b="0" dirty="0">
                <a:solidFill>
                  <a:srgbClr val="E08A5E"/>
                </a:solidFill>
                <a:latin typeface="Menlo"/>
                <a:ea typeface="Menlo"/>
                <a:cs typeface="Menlo"/>
              </a:rPr>
              <a:t>**Converted from the original PDF document</a:t>
            </a:r>
            <a:br>
              <a:rPr lang="en-US" kern="100" sz="950" b="0" dirty="0">
                <a:solidFill>
                  <a:srgbClr val="E08A5E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E08A5E"/>
                </a:solidFill>
                <a:latin typeface="Menlo"/>
                <a:ea typeface="Menlo"/>
                <a:cs typeface="Menlo"/>
              </a:rPr>
              <a:t>&gt; [[raw/report.pdf]]**</a:t>
            </a: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(412 KB) by gemini/gemini-3.6-pro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&gt; on 2026-09-12. The original is kept unmodified in raw/.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# Quarterly Report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…</a:t>
            </a:r>
            <a:endParaRPr lang="en-US" kern="100" sz="95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731000" y="2159000"/>
            <a:ext cx="4889500" cy="1220391"/>
          </a:xfrm>
          <a:prstGeom prst="roundRect">
            <a:avLst>
              <a:gd name="adj" fmla="val 8325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3766" sy="75024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6734175" y="2162175"/>
            <a:ext cx="4883150" cy="1214041"/>
          </a:xfrm>
          <a:prstGeom prst="roundRect">
            <a:avLst>
              <a:gd name="adj" fmla="val 8107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6731000" y="3531791"/>
            <a:ext cx="4889500" cy="1395016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3766" sy="78151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6734175" y="3534966"/>
            <a:ext cx="4883150" cy="1388666"/>
          </a:xfrm>
          <a:prstGeom prst="roundRect">
            <a:avLst>
              <a:gd name="adj" fmla="val 7088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965950" y="2372487"/>
            <a:ext cx="1245164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On the wiki page too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6965950" y="2528722"/>
            <a:ext cx="2234113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sources/quarterly-report.md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6965950" y="2802055"/>
            <a:ext cx="4400818" cy="3661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Gets 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original: raw/report.pdf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in its frontmatter and a link to the original in its body — stamped by the tool, whatever the model wrote.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6965950" y="3745278"/>
            <a:ext cx="1182838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Native vs extracted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6965950" y="3901513"/>
            <a:ext cx="1579078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Scanned PDFs work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6965950" y="4168496"/>
            <a:ext cx="4292531" cy="5471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Anthropic, Gemini, OpenAI, Azure and LiteLLM receive the PDF itself. Ollama and MLX receive text extracted with pdf.js — a scanned page yields nothing there, and the tool says so.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7" name="Picture 17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17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  <a:solidFill>
            <a:srgbClr val="2E3238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2"/>
          <a:srcRect l="14844" t="0" r="14844" b="0"/>
          <a:stretch>
            <a:fillRect/>
          </a:stretch>
        </p:blipFill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</p:spPr>
      </p:pic>
      <p:sp>
        <p:nvSpPr>
          <p:cNvPr id="4" name="Text 4"/>
          <p:cNvSpPr txBox="1"/>
          <p:nvPr/>
        </p:nvSpPr>
        <p:spPr>
          <a:xfrm>
            <a:off x="508000" y="2408428"/>
            <a:ext cx="1521603" cy="127139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0" b="0" spc="-400" dirty="0">
                <a:solidFill>
                  <a:srgbClr val="E08A5E"/>
                </a:solidFill>
                <a:latin typeface="Avenir Next Ultra Light"/>
                <a:ea typeface="Avenir Next Ultra Light"/>
                <a:cs typeface="Avenir Next Ultra Light"/>
              </a:rPr>
              <a:t>04</a:t>
            </a:r>
            <a:endParaRPr lang="en-US" kern="100" sz="11000" b="0" spc="-400" dirty="0">
              <a:solidFill>
                <a:srgbClr val="E08A5E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571500" y="3770103"/>
            <a:ext cx="2877796" cy="74373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900" b="0" spc="-50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  <a:t>Let the agent do</a:t>
            </a:r>
            <a:br>
              <a:rPr lang="en-US" kern="100" sz="2900" b="0" spc="-50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</a:br>
            <a:r>
              <a:rPr lang="en-US" kern="100" sz="2900" b="0" spc="-50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  <a:t>the bookkeeping.</a:t>
            </a:r>
            <a:endParaRPr lang="en-US" kern="100" sz="2900" b="0" spc="-50" dirty="0">
              <a:solidFill>
                <a:srgbClr val="F6F3EC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571500" y="4695368"/>
            <a:ext cx="3759899" cy="5877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0" dirty="0">
                <a:solidFill>
                  <a:srgbClr val="F6F3EC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Obsidian is the IDE, the LLM is the programmer, the wiki is the codebase. The schema and the MCP server make that literal.</a:t>
            </a:r>
            <a:endParaRPr lang="en-US" kern="100" sz="1100" b="0" dirty="0">
              <a:solidFill>
                <a:srgbClr val="F6F3EC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7" name="Picture 7" descr="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70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18</a:t>
            </a:r>
            <a:endParaRPr lang="en-US" kern="100" sz="900" b="0" spc="20" dirty="0">
              <a:solidFill>
                <a:srgbClr val="FFFFFF">
                  <a:alpha val="70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358900" y="6459106"/>
            <a:ext cx="10954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49000"/>
                  </a:srgbClr>
                </a:solidFill>
                <a:latin typeface="Avenir Next"/>
                <a:ea typeface="Avenir Next"/>
                <a:cs typeface="Avenir Next"/>
              </a:rPr>
              <a:t>Section 04 · Agents</a:t>
            </a:r>
            <a:endParaRPr lang="en-US" kern="100" sz="900" b="0" spc="20" dirty="0">
              <a:solidFill>
                <a:srgbClr val="FFFFFF">
                  <a:alpha val="49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88142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04 · Agents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8762683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The schema turns any coding agent into the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maintainer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2797572" y="3207941"/>
            <a:ext cx="364232" cy="158750"/>
          </a:xfrm>
          <a:prstGeom prst="roundRect">
            <a:avLst>
              <a:gd name="adj" fmla="val 20000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>
            <a:off x="4632623" y="3207941"/>
            <a:ext cx="1052314" cy="158750"/>
          </a:xfrm>
          <a:prstGeom prst="roundRect">
            <a:avLst>
              <a:gd name="adj" fmla="val 20000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8883452" y="3017441"/>
            <a:ext cx="364232" cy="158750"/>
          </a:xfrm>
          <a:prstGeom prst="roundRect">
            <a:avLst>
              <a:gd name="adj" fmla="val 20000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71500" y="2194154"/>
            <a:ext cx="447008" cy="36807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3200" b="0" spc="-1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§1</a:t>
            </a:r>
            <a:endParaRPr lang="en-US" kern="100" sz="3200" b="0" spc="-1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571500" y="2719222"/>
            <a:ext cx="1726327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Layout &amp; page format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571500" y="2998264"/>
            <a:ext cx="3564199" cy="5748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Where each page type lives, the frontmatter keys, kebab-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case slugs, wikilink conventions, citing 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raw/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for every non-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obvious claim.</a:t>
            </a:r>
            <a:endParaRPr lang="en-US" kern="100" sz="10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4356100" y="2194154"/>
            <a:ext cx="447008" cy="36807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3200" b="0" spc="-1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§2</a:t>
            </a:r>
            <a:endParaRPr lang="en-US" kern="100" sz="3200" b="0" spc="-1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4356100" y="2719222"/>
            <a:ext cx="891334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Operations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356100" y="2998264"/>
            <a:ext cx="3575447" cy="5748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Step-by-step ingest, query and lint workflows — including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"run 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llm-wiki index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after editing pages" and how to flag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a contradiction.</a:t>
            </a:r>
            <a:endParaRPr lang="en-US" kern="100" sz="10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140700" y="2194154"/>
            <a:ext cx="447008" cy="36807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3200" b="0" spc="-1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§3</a:t>
            </a:r>
            <a:endParaRPr lang="en-US" kern="100" sz="3200" b="0" spc="-1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8140700" y="2719222"/>
            <a:ext cx="1091414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Working style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8140700" y="2998264"/>
            <a:ext cx="3390844" cy="5748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Never touch 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raw/</a:t>
            </a:r>
            <a:r>
              <a:rPr lang="en-US" kern="100" sz="90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; keep pages atomic; prefer updating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over duplicating; mark possible duplicates for the next</a:t>
            </a:r>
            <a:b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0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lint pass.</a:t>
            </a:r>
            <a:endParaRPr lang="en-US" kern="100" sz="10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571500" y="4826000"/>
            <a:ext cx="11049000" cy="807641"/>
          </a:xfrm>
          <a:prstGeom prst="roundRect">
            <a:avLst>
              <a:gd name="adj" fmla="val 12580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800100" y="5001197"/>
            <a:ext cx="8767016" cy="436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cd ~/notes-wiki &amp;&amp; claude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CLAUDE.md is read automatically; AGENTS.md serves Codex and others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&gt; ingest raw/podcast-notes.md and tell me what changed in the overview</a:t>
            </a:r>
            <a:endParaRPr lang="en-US" kern="100" sz="105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pic>
        <p:nvPicPr>
          <p:cNvPr id="19" name="Picture 19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19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88142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04 · Agents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6619169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The MCP server: native tools for the agent.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5461000" cy="1234281"/>
          </a:xfrm>
          <a:prstGeom prst="roundRect">
            <a:avLst>
              <a:gd name="adj" fmla="val 8232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334197"/>
            <a:ext cx="3423349" cy="8635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claude mcp add llm-wiki -- llm-wiki mcp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or run it yourself for any MCP client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mcp      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stdio</a:t>
            </a:r>
            <a:endParaRPr lang="en-US" kern="100" sz="1050" b="0" dirty="0">
              <a:solidFill>
                <a:srgbClr val="F6F3EC">
                  <a:alpha val="50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71500" y="3533496"/>
            <a:ext cx="5597509" cy="36619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5000"/>
                  </a:srgbClr>
                </a:solidFill>
                <a:latin typeface="Avenir Next"/>
                <a:ea typeface="Avenir Next"/>
                <a:cs typeface="Avenir Next"/>
              </a:rPr>
              <a:t>One server serves </a:t>
            </a:r>
            <a:r>
              <a:rPr lang="en-US" kern="100" sz="950" b="1" dirty="0">
                <a:solidFill>
                  <a:srgbClr val="1B1D21">
                    <a:alpha val="75000"/>
                  </a:srgbClr>
                </a:solidFill>
                <a:latin typeface="Avenir Next"/>
                <a:ea typeface="Avenir Next"/>
                <a:cs typeface="Avenir Next"/>
              </a:rPr>
              <a:t>every registered wiki</a:t>
            </a:r>
            <a:r>
              <a:rPr lang="en-US" kern="100" sz="950" b="0" dirty="0">
                <a:solidFill>
                  <a:srgbClr val="1B1D21">
                    <a:alpha val="75000"/>
                  </a:srgbClr>
                </a:solidFill>
                <a:latin typeface="Avenir Next"/>
                <a:ea typeface="Avenir Next"/>
                <a:cs typeface="Avenir Next"/>
              </a:rPr>
              <a:t>: each tool takes an optional </a:t>
            </a:r>
            <a:r>
              <a:rPr lang="en-US" kern="100" sz="950" b="0" dirty="0">
                <a:solidFill>
                  <a:srgbClr val="1B1D21">
                    <a:alpha val="75000"/>
                  </a:srgbClr>
                </a:solidFill>
                <a:latin typeface="Courier New"/>
                <a:ea typeface="Courier New"/>
                <a:cs typeface="Courier New"/>
              </a:rPr>
              <a:t>wiki</a:t>
            </a:r>
            <a:r>
              <a:rPr lang="en-US" kern="100" sz="950" b="0" dirty="0">
                <a:solidFill>
                  <a:srgbClr val="1B1D21">
                    <a:alpha val="75000"/>
                  </a:srgbClr>
                </a:solidFill>
                <a:latin typeface="Avenir Next"/>
                <a:ea typeface="Avenir Next"/>
                <a:cs typeface="Avenir Next"/>
              </a:rPr>
              <a:t> argument (default: the</a:t>
            </a:r>
            <a:br>
              <a:rPr lang="en-US" kern="100" sz="950" b="0" dirty="0">
                <a:solidFill>
                  <a:srgbClr val="1B1D21">
                    <a:alpha val="7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950" b="0" dirty="0">
                <a:solidFill>
                  <a:srgbClr val="1B1D21">
                    <a:alpha val="75000"/>
                  </a:srgbClr>
                </a:solidFill>
                <a:latin typeface="Avenir Next"/>
                <a:ea typeface="Avenir Next"/>
                <a:cs typeface="Avenir Next"/>
              </a:rPr>
              <a:t>selected wiki), and the registry is re-read on every call.</a:t>
            </a:r>
            <a:endParaRPr lang="en-US" kern="100" sz="950" b="0" dirty="0">
              <a:solidFill>
                <a:srgbClr val="1B1D21">
                  <a:alpha val="7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413500" y="2292648"/>
            <a:ext cx="1775023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8188523" y="2292648"/>
            <a:ext cx="3431977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0" name="Line 10"/>
          <p:cNvCxnSpPr/>
          <p:nvPr/>
        </p:nvCxnSpPr>
        <p:spPr>
          <a:xfrm>
            <a:off x="6413500" y="2638723"/>
            <a:ext cx="177502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1" name="Line 11"/>
          <p:cNvCxnSpPr/>
          <p:nvPr/>
        </p:nvCxnSpPr>
        <p:spPr>
          <a:xfrm>
            <a:off x="8188523" y="2638723"/>
            <a:ext cx="343197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2" name="Line 12"/>
          <p:cNvCxnSpPr/>
          <p:nvPr/>
        </p:nvCxnSpPr>
        <p:spPr>
          <a:xfrm>
            <a:off x="6413500" y="2981623"/>
            <a:ext cx="177502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3" name="Line 13"/>
          <p:cNvCxnSpPr/>
          <p:nvPr/>
        </p:nvCxnSpPr>
        <p:spPr>
          <a:xfrm>
            <a:off x="8188523" y="2981623"/>
            <a:ext cx="343197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4" name="Line 14"/>
          <p:cNvCxnSpPr/>
          <p:nvPr/>
        </p:nvCxnSpPr>
        <p:spPr>
          <a:xfrm>
            <a:off x="6413500" y="3324523"/>
            <a:ext cx="177502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5" name="Line 15"/>
          <p:cNvCxnSpPr/>
          <p:nvPr/>
        </p:nvCxnSpPr>
        <p:spPr>
          <a:xfrm>
            <a:off x="8188523" y="3324523"/>
            <a:ext cx="343197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6" name="Line 16"/>
          <p:cNvCxnSpPr/>
          <p:nvPr/>
        </p:nvCxnSpPr>
        <p:spPr>
          <a:xfrm>
            <a:off x="6413500" y="3667423"/>
            <a:ext cx="177502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7" name="Line 17"/>
          <p:cNvCxnSpPr/>
          <p:nvPr/>
        </p:nvCxnSpPr>
        <p:spPr>
          <a:xfrm>
            <a:off x="8188523" y="3667423"/>
            <a:ext cx="343197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8" name="Line 18"/>
          <p:cNvCxnSpPr/>
          <p:nvPr/>
        </p:nvCxnSpPr>
        <p:spPr>
          <a:xfrm>
            <a:off x="6413500" y="4010323"/>
            <a:ext cx="177502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9" name="Line 19"/>
          <p:cNvCxnSpPr/>
          <p:nvPr/>
        </p:nvCxnSpPr>
        <p:spPr>
          <a:xfrm>
            <a:off x="8188523" y="4010323"/>
            <a:ext cx="343197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0" name="Line 20"/>
          <p:cNvCxnSpPr/>
          <p:nvPr/>
        </p:nvCxnSpPr>
        <p:spPr>
          <a:xfrm>
            <a:off x="6413500" y="4353223"/>
            <a:ext cx="177502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1" name="Line 21"/>
          <p:cNvCxnSpPr/>
          <p:nvPr/>
        </p:nvCxnSpPr>
        <p:spPr>
          <a:xfrm>
            <a:off x="8188523" y="4353223"/>
            <a:ext cx="343197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2" name="Line 22"/>
          <p:cNvCxnSpPr/>
          <p:nvPr/>
        </p:nvCxnSpPr>
        <p:spPr>
          <a:xfrm>
            <a:off x="6413500" y="4696123"/>
            <a:ext cx="177502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3" name="Line 23"/>
          <p:cNvCxnSpPr/>
          <p:nvPr/>
        </p:nvCxnSpPr>
        <p:spPr>
          <a:xfrm>
            <a:off x="8188523" y="4696123"/>
            <a:ext cx="343197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4" name="Line 24"/>
          <p:cNvCxnSpPr/>
          <p:nvPr/>
        </p:nvCxnSpPr>
        <p:spPr>
          <a:xfrm>
            <a:off x="6413500" y="5039023"/>
            <a:ext cx="1775023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5" name="Line 25"/>
          <p:cNvCxnSpPr/>
          <p:nvPr/>
        </p:nvCxnSpPr>
        <p:spPr>
          <a:xfrm>
            <a:off x="8188523" y="5039023"/>
            <a:ext cx="3431977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sp>
        <p:nvSpPr>
          <p:cNvPr id="26" name="Text 26"/>
          <p:cNvSpPr txBox="1"/>
          <p:nvPr/>
        </p:nvSpPr>
        <p:spPr>
          <a:xfrm>
            <a:off x="6413500" y="2093643"/>
            <a:ext cx="247154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Tool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8188523" y="2093643"/>
            <a:ext cx="247154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Does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6413500" y="2382151"/>
            <a:ext cx="1073563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wiki_list_wikis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8188523" y="2386183"/>
            <a:ext cx="2121638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the registered wikis and their status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6413500" y="2725051"/>
            <a:ext cx="787321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wiki_search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8188523" y="2729083"/>
            <a:ext cx="1375386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one, several or all wikis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6413500" y="3067951"/>
            <a:ext cx="1001951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wiki_read_page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8188523" y="3071983"/>
            <a:ext cx="128664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a page, or index / log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6413500" y="3410851"/>
            <a:ext cx="1073563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wiki_list_pages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5" name="Text 35"/>
          <p:cNvSpPr txBox="1"/>
          <p:nvPr/>
        </p:nvSpPr>
        <p:spPr>
          <a:xfrm>
            <a:off x="8188523" y="3414883"/>
            <a:ext cx="2173026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id, type, title, summary; filter by type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6" name="Text 36"/>
          <p:cNvSpPr txBox="1"/>
          <p:nvPr/>
        </p:nvSpPr>
        <p:spPr>
          <a:xfrm>
            <a:off x="6413500" y="3753751"/>
            <a:ext cx="1073563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wiki_write_page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8188523" y="3757783"/>
            <a:ext cx="2186543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create / replace / append; reindexes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6413500" y="4096651"/>
            <a:ext cx="1073563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wiki_append_log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9" name="Text 39"/>
          <p:cNvSpPr txBox="1"/>
          <p:nvPr/>
        </p:nvSpPr>
        <p:spPr>
          <a:xfrm>
            <a:off x="8188523" y="4100683"/>
            <a:ext cx="1849430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an entry in the standard format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0" name="Text 40"/>
          <p:cNvSpPr txBox="1"/>
          <p:nvPr/>
        </p:nvSpPr>
        <p:spPr>
          <a:xfrm>
            <a:off x="6413500" y="4439551"/>
            <a:ext cx="644200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wiki_lint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1" name="Text 41"/>
          <p:cNvSpPr txBox="1"/>
          <p:nvPr/>
        </p:nvSpPr>
        <p:spPr>
          <a:xfrm>
            <a:off x="8188523" y="4443583"/>
            <a:ext cx="1579182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the structural health check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2" name="Text 42"/>
          <p:cNvSpPr txBox="1"/>
          <p:nvPr/>
        </p:nvSpPr>
        <p:spPr>
          <a:xfrm>
            <a:off x="6413500" y="4782451"/>
            <a:ext cx="858830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wiki_reindex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3" name="Text 43"/>
          <p:cNvSpPr txBox="1"/>
          <p:nvPr/>
        </p:nvSpPr>
        <p:spPr>
          <a:xfrm>
            <a:off x="8188523" y="4786483"/>
            <a:ext cx="1479502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index.md + search index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44" name="Picture 44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45" name="Text 45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20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46" name="Text 46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88142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04 · Agents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3593711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What a page looks like.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5715000" cy="3854648"/>
          </a:xfrm>
          <a:prstGeom prst="roundRect">
            <a:avLst>
              <a:gd name="adj" fmla="val 2636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343214"/>
            <a:ext cx="4532614" cy="34787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---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title: Ada Lovelace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type: entity         </a:t>
            </a:r>
            <a:r>
              <a:rPr lang="en-US" kern="100" sz="9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entity | concept | source | synthesis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summary: One sentence shown verbatim in index.md.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tags: [mathematics, computing]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created: 2026-04-02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updated: 2026-04-09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sources: [raw/some-article.md]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aliases: [Countess of Lovelace]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---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# Ada Lovelace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Worked with [[charles-babbage]] on the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[[concepts/analytical-engine|Analytical Engine]]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([[sources/some-article]]).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&gt; </a:t>
            </a:r>
            <a:r>
              <a:rPr lang="en-US" kern="100" sz="950" b="0" dirty="0">
                <a:solidFill>
                  <a:srgbClr val="E08A5E"/>
                </a:solidFill>
                <a:latin typeface="Menlo"/>
                <a:ea typeface="Menlo"/>
                <a:cs typeface="Menlo"/>
              </a:rPr>
              <a:t>**Contradiction:**</a:t>
            </a: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[[sources/a]] dates the notes to 1842,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&gt; [[sources/b]] to 1843.</a:t>
            </a:r>
            <a:endParaRPr lang="en-US" kern="100" sz="95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Shape 7"/>
          <p:cNvSpPr/>
          <p:nvPr/>
        </p:nvSpPr>
        <p:spPr>
          <a:xfrm>
            <a:off x="8911828" y="2171700"/>
            <a:ext cx="467221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9446121" y="2171700"/>
            <a:ext cx="618530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10131723" y="2171700"/>
            <a:ext cx="391616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6946900" y="2374205"/>
            <a:ext cx="618530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Shape 11"/>
          <p:cNvSpPr/>
          <p:nvPr/>
        </p:nvSpPr>
        <p:spPr>
          <a:xfrm>
            <a:off x="7632502" y="2374205"/>
            <a:ext cx="618530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6946900" y="2150129"/>
            <a:ext cx="3757366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Frontmatter feeds the index: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title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summary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type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b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updated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sources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731000" y="2247900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Shape 14"/>
          <p:cNvSpPr/>
          <p:nvPr/>
        </p:nvSpPr>
        <p:spPr>
          <a:xfrm>
            <a:off x="9587607" y="2678311"/>
            <a:ext cx="921147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946900" y="2656740"/>
            <a:ext cx="4640136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Wikilinks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by basename when unique, by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folder/slug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when not; lint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flags collisions and dangling links.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731000" y="2754511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946900" y="3163351"/>
            <a:ext cx="3463695" cy="2054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Contradictions are callouts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, never silent overwrites.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731000" y="3261122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348960" y="3489027"/>
            <a:ext cx="1148159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6946900" y="3467456"/>
            <a:ext cx="2690098" cy="2054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After hand edits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, run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llm-wiki index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6731000" y="3565227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7464425" y="3995638"/>
            <a:ext cx="542925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946900" y="3771562"/>
            <a:ext cx="4786868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HTML wikis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store the same metadata as JSON in the page head and the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body in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&lt;main&gt;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; the tool writes them from this same form.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6731000" y="3869333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5" name="Picture 25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21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88142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04 · Agents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6313837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A worked example, from one small note.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2335276"/>
            <a:ext cx="821579" cy="11953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2000" b="0" spc="-5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8</a:t>
            </a:r>
            <a:endParaRPr lang="en-US" kern="100" sz="12000" b="0" spc="-5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571500" y="3682810"/>
            <a:ext cx="3623120" cy="26054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38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500" b="0" dirty="0">
                <a:solidFill>
                  <a:srgbClr val="1B1D21"/>
                </a:solidFill>
                <a:latin typeface="Avenir Next Medium"/>
                <a:ea typeface="Avenir Next Medium"/>
                <a:cs typeface="Avenir Next Medium"/>
              </a:rPr>
              <a:t>pages from a four-line deployment note</a:t>
            </a:r>
            <a:endParaRPr lang="en-US" kern="100" sz="1500" b="0" dirty="0">
              <a:solidFill>
                <a:srgbClr val="1B1D21"/>
              </a:solidFill>
              <a:latin typeface="Avenir Next Medium"/>
              <a:ea typeface="Avenir Next Medium"/>
              <a:cs typeface="Avenir Next Medium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71500" y="4000373"/>
            <a:ext cx="4584097" cy="38430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One source page, six entities (the API, the team member, three Azure services, Docker) and one concept — all cross-linked, all indexed.</a:t>
            </a:r>
            <a:endParaRPr lang="en-US" kern="100" sz="1000" b="0" dirty="0">
              <a:solidFill>
                <a:srgbClr val="1B1D21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096000" y="2356148"/>
            <a:ext cx="1090414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7186414" y="2356148"/>
            <a:ext cx="4434086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0" name="Line 10"/>
          <p:cNvCxnSpPr/>
          <p:nvPr/>
        </p:nvCxnSpPr>
        <p:spPr>
          <a:xfrm>
            <a:off x="6096000" y="2702223"/>
            <a:ext cx="1090414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1" name="Line 11"/>
          <p:cNvCxnSpPr/>
          <p:nvPr/>
        </p:nvCxnSpPr>
        <p:spPr>
          <a:xfrm>
            <a:off x="7186414" y="2702223"/>
            <a:ext cx="4434086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2" name="Line 12"/>
          <p:cNvCxnSpPr/>
          <p:nvPr/>
        </p:nvCxnSpPr>
        <p:spPr>
          <a:xfrm>
            <a:off x="6096000" y="3045123"/>
            <a:ext cx="1090414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3" name="Line 13"/>
          <p:cNvCxnSpPr/>
          <p:nvPr/>
        </p:nvCxnSpPr>
        <p:spPr>
          <a:xfrm>
            <a:off x="7186414" y="3045123"/>
            <a:ext cx="4434086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4" name="Line 14"/>
          <p:cNvCxnSpPr/>
          <p:nvPr/>
        </p:nvCxnSpPr>
        <p:spPr>
          <a:xfrm>
            <a:off x="6096000" y="3559473"/>
            <a:ext cx="1090414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5" name="Line 15"/>
          <p:cNvCxnSpPr/>
          <p:nvPr/>
        </p:nvCxnSpPr>
        <p:spPr>
          <a:xfrm>
            <a:off x="7186414" y="3559473"/>
            <a:ext cx="4434086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6" name="Line 16"/>
          <p:cNvCxnSpPr/>
          <p:nvPr/>
        </p:nvCxnSpPr>
        <p:spPr>
          <a:xfrm>
            <a:off x="6096000" y="3902373"/>
            <a:ext cx="1090414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7" name="Line 17"/>
          <p:cNvCxnSpPr/>
          <p:nvPr/>
        </p:nvCxnSpPr>
        <p:spPr>
          <a:xfrm>
            <a:off x="7186414" y="3902373"/>
            <a:ext cx="4434086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8" name="Line 18"/>
          <p:cNvCxnSpPr/>
          <p:nvPr/>
        </p:nvCxnSpPr>
        <p:spPr>
          <a:xfrm>
            <a:off x="6096000" y="4416723"/>
            <a:ext cx="1090414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9" name="Line 19"/>
          <p:cNvCxnSpPr/>
          <p:nvPr/>
        </p:nvCxnSpPr>
        <p:spPr>
          <a:xfrm>
            <a:off x="7186414" y="4416723"/>
            <a:ext cx="4434086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sp>
        <p:nvSpPr>
          <p:cNvPr id="20" name="Text 20"/>
          <p:cNvSpPr txBox="1"/>
          <p:nvPr/>
        </p:nvSpPr>
        <p:spPr>
          <a:xfrm>
            <a:off x="6096000" y="2157143"/>
            <a:ext cx="247154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Step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7186414" y="2157143"/>
            <a:ext cx="365697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Result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6096000" y="2449683"/>
            <a:ext cx="375190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ingest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7186414" y="2449683"/>
            <a:ext cx="3637566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8 pages written · index and log updated · 17 chunks indexed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6096000" y="2792583"/>
            <a:ext cx="895771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index --embed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7186414" y="2792583"/>
            <a:ext cx="2949408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17 embeddings computed once, cached by hash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6096000" y="3135483"/>
            <a:ext cx="852130" cy="34143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search --mode hybrid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7186414" y="3135483"/>
            <a:ext cx="4157627" cy="34143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"where does production config live" → the configuration-management page, first hit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6096000" y="3649833"/>
            <a:ext cx="659162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query --file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7186414" y="3649833"/>
            <a:ext cx="280556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Answer cited 5 pages · filed under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syntheses/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6096000" y="3992733"/>
            <a:ext cx="993180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lint --llm --report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7186414" y="3992733"/>
            <a:ext cx="4301841" cy="34143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Suggested a missing page (Azure App Configuration), one missing cross-reference, three next questions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571500" y="6032768"/>
            <a:ext cx="4745490" cy="12486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Run on 2026-09-12 with gemini-3.6-flash as chat and parser model and text-embedding-3-small for embeddings.</a:t>
            </a:r>
            <a:endParaRPr lang="en-US" kern="100" sz="700" b="0" dirty="0">
              <a:solidFill>
                <a:srgbClr val="1B1D21">
                  <a:alpha val="5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33" name="Picture 33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34" name="Text 34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22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35" name="Text 35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88142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04 · Agents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4603504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When it stops, it tells you why.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292648"/>
            <a:ext cx="4572000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>
            <a:off x="5143500" y="2292648"/>
            <a:ext cx="6477000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7" name="Line 7"/>
          <p:cNvCxnSpPr/>
          <p:nvPr/>
        </p:nvCxnSpPr>
        <p:spPr>
          <a:xfrm>
            <a:off x="571500" y="2638723"/>
            <a:ext cx="4572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8" name="Line 8"/>
          <p:cNvCxnSpPr/>
          <p:nvPr/>
        </p:nvCxnSpPr>
        <p:spPr>
          <a:xfrm>
            <a:off x="5143500" y="2638723"/>
            <a:ext cx="647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9" name="Line 9"/>
          <p:cNvCxnSpPr/>
          <p:nvPr/>
        </p:nvCxnSpPr>
        <p:spPr>
          <a:xfrm>
            <a:off x="571500" y="2981623"/>
            <a:ext cx="4572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0" name="Line 10"/>
          <p:cNvCxnSpPr/>
          <p:nvPr/>
        </p:nvCxnSpPr>
        <p:spPr>
          <a:xfrm>
            <a:off x="5143500" y="2981623"/>
            <a:ext cx="647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1" name="Line 11"/>
          <p:cNvCxnSpPr/>
          <p:nvPr/>
        </p:nvCxnSpPr>
        <p:spPr>
          <a:xfrm>
            <a:off x="571500" y="3324523"/>
            <a:ext cx="4572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2" name="Line 12"/>
          <p:cNvCxnSpPr/>
          <p:nvPr/>
        </p:nvCxnSpPr>
        <p:spPr>
          <a:xfrm>
            <a:off x="5143500" y="3324523"/>
            <a:ext cx="647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3" name="Line 13"/>
          <p:cNvCxnSpPr/>
          <p:nvPr/>
        </p:nvCxnSpPr>
        <p:spPr>
          <a:xfrm>
            <a:off x="571500" y="3667423"/>
            <a:ext cx="4572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4" name="Line 14"/>
          <p:cNvCxnSpPr/>
          <p:nvPr/>
        </p:nvCxnSpPr>
        <p:spPr>
          <a:xfrm>
            <a:off x="5143500" y="3667423"/>
            <a:ext cx="647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5" name="Line 15"/>
          <p:cNvCxnSpPr/>
          <p:nvPr/>
        </p:nvCxnSpPr>
        <p:spPr>
          <a:xfrm>
            <a:off x="571500" y="4147443"/>
            <a:ext cx="4572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6" name="Line 16"/>
          <p:cNvCxnSpPr/>
          <p:nvPr/>
        </p:nvCxnSpPr>
        <p:spPr>
          <a:xfrm>
            <a:off x="5143500" y="4147443"/>
            <a:ext cx="647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7" name="Line 17"/>
          <p:cNvCxnSpPr/>
          <p:nvPr/>
        </p:nvCxnSpPr>
        <p:spPr>
          <a:xfrm>
            <a:off x="571500" y="4490343"/>
            <a:ext cx="4572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8" name="Line 18"/>
          <p:cNvCxnSpPr/>
          <p:nvPr/>
        </p:nvCxnSpPr>
        <p:spPr>
          <a:xfrm>
            <a:off x="5143500" y="4490343"/>
            <a:ext cx="647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9" name="Line 19"/>
          <p:cNvCxnSpPr/>
          <p:nvPr/>
        </p:nvCxnSpPr>
        <p:spPr>
          <a:xfrm>
            <a:off x="571500" y="4833243"/>
            <a:ext cx="4572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20" name="Line 20"/>
          <p:cNvCxnSpPr/>
          <p:nvPr/>
        </p:nvCxnSpPr>
        <p:spPr>
          <a:xfrm>
            <a:off x="5143500" y="4833243"/>
            <a:ext cx="64770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sp>
        <p:nvSpPr>
          <p:cNvPr id="21" name="Text 21"/>
          <p:cNvSpPr txBox="1"/>
          <p:nvPr/>
        </p:nvSpPr>
        <p:spPr>
          <a:xfrm>
            <a:off x="571500" y="2093643"/>
            <a:ext cx="426577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Message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5143500" y="2093643"/>
            <a:ext cx="609425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What to do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571500" y="2382151"/>
            <a:ext cx="3721560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No wiki selected. / No wiki named "x" is registered.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5143500" y="2385878"/>
            <a:ext cx="4749617" cy="17029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Pass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--wiki &lt;name&gt;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(the message lists them), or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llm-wiki wikis use &lt;name&gt;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571500" y="2725051"/>
            <a:ext cx="3506827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Missing required configuration setting LLM_WIKI_…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5143500" y="2729083"/>
            <a:ext cx="4682958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Add it to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~/.tool-agents/llm-wiki/.env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or the shell — there are no defaults.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571500" y="3067951"/>
            <a:ext cx="3077464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… is not an initialised wiki (missing raw/)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5143500" y="3071678"/>
            <a:ext cx="1911136" cy="17029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Run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llm-wiki init &lt;dir&gt;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first.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571500" y="3410851"/>
            <a:ext cx="3506827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… is a PDF/DOCX original and needs the parser LLM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5143500" y="3414578"/>
            <a:ext cx="2703925" cy="17029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Set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LLM_WIKI_PARSER_PROVIDER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and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_MODEL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571500" y="3753751"/>
            <a:ext cx="4457700" cy="3070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Search mode "hybrid" needs an embedding provider / No embeddings are stored yet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5143500" y="3757783"/>
            <a:ext cx="3643551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Set the embedding settings, then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llm-wiki index --embed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571500" y="4233771"/>
            <a:ext cx="3363706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… hit the N-token output limit before finishing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5143500" y="4237803"/>
            <a:ext cx="3860864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Raise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--max-tokens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(ingest, query, lint) or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--parse-max-tokens</a:t>
            </a: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5" name="Text 35"/>
          <p:cNvSpPr txBox="1"/>
          <p:nvPr/>
        </p:nvSpPr>
        <p:spPr>
          <a:xfrm>
            <a:off x="571500" y="4576671"/>
            <a:ext cx="3793069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… is above the --max-source-chars / --max-bytes limit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6" name="Text 36"/>
          <p:cNvSpPr txBox="1"/>
          <p:nvPr/>
        </p:nvSpPr>
        <p:spPr>
          <a:xfrm>
            <a:off x="5143500" y="4580703"/>
            <a:ext cx="3974989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Split the source or raise the limit — the tool never truncates silently.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571500" y="6032768"/>
            <a:ext cx="4630333" cy="1216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Add 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Courier New"/>
                <a:ea typeface="Courier New"/>
                <a:cs typeface="Courier New"/>
              </a:rPr>
              <a:t>--verbose</a:t>
            </a:r>
            <a:r>
              <a:rPr lang="en-US" kern="100" sz="700" b="0" dirty="0">
                <a:solidFill>
                  <a:srgbClr val="1B1D21">
                    <a:alpha val="50000"/>
                  </a:srgbClr>
                </a:solidFill>
                <a:latin typeface="Avenir Next"/>
                <a:ea typeface="Avenir Next"/>
                <a:cs typeface="Avenir Next"/>
              </a:rPr>
              <a:t> to any command for a stack trace. Exit codes: 2 configuration, 3 LLM request, 1 anything else.</a:t>
            </a:r>
            <a:endParaRPr lang="en-US" kern="100" sz="700" b="0" dirty="0">
              <a:solidFill>
                <a:srgbClr val="1B1D21">
                  <a:alpha val="5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38" name="Picture 38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39" name="Text 39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23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40" name="Text 40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  <a:solidFill>
            <a:srgbClr val="2E3238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2"/>
          <a:srcRect l="0" t="20140" r="0" b="20140"/>
          <a:stretch>
            <a:fillRect/>
          </a:stretch>
        </p:blipFill>
        <p:spPr>
          <a:xfrm>
            <a:off x="4826000" y="635000"/>
            <a:ext cx="6985000" cy="5588000"/>
          </a:xfrm>
          <a:prstGeom prst="roundRect">
            <a:avLst>
              <a:gd name="adj" fmla="val 2727"/>
            </a:avLst>
          </a:prstGeom>
        </p:spPr>
      </p:pic>
      <p:sp>
        <p:nvSpPr>
          <p:cNvPr id="4" name="Text 4"/>
          <p:cNvSpPr txBox="1"/>
          <p:nvPr/>
        </p:nvSpPr>
        <p:spPr>
          <a:xfrm>
            <a:off x="508000" y="2408428"/>
            <a:ext cx="1521603" cy="127139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0" b="0" spc="-400" dirty="0">
                <a:solidFill>
                  <a:srgbClr val="E08A5E"/>
                </a:solidFill>
                <a:latin typeface="Avenir Next Ultra Light"/>
                <a:ea typeface="Avenir Next Ultra Light"/>
                <a:cs typeface="Avenir Next Ultra Light"/>
              </a:rPr>
              <a:t>05</a:t>
            </a:r>
            <a:endParaRPr lang="en-US" kern="100" sz="11000" b="0" spc="-400" dirty="0">
              <a:solidFill>
                <a:srgbClr val="E08A5E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571500" y="3770103"/>
            <a:ext cx="3882120" cy="35708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900" b="0" spc="-50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  <a:t>Many wikis, two formats.</a:t>
            </a:r>
            <a:endParaRPr lang="en-US" kern="100" sz="2900" b="0" spc="-50" dirty="0">
              <a:solidFill>
                <a:srgbClr val="F6F3EC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571500" y="4695368"/>
            <a:ext cx="3811480" cy="5877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0" dirty="0">
                <a:solidFill>
                  <a:srgbClr val="F6F3EC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Keep one wiki per subject, pick the one each command works on, ask across them — and read them as markdown or in the browser.</a:t>
            </a:r>
            <a:endParaRPr lang="en-US" kern="100" sz="1100" b="0" dirty="0">
              <a:solidFill>
                <a:srgbClr val="F6F3EC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7" name="Picture 7" descr="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70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24</a:t>
            </a:r>
            <a:endParaRPr lang="en-US" kern="100" sz="900" b="0" spc="20" dirty="0">
              <a:solidFill>
                <a:srgbClr val="FFFFFF">
                  <a:alpha val="70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358900" y="6459106"/>
            <a:ext cx="130944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FFFFFF">
                    <a:alpha val="49000"/>
                  </a:srgbClr>
                </a:solidFill>
                <a:latin typeface="Avenir Next"/>
                <a:ea typeface="Avenir Next"/>
                <a:cs typeface="Avenir Next"/>
              </a:rPr>
              <a:t>Section 05 · Many wikis</a:t>
            </a:r>
            <a:endParaRPr lang="en-US" kern="100" sz="900" b="0" spc="20" dirty="0">
              <a:solidFill>
                <a:srgbClr val="FFFFFF">
                  <a:alpha val="49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20192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05 · Many wikis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7509677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A registry of wikis — every command names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one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6096000" cy="2727523"/>
          </a:xfrm>
          <a:prstGeom prst="roundRect">
            <a:avLst>
              <a:gd name="adj" fmla="val 3725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334197"/>
            <a:ext cx="5260292" cy="23567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wikis list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* notes      ~/notes-wiki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  Personal notes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  markdown, 42 page(s), 0 pending source(s)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handbook   ~/handbook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  Team handbook, read in a browser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  html, 118 page(s), 2 pending source(s)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--wiki handbook ingest ~/Downloads/onboarding.pdf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wikis use handbook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change the default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wikis add old ~/old-wiki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register an existing one</a:t>
            </a:r>
            <a:endParaRPr lang="en-US" kern="100" sz="1050" b="0" dirty="0">
              <a:solidFill>
                <a:srgbClr val="F6F3EC">
                  <a:alpha val="50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785001" y="2637730"/>
            <a:ext cx="894060" cy="146050"/>
          </a:xfrm>
          <a:prstGeom prst="roundRect">
            <a:avLst>
              <a:gd name="adj" fmla="val 2173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8778577" y="2637730"/>
            <a:ext cx="894060" cy="146050"/>
          </a:xfrm>
          <a:prstGeom prst="roundRect">
            <a:avLst>
              <a:gd name="adj" fmla="val 2173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8071644" y="3205361"/>
            <a:ext cx="646311" cy="146050"/>
          </a:xfrm>
          <a:prstGeom prst="roundRect">
            <a:avLst>
              <a:gd name="adj" fmla="val 2173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8766969" y="3772991"/>
            <a:ext cx="460573" cy="146050"/>
          </a:xfrm>
          <a:prstGeom prst="roundRect">
            <a:avLst>
              <a:gd name="adj" fmla="val 2173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048500" y="2162937"/>
            <a:ext cx="1743146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How a command picks its wiki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7048500" y="2419706"/>
            <a:ext cx="156468" cy="2536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200" b="0" spc="-1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1</a:t>
            </a:r>
            <a:endParaRPr lang="en-US" kern="100" sz="2200" b="0" spc="-1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7645400" y="2398573"/>
            <a:ext cx="1971500" cy="16174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--wiki &lt;name&gt; or --root &lt;dir&gt;</a:t>
            </a:r>
            <a:endParaRPr lang="en-US" kern="100" sz="11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7645400" y="2619562"/>
            <a:ext cx="2062099" cy="17691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or </a:t>
            </a:r>
            <a:r>
              <a:rPr lang="en-US" kern="100" sz="81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81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LLM_WIKI_NAME</a:t>
            </a:r>
            <a:r>
              <a:rPr lang="en-US" kern="100" sz="81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/ </a:t>
            </a:r>
            <a:r>
              <a:rPr lang="en-US" kern="100" sz="81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81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LLM_WIKI_ROOT</a:t>
            </a:r>
            <a:r>
              <a:rPr lang="en-US" kern="100" sz="81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endParaRPr lang="en-US" kern="100" sz="810" b="0" spc="350" dirty="0">
              <a:solidFill>
                <a:srgbClr val="1B1D21">
                  <a:alpha val="78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7048500" y="2987336"/>
            <a:ext cx="156468" cy="2536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200" b="0" spc="-1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2</a:t>
            </a:r>
            <a:endParaRPr lang="en-US" kern="100" sz="2200" b="0" spc="-1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7645400" y="2966203"/>
            <a:ext cx="1039924" cy="16174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the current wiki</a:t>
            </a:r>
            <a:endParaRPr lang="en-US" kern="100" sz="11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7645400" y="3187192"/>
            <a:ext cx="1069229" cy="17691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set with </a:t>
            </a:r>
            <a:r>
              <a:rPr lang="en-US" kern="100" sz="81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81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wikis use</a:t>
            </a:r>
            <a:r>
              <a:rPr lang="en-US" kern="100" sz="81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endParaRPr lang="en-US" kern="100" sz="810" b="0" spc="350" dirty="0">
              <a:solidFill>
                <a:srgbClr val="1B1D21">
                  <a:alpha val="78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7048500" y="3554967"/>
            <a:ext cx="156468" cy="2536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200" b="0" spc="-100" dirty="0">
                <a:solidFill>
                  <a:srgbClr val="C8623A"/>
                </a:solidFill>
                <a:latin typeface="Avenir Next Ultra Light"/>
                <a:ea typeface="Avenir Next Ultra Light"/>
                <a:cs typeface="Avenir Next Ultra Light"/>
              </a:rPr>
              <a:t>3</a:t>
            </a:r>
            <a:endParaRPr lang="en-US" kern="100" sz="2200" b="0" spc="-100" dirty="0">
              <a:solidFill>
                <a:srgbClr val="C8623A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7645400" y="3533834"/>
            <a:ext cx="1280454" cy="16174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ask on the terminal</a:t>
            </a:r>
            <a:endParaRPr lang="en-US" kern="100" sz="11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7645400" y="3755097"/>
            <a:ext cx="2100898" cy="1766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a numbered prompt; </a:t>
            </a:r>
            <a:r>
              <a:rPr lang="en-US" kern="100" sz="81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810" b="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--pick</a:t>
            </a:r>
            <a:r>
              <a:rPr lang="en-US" kern="100" sz="810" b="0" spc="350" dirty="0">
                <a:solidFill>
                  <a:srgbClr val="1B1D21">
                    <a:alpha val="78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0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forces it</a:t>
            </a:r>
            <a:endParaRPr lang="en-US" kern="100" sz="90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7048500" y="4117047"/>
            <a:ext cx="4325624" cy="34809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Otherwise the command stops and lists the wikis. Registry: </a:t>
            </a:r>
            <a:r>
              <a:rPr lang="en-US" kern="100" sz="810" b="0" dirty="0">
                <a:solidFill>
                  <a:srgbClr val="1B1D21">
                    <a:alpha val="70000"/>
                  </a:srgbClr>
                </a:solidFill>
                <a:latin typeface="Menlo"/>
                <a:ea typeface="Menlo"/>
                <a:cs typeface="Menlo"/>
              </a:rPr>
              <a:t>~/.tool-agents/llm-wiki/wikis.json</a:t>
            </a:r>
            <a:r>
              <a:rPr lang="en-US" kern="100" sz="900" b="0" dirty="0">
                <a:solidFill>
                  <a:srgbClr val="1B1D21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900" b="0" dirty="0">
              <a:solidFill>
                <a:srgbClr val="1B1D21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22" name="Picture 22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25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201928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05 · Many wikis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4314476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Search and ask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across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wikis.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6731000" cy="2889746"/>
          </a:xfrm>
          <a:prstGeom prst="roundRect">
            <a:avLst>
              <a:gd name="adj" fmla="val 3516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343214"/>
            <a:ext cx="5212517" cy="251382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search "enigma" --all-wikis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1. [notes] wiki/entities/bombe.md › Bombe  (0.033)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2. [site]  wiki/concepts/enigma-cipher.html › Enigma Cipher  (0.032)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query "How did the Polish work relate to Turing's?" \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  --wikis site,notes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The Polish </a:t>
            </a:r>
            <a:r>
              <a:rPr lang="en-US" kern="100" sz="950" b="0" dirty="0">
                <a:solidFill>
                  <a:srgbClr val="E08A5E"/>
                </a:solidFill>
                <a:latin typeface="Menlo"/>
                <a:ea typeface="Menlo"/>
                <a:cs typeface="Menlo"/>
              </a:rPr>
              <a:t>bomba</a:t>
            </a: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(1938) was the basis of Turing's British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Bombe [[notes:entities/bombe]], designed at Bletchley Park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[[site:entities/bletchley-park]] …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### Sources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E3A64A"/>
                </a:solidFill>
                <a:latin typeface="Menlo"/>
                <a:ea typeface="Menlo"/>
                <a:cs typeface="Menlo"/>
              </a:rPr>
              <a:t>notes</a:t>
            </a: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· [[notes:entities/bombe]] · [[notes:entities/marian-rejewski]]</a:t>
            </a:r>
            <a:b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950" b="0" dirty="0">
                <a:solidFill>
                  <a:srgbClr val="E3A64A"/>
                </a:solidFill>
                <a:latin typeface="Menlo"/>
                <a:ea typeface="Menlo"/>
                <a:cs typeface="Menlo"/>
              </a:rPr>
              <a:t>site</a:t>
            </a:r>
            <a:r>
              <a:rPr lang="en-US" kern="100" sz="9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  · [[site:entities/bletchley-park]] · …</a:t>
            </a:r>
            <a:endParaRPr lang="en-US" kern="100" sz="950" b="0" dirty="0">
              <a:solidFill>
                <a:srgbClr val="F6F3E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899400" y="2150129"/>
            <a:ext cx="3717536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Fair ranking: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each wiki is searched on its own index; the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lists are merged by reciprocal-rank fusion.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683500" y="2247900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7899400" y="2880816"/>
            <a:ext cx="618530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8832552" y="2880816"/>
            <a:ext cx="1223764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899400" y="2656740"/>
            <a:ext cx="3204488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One budget: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the best pages from all wikis share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b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</a:b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--pages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and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--context-chars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7683500" y="2754511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8199239" y="3589933"/>
            <a:ext cx="542925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899400" y="3163351"/>
            <a:ext cx="3795649" cy="61041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Citations name the wiki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and every wiki consulted gets a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log entry. A cross-wiki answer is not filed — re-ask one wiki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with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--file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7683500" y="3261122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6" name="Picture 16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26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282002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05 · Two formats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4847542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Markdown or HTML —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per wiki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356148"/>
            <a:ext cx="1079500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>
            <a:off x="1651000" y="2356148"/>
            <a:ext cx="2193826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3844826" y="2356148"/>
            <a:ext cx="2060674" cy="6350"/>
          </a:xfrm>
          <a:prstGeom prst="rect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8" name="Line 8"/>
          <p:cNvCxnSpPr/>
          <p:nvPr/>
        </p:nvCxnSpPr>
        <p:spPr>
          <a:xfrm>
            <a:off x="571500" y="2702223"/>
            <a:ext cx="1079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9" name="Line 9"/>
          <p:cNvCxnSpPr/>
          <p:nvPr/>
        </p:nvCxnSpPr>
        <p:spPr>
          <a:xfrm>
            <a:off x="1651000" y="2702223"/>
            <a:ext cx="2193826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0" name="Line 10"/>
          <p:cNvCxnSpPr/>
          <p:nvPr/>
        </p:nvCxnSpPr>
        <p:spPr>
          <a:xfrm>
            <a:off x="3844826" y="2702223"/>
            <a:ext cx="2060674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1" name="Line 11"/>
          <p:cNvCxnSpPr/>
          <p:nvPr/>
        </p:nvCxnSpPr>
        <p:spPr>
          <a:xfrm>
            <a:off x="571500" y="3045123"/>
            <a:ext cx="1079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2" name="Line 12"/>
          <p:cNvCxnSpPr/>
          <p:nvPr/>
        </p:nvCxnSpPr>
        <p:spPr>
          <a:xfrm>
            <a:off x="1651000" y="3045123"/>
            <a:ext cx="2193826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3" name="Line 13"/>
          <p:cNvCxnSpPr/>
          <p:nvPr/>
        </p:nvCxnSpPr>
        <p:spPr>
          <a:xfrm>
            <a:off x="3844826" y="3045123"/>
            <a:ext cx="2060674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4" name="Line 14"/>
          <p:cNvCxnSpPr/>
          <p:nvPr/>
        </p:nvCxnSpPr>
        <p:spPr>
          <a:xfrm>
            <a:off x="571500" y="3388023"/>
            <a:ext cx="1079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5" name="Line 15"/>
          <p:cNvCxnSpPr/>
          <p:nvPr/>
        </p:nvCxnSpPr>
        <p:spPr>
          <a:xfrm>
            <a:off x="1651000" y="3388023"/>
            <a:ext cx="2193826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6" name="Line 16"/>
          <p:cNvCxnSpPr/>
          <p:nvPr/>
        </p:nvCxnSpPr>
        <p:spPr>
          <a:xfrm>
            <a:off x="3844826" y="3388023"/>
            <a:ext cx="2060674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7" name="Line 17"/>
          <p:cNvCxnSpPr/>
          <p:nvPr/>
        </p:nvCxnSpPr>
        <p:spPr>
          <a:xfrm>
            <a:off x="571500" y="3730923"/>
            <a:ext cx="1079500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8" name="Line 18"/>
          <p:cNvCxnSpPr/>
          <p:nvPr/>
        </p:nvCxnSpPr>
        <p:spPr>
          <a:xfrm>
            <a:off x="1651000" y="3730923"/>
            <a:ext cx="2193826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cxnSp>
        <p:nvCxnSpPr>
          <p:cNvPr id="19" name="Line 19"/>
          <p:cNvCxnSpPr/>
          <p:nvPr/>
        </p:nvCxnSpPr>
        <p:spPr>
          <a:xfrm>
            <a:off x="3844826" y="3730923"/>
            <a:ext cx="2060674" cy="1"/>
          </a:xfrm>
          <a:prstGeom prst="line">
            <a:avLst/>
          </a:prstGeom>
          <a:ln w="6350">
            <a:solidFill>
              <a:srgbClr val="1B1D21">
                <a:alpha val="14000"/>
              </a:srgbClr>
            </a:solidFill>
            <a:custDash>
              <a:ds d="275000" sp="250000"/>
            </a:custDash>
            <a:miter lim="800000"/>
          </a:ln>
        </p:spPr>
      </p:cxnSp>
      <p:sp>
        <p:nvSpPr>
          <p:cNvPr id="20" name="Text 20"/>
          <p:cNvSpPr txBox="1"/>
          <p:nvPr/>
        </p:nvSpPr>
        <p:spPr>
          <a:xfrm>
            <a:off x="1651000" y="2157143"/>
            <a:ext cx="487561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markdown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3844826" y="2157143"/>
            <a:ext cx="247154" cy="11155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7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html</a:t>
            </a:r>
            <a:endParaRPr lang="en-US" kern="100" sz="650" b="1" cap="all" spc="7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571500" y="2449683"/>
            <a:ext cx="306090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Page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1651000" y="2445651"/>
            <a:ext cx="858830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wiki/&lt;id&gt;.md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3844826" y="2445651"/>
            <a:ext cx="1001951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wiki/&lt;id&gt;.html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571500" y="2792583"/>
            <a:ext cx="587550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Metadata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1651000" y="2792583"/>
            <a:ext cx="1052822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YAML frontmatter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3844826" y="2792583"/>
            <a:ext cx="1408819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JSON in the page head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571500" y="3135483"/>
            <a:ext cx="310158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Links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1651000" y="3131451"/>
            <a:ext cx="1145072" cy="1527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[[ada-lovelace]]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3844826" y="3135178"/>
            <a:ext cx="1043742" cy="17029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relative </a:t>
            </a:r>
            <a:r>
              <a:rPr lang="en-US" kern="100" sz="90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&lt;a href&gt;</a:t>
            </a:r>
            <a:endParaRPr lang="en-US" kern="100" sz="900" b="0" dirty="0">
              <a:solidFill>
                <a:srgbClr val="1B1D21">
                  <a:alpha val="85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571500" y="3478383"/>
            <a:ext cx="458256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Read in</a:t>
            </a:r>
            <a:endParaRPr lang="en-US" kern="100" sz="10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1651000" y="3478383"/>
            <a:ext cx="1507569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Obsidian, editors, agents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3844826" y="3478383"/>
            <a:ext cx="1166535" cy="16998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any browser, offline</a:t>
            </a:r>
            <a:endParaRPr lang="en-US" kern="100" sz="10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1493937" y="3965873"/>
            <a:ext cx="1072455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Text 35"/>
          <p:cNvSpPr txBox="1"/>
          <p:nvPr/>
        </p:nvSpPr>
        <p:spPr>
          <a:xfrm>
            <a:off x="787400" y="3944302"/>
            <a:ext cx="3737658" cy="2054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Chosen at </a:t>
            </a:r>
            <a:r>
              <a:rPr lang="en-US" kern="100" sz="990" b="1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1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init --format</a:t>
            </a:r>
            <a:r>
              <a:rPr lang="en-US" kern="100" sz="990" b="1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— required, never defaulted.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571500" y="4042073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Shape 37"/>
          <p:cNvSpPr/>
          <p:nvPr/>
        </p:nvSpPr>
        <p:spPr>
          <a:xfrm>
            <a:off x="1141313" y="4472484"/>
            <a:ext cx="769838" cy="171450"/>
          </a:xfrm>
          <a:prstGeom prst="roundRect">
            <a:avLst>
              <a:gd name="adj" fmla="val 18519"/>
            </a:avLst>
          </a:prstGeom>
          <a:solidFill>
            <a:srgbClr val="1B1D21">
              <a:alpha val="6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787400" y="4248407"/>
            <a:ext cx="5269270" cy="40790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1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Same commands: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the LLM writes frontmatter + body; the tool builds the HTML,</a:t>
            </a:r>
            <a:b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</a:b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turns 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990" b="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[[links]]</a:t>
            </a:r>
            <a:r>
              <a:rPr lang="en-US" kern="100" sz="990" b="0" spc="350" dirty="0">
                <a:solidFill>
                  <a:srgbClr val="1B1D21">
                    <a:alpha val="85000"/>
                  </a:srgbClr>
                </a:solidFill>
                <a:latin typeface="Menlo"/>
                <a:ea typeface="Menlo"/>
                <a:cs typeface="Menlo"/>
              </a:rPr>
              <a:t>​</a:t>
            </a:r>
            <a:r>
              <a:rPr lang="en-US" kern="100" sz="1100" b="0" dirty="0">
                <a:solidFill>
                  <a:srgbClr val="1B1D21">
                    <a:alpha val="85000"/>
                  </a:srgbClr>
                </a:solidFill>
                <a:latin typeface="Avenir Next"/>
                <a:ea typeface="Avenir Next"/>
                <a:cs typeface="Avenir Next"/>
              </a:rPr>
              <a:t> into real links and disables scripts.</a:t>
            </a:r>
            <a:endParaRPr lang="en-US" kern="100" sz="1100" b="0" dirty="0">
              <a:solidFill>
                <a:srgbClr val="1B1D21">
                  <a:alpha val="85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571500" y="4346178"/>
            <a:ext cx="1016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0" name="Shape 40"/>
          <p:cNvSpPr/>
          <p:nvPr/>
        </p:nvSpPr>
        <p:spPr>
          <a:xfrm>
            <a:off x="6350000" y="2095500"/>
            <a:ext cx="5270500" cy="3873500"/>
          </a:xfrm>
          <a:prstGeom prst="roundRect">
            <a:avLst>
              <a:gd name="adj" fmla="val 2623"/>
            </a:avLst>
          </a:prstGeom>
          <a:solidFill>
            <a:srgbClr val="FBFAF7"/>
          </a:solidFill>
          <a:ln>
            <a:noFill/>
          </a:ln>
          <a:effectLst>
            <a:outerShdw blurRad="411480" dist="114300" dir="5400000" sx="94217" sy="92131" algn="ctr" rotWithShape="0">
              <a:srgbClr val="1B1D21">
                <a:alpha val="2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1" name="Shape 41"/>
          <p:cNvSpPr/>
          <p:nvPr/>
        </p:nvSpPr>
        <p:spPr>
          <a:xfrm>
            <a:off x="6353175" y="2098675"/>
            <a:ext cx="5264150" cy="3867150"/>
          </a:xfrm>
          <a:prstGeom prst="roundRect">
            <a:avLst>
              <a:gd name="adj" fmla="val 2545"/>
            </a:avLst>
          </a:prstGeom>
          <a:noFill/>
          <a:ln w="6350">
            <a:solidFill>
              <a:srgbClr val="1B1D21">
                <a:alpha val="10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2" name="Shape 42"/>
          <p:cNvSpPr/>
          <p:nvPr/>
        </p:nvSpPr>
        <p:spPr>
          <a:xfrm>
            <a:off x="6356350" y="2101850"/>
            <a:ext cx="5257800" cy="190500"/>
          </a:xfrm>
          <a:custGeom>
            <a:avLst/>
            <a:gdLst/>
            <a:ahLst/>
            <a:cxnLst/>
            <a:rect l="0" t="0" r="r" b="b"/>
            <a:pathLst>
              <a:path w="5257800" h="190500">
                <a:moveTo>
                  <a:pt x="95250" y="0"/>
                </a:moveTo>
                <a:lnTo>
                  <a:pt x="5162550" y="0"/>
                </a:lnTo>
                <a:arcTo wR="95250" hR="95250" stAng="16200000" swAng="5400000"/>
                <a:lnTo>
                  <a:pt x="5257800" y="190500"/>
                </a:lnTo>
                <a:lnTo>
                  <a:pt x="0" y="190500"/>
                </a:lnTo>
                <a:lnTo>
                  <a:pt x="0" y="95250"/>
                </a:lnTo>
                <a:arcTo wR="95250" hR="95250" stAng="10800000" swAng="5400000"/>
                <a:close/>
              </a:path>
            </a:pathLst>
          </a:custGeom>
          <a:solidFill>
            <a:srgbClr val="ECE8DF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3" name="Shape 43"/>
          <p:cNvSpPr/>
          <p:nvPr/>
        </p:nvSpPr>
        <p:spPr>
          <a:xfrm>
            <a:off x="6445250" y="2165350"/>
            <a:ext cx="63500" cy="63500"/>
          </a:xfrm>
          <a:prstGeom prst="ellipse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4" name="Shape 44"/>
          <p:cNvSpPr/>
          <p:nvPr/>
        </p:nvSpPr>
        <p:spPr>
          <a:xfrm>
            <a:off x="6559550" y="2165350"/>
            <a:ext cx="63500" cy="63500"/>
          </a:xfrm>
          <a:prstGeom prst="ellipse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5" name="Shape 45"/>
          <p:cNvSpPr/>
          <p:nvPr/>
        </p:nvSpPr>
        <p:spPr>
          <a:xfrm>
            <a:off x="6673850" y="2165350"/>
            <a:ext cx="63500" cy="63500"/>
          </a:xfrm>
          <a:prstGeom prst="ellipse">
            <a:avLst/>
          </a:prstGeom>
          <a:solidFill>
            <a:srgbClr val="1B1D21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6" name="Text 46"/>
          <p:cNvSpPr txBox="1"/>
          <p:nvPr/>
        </p:nvSpPr>
        <p:spPr>
          <a:xfrm>
            <a:off x="6851650" y="2153412"/>
            <a:ext cx="1550702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0" dirty="0">
                <a:solidFill>
                  <a:srgbClr val="1B1D21">
                    <a:alpha val="55000"/>
                  </a:srgbClr>
                </a:solidFill>
                <a:latin typeface="Menlo"/>
                <a:ea typeface="Menlo"/>
                <a:cs typeface="Menlo"/>
              </a:rPr>
              <a:t>wiki/entities/alan-turing.html</a:t>
            </a:r>
            <a:endParaRPr lang="en-US" kern="100" sz="650" b="0" dirty="0">
              <a:solidFill>
                <a:srgbClr val="1B1D21">
                  <a:alpha val="55000"/>
                </a:srgbClr>
              </a:solidFill>
              <a:latin typeface="Menlo"/>
              <a:ea typeface="Menlo"/>
              <a:cs typeface="Menlo"/>
            </a:endParaRPr>
          </a:p>
        </p:txBody>
      </p:sp>
      <p:pic>
        <p:nvPicPr>
          <p:cNvPr id="47" name="Picture 47" descr="An HTML wiki page in the browser: Alan Turing, with linked key contributions"/>
          <p:cNvPicPr>
            <a:picLocks noChangeAspect="1"/>
          </p:cNvPicPr>
          <p:nvPr/>
        </p:nvPicPr>
        <p:blipFill>
          <a:blip r:embed="rId2"/>
          <a:srcRect l="0" t="0" r="0" b="14681"/>
          <a:stretch>
            <a:fillRect/>
          </a:stretch>
        </p:blipFill>
        <p:spPr>
          <a:xfrm>
            <a:off x="6356350" y="2292350"/>
            <a:ext cx="5257800" cy="3670300"/>
          </a:xfrm>
          <a:custGeom>
            <a:avLst/>
            <a:gdLst/>
            <a:ahLst/>
            <a:cxnLst/>
            <a:rect l="0" t="0" r="r" b="b"/>
            <a:pathLst>
              <a:path w="5257800" h="3670300">
                <a:moveTo>
                  <a:pt x="0" y="0"/>
                </a:moveTo>
                <a:lnTo>
                  <a:pt x="5257800" y="0"/>
                </a:lnTo>
                <a:lnTo>
                  <a:pt x="5257800" y="3575050"/>
                </a:lnTo>
                <a:arcTo wR="95250" hR="95250" stAng="0" swAng="5400000"/>
                <a:lnTo>
                  <a:pt x="95250" y="3670300"/>
                </a:lnTo>
                <a:arcTo wR="95250" hR="95250" stAng="5400000" swAng="5400000"/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8" name="Picture 48" descr="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49" name="Text 49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27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50" name="Text 50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71500" y="448247"/>
            <a:ext cx="1282002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25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05 · Two formats</a:t>
            </a:r>
            <a:endParaRPr lang="en-US" kern="100" sz="800" b="1" cap="all" spc="125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71500" y="725449"/>
            <a:ext cx="5202920" cy="3438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Convert a wiki; let Claude </a:t>
            </a:r>
            <a:r>
              <a:rPr lang="en-US" kern="100" sz="2800" b="0" i="1" spc="-50" dirty="0">
                <a:solidFill>
                  <a:srgbClr val="C8623A"/>
                </a:solidFill>
                <a:latin typeface="Avenir Next"/>
                <a:ea typeface="Avenir Next"/>
                <a:cs typeface="Avenir Next"/>
              </a:rPr>
              <a:t>drive</a:t>
            </a:r>
            <a:r>
              <a:rPr lang="en-US" kern="100" sz="2800" b="0" spc="-50" dirty="0">
                <a:solidFill>
                  <a:srgbClr val="1B1D21"/>
                </a:solidFill>
                <a:latin typeface="Avenir Next Ultra Light"/>
                <a:ea typeface="Avenir Next Ultra Light"/>
                <a:cs typeface="Avenir Next Ultra Light"/>
              </a:rPr>
              <a:t> it.</a:t>
            </a:r>
            <a:endParaRPr lang="en-US" kern="100" sz="2800" b="0" spc="-50" dirty="0">
              <a:solidFill>
                <a:srgbClr val="1B1D21"/>
              </a:solidFill>
              <a:latin typeface="Avenir Next Ultra Light"/>
              <a:ea typeface="Avenir Next Ultra Light"/>
              <a:cs typeface="Avenir Next Ultra Ligh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571500" y="1841500"/>
            <a:ext cx="381000" cy="1905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571500" y="2159000"/>
            <a:ext cx="3530600" cy="1582341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1367" sy="80737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hape 6"/>
          <p:cNvSpPr/>
          <p:nvPr/>
        </p:nvSpPr>
        <p:spPr>
          <a:xfrm>
            <a:off x="574675" y="2162175"/>
            <a:ext cx="3524250" cy="1575991"/>
          </a:xfrm>
          <a:prstGeom prst="roundRect">
            <a:avLst>
              <a:gd name="adj" fmla="val 6245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4330700" y="2159000"/>
            <a:ext cx="3530600" cy="1582341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1367" sy="80737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4333875" y="2162175"/>
            <a:ext cx="3524250" cy="1575991"/>
          </a:xfrm>
          <a:prstGeom prst="roundRect">
            <a:avLst>
              <a:gd name="adj" fmla="val 6245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8089900" y="2159000"/>
            <a:ext cx="3530600" cy="1582341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>
            <a:noFill/>
          </a:ln>
          <a:effectLst>
            <a:outerShdw blurRad="411480" dist="114300" dir="5400000" sx="91367" sy="80737" algn="ctr" rotWithShape="0">
              <a:srgbClr val="1B1D21">
                <a:alpha val="18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8093075" y="2162175"/>
            <a:ext cx="3524250" cy="1575991"/>
          </a:xfrm>
          <a:prstGeom prst="roundRect">
            <a:avLst>
              <a:gd name="adj" fmla="val 6245"/>
            </a:avLst>
          </a:prstGeom>
          <a:noFill/>
          <a:ln w="6350">
            <a:solidFill>
              <a:srgbClr val="1B1D21">
                <a:alpha val="6000"/>
              </a:srgbClr>
            </a:solidFill>
            <a:miter lim="800000"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806450" y="2372487"/>
            <a:ext cx="435864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convert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806450" y="2528722"/>
            <a:ext cx="2290247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Markdown → HTML, in place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06450" y="2795705"/>
            <a:ext cx="3032956" cy="7344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Ids, metadata and links survive; log, index and search are rebuilt. No LLM. The markdown is kept in a backup folder; a customised 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CLAUDE.md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keeps your own sections.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4565650" y="2372487"/>
            <a:ext cx="312043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guide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4565650" y="2528722"/>
            <a:ext cx="1554520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The manual, built in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4565650" y="2801814"/>
            <a:ext cx="2800392" cy="5474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llm-wiki guide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prints eleven topics, with a command reference generated from the CLI itself; 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--json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for tools.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8324850" y="2372487"/>
            <a:ext cx="312043" cy="913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650" b="1" cap="all" spc="8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skill</a:t>
            </a:r>
            <a:endParaRPr lang="en-US" kern="100" sz="650" b="1" cap="all" spc="8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8324850" y="2528722"/>
            <a:ext cx="1078825" cy="192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300" b="0" dirty="0">
                <a:solidFill>
                  <a:srgbClr val="1B1D21"/>
                </a:solidFill>
                <a:latin typeface="Avenir Next Demi Bold"/>
                <a:ea typeface="Avenir Next Demi Bold"/>
                <a:cs typeface="Avenir Next Demi Bold"/>
              </a:rPr>
              <a:t>A Claude skill</a:t>
            </a:r>
            <a:endParaRPr lang="en-US" kern="100" sz="1300" b="0" dirty="0">
              <a:solidFill>
                <a:srgbClr val="1B1D21"/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8324850" y="2801814"/>
            <a:ext cx="2936105" cy="5537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pnpm skill:install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installs it for Claude Code: Claude picks the wiki, uses 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Courier New"/>
                <a:ea typeface="Courier New"/>
                <a:cs typeface="Courier New"/>
              </a:rPr>
              <a:t>--json</a:t>
            </a:r>
            <a:r>
              <a:rPr lang="en-US" kern="100" sz="950" b="0" dirty="0">
                <a:solidFill>
                  <a:srgbClr val="1B1D21">
                    <a:alpha val="78000"/>
                  </a:srgbClr>
                </a:solidFill>
                <a:latin typeface="Avenir Next"/>
                <a:ea typeface="Avenir Next"/>
                <a:cs typeface="Avenir Next"/>
              </a:rPr>
              <a:t> and keeps to the guardrails.</a:t>
            </a:r>
            <a:endParaRPr lang="en-US" kern="100" sz="950" b="0" dirty="0">
              <a:solidFill>
                <a:srgbClr val="1B1D21">
                  <a:alpha val="78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571500" y="4318000"/>
            <a:ext cx="11049000" cy="807641"/>
          </a:xfrm>
          <a:prstGeom prst="roundRect">
            <a:avLst>
              <a:gd name="adj" fmla="val 12580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800100" y="4493197"/>
            <a:ext cx="7932126" cy="436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--wiki notes convert --to html --dry-run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pages, unresolved links, schema plan</a:t>
            </a:r>
            <a:b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05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$ llm-wiki --wiki notes convert --to html             </a:t>
            </a:r>
            <a:r>
              <a:rPr lang="en-US" kern="100" sz="105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then: open ~/notes-wiki/wiki/index.html</a:t>
            </a:r>
            <a:endParaRPr lang="en-US" kern="100" sz="1050" b="0" dirty="0">
              <a:solidFill>
                <a:srgbClr val="F6F3EC">
                  <a:alpha val="50000"/>
                </a:srgbClr>
              </a:solidFill>
              <a:latin typeface="Menlo"/>
              <a:ea typeface="Menlo"/>
              <a:cs typeface="Menlo"/>
            </a:endParaRPr>
          </a:p>
        </p:txBody>
      </p:sp>
      <p:pic>
        <p:nvPicPr>
          <p:cNvPr id="22" name="Picture 22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6451600"/>
            <a:ext cx="900853" cy="17780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11704538" y="6459106"/>
            <a:ext cx="157262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55000"/>
                  </a:srgbClr>
                </a:solidFill>
                <a:latin typeface="Avenir Next Demi Bold"/>
                <a:ea typeface="Avenir Next Demi Bold"/>
                <a:cs typeface="Avenir Next Demi Bold"/>
              </a:rPr>
              <a:t>28</a:t>
            </a:r>
            <a:endParaRPr lang="en-US" kern="100" sz="900" b="0" spc="20" dirty="0">
              <a:solidFill>
                <a:srgbClr val="1B1D21">
                  <a:alpha val="55000"/>
                </a:srgbClr>
              </a:solidFill>
              <a:latin typeface="Avenir Next Demi Bold"/>
              <a:ea typeface="Avenir Next Demi Bold"/>
              <a:cs typeface="Avenir Next Demi Bold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1358900" y="6459106"/>
            <a:ext cx="1137539" cy="16076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15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900" b="0" spc="20" dirty="0">
                <a:solidFill>
                  <a:srgbClr val="1B1D21">
                    <a:alpha val="38500"/>
                  </a:srgbClr>
                </a:solidFill>
                <a:latin typeface="Avenir Next"/>
                <a:ea typeface="Avenir Next"/>
                <a:cs typeface="Avenir Next"/>
              </a:rPr>
              <a:t>llm-wiki · user guide</a:t>
            </a:r>
            <a:endParaRPr lang="en-US" kern="100" sz="900" b="0" spc="20" dirty="0">
              <a:solidFill>
                <a:srgbClr val="1B1D21">
                  <a:alpha val="385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779000" y="0"/>
            <a:ext cx="2413000" cy="2413000"/>
          </a:xfrm>
          <a:prstGeom prst="rect">
            <a:avLst/>
          </a:prstGeom>
          <a:solidFill>
            <a:srgbClr val="C8623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638747"/>
            <a:ext cx="917750" cy="1169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8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1" cap="all" spc="150" dirty="0">
                <a:solidFill>
                  <a:srgbClr val="C8623A"/>
                </a:solidFill>
                <a:latin typeface="Menlo"/>
                <a:ea typeface="Menlo"/>
                <a:cs typeface="Menlo"/>
              </a:rPr>
              <a:t>Cheat sheet</a:t>
            </a:r>
            <a:endParaRPr lang="en-US" kern="100" sz="800" b="1" cap="all" spc="150" dirty="0">
              <a:solidFill>
                <a:srgbClr val="C8623A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571500" y="995223"/>
            <a:ext cx="4207677" cy="8716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3600" b="0" spc="-75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  <a:t>Your documentation,</a:t>
            </a:r>
            <a:br>
              <a:rPr lang="en-US" kern="100" sz="3600" b="0" spc="-75" dirty="0">
                <a:solidFill>
                  <a:srgbClr val="F6F3EC"/>
                </a:solidFill>
                <a:latin typeface="Avenir Next Ultra Light"/>
                <a:ea typeface="Avenir Next Ultra Light"/>
                <a:cs typeface="Avenir Next Ultra Light"/>
              </a:rPr>
            </a:br>
            <a:r>
              <a:rPr lang="en-US" kern="100" sz="3600" b="0" i="1" spc="-75" dirty="0">
                <a:solidFill>
                  <a:srgbClr val="E08A5E"/>
                </a:solidFill>
                <a:latin typeface="Avenir Next"/>
                <a:ea typeface="Avenir Next"/>
                <a:cs typeface="Avenir Next"/>
              </a:rPr>
              <a:t>compiled.</a:t>
            </a:r>
            <a:endParaRPr lang="en-US" kern="100" sz="3600" b="0" i="1" spc="-75" dirty="0">
              <a:solidFill>
                <a:srgbClr val="E08A5E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5" name="Shape 5"/>
          <p:cNvSpPr/>
          <p:nvPr/>
        </p:nvSpPr>
        <p:spPr>
          <a:xfrm>
            <a:off x="571500" y="2540000"/>
            <a:ext cx="9525000" cy="2043013"/>
          </a:xfrm>
          <a:prstGeom prst="roundRect">
            <a:avLst>
              <a:gd name="adj" fmla="val 4973"/>
            </a:avLst>
          </a:prstGeom>
          <a:solidFill>
            <a:srgbClr val="1B1D21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0100" y="2716086"/>
            <a:ext cx="8047490" cy="167521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1416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llm-wiki init ~/notes --format markdown|html --name notes</a:t>
            </a:r>
            <a:b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llm-wiki --wiki notes ingest &lt;file&gt;     </a:t>
            </a:r>
            <a:r>
              <a:rPr lang="en-US" kern="100" sz="110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markdown, text, or PDF / DOCX via the parser model</a:t>
            </a:r>
            <a:b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llm-wiki --wiki notes search "&lt;terms&gt;"   </a:t>
            </a:r>
            <a:r>
              <a:rPr lang="en-US" kern="100" sz="110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--all-wikis · --mode hybrid after `index --embed`</a:t>
            </a:r>
            <a:b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llm-wiki --wiki notes query "&lt;q&gt;" --file </a:t>
            </a:r>
            <a:r>
              <a:rPr lang="en-US" kern="100" sz="110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cited answer, filed · --wikis a,b to ask several</a:t>
            </a:r>
            <a:b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llm-wiki --wiki notes lint --llm         </a:t>
            </a:r>
            <a:r>
              <a:rPr lang="en-US" kern="100" sz="110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contradictions, gaps, next questions</a:t>
            </a:r>
            <a:b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llm-wiki --wiki notes convert --to html  </a:t>
            </a:r>
            <a:r>
              <a:rPr lang="en-US" kern="100" sz="110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make a markdown wiki browsable</a:t>
            </a:r>
            <a:b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</a:br>
            <a:r>
              <a:rPr lang="en-US" kern="100" sz="1100" b="0" dirty="0">
                <a:solidFill>
                  <a:srgbClr val="F6F3EC"/>
                </a:solidFill>
                <a:latin typeface="Menlo"/>
                <a:ea typeface="Menlo"/>
                <a:cs typeface="Menlo"/>
              </a:rPr>
              <a:t>llm-wiki guide  ·  llm-wiki mcp          </a:t>
            </a:r>
            <a:r>
              <a:rPr lang="en-US" kern="100" sz="1100" b="0" dirty="0">
                <a:solidFill>
                  <a:srgbClr val="F6F3EC">
                    <a:alpha val="50000"/>
                  </a:srgbClr>
                </a:solidFill>
                <a:latin typeface="Menlo"/>
                <a:ea typeface="Menlo"/>
                <a:cs typeface="Menlo"/>
              </a:rPr>
              <a:t># the manual · tools for your agent</a:t>
            </a:r>
            <a:endParaRPr lang="en-US" kern="100" sz="1100" b="0" dirty="0">
              <a:solidFill>
                <a:srgbClr val="F6F3EC">
                  <a:alpha val="50000"/>
                </a:srgbClr>
              </a:solidFill>
              <a:latin typeface="Menlo"/>
              <a:ea typeface="Menlo"/>
              <a:cs typeface="Menlo"/>
            </a:endParaRPr>
          </a:p>
        </p:txBody>
      </p:sp>
      <p:pic>
        <p:nvPicPr>
          <p:cNvPr id="7" name="Picture 7" descr="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1500" y="5994400"/>
            <a:ext cx="1801707" cy="3556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0096214" y="6041288"/>
            <a:ext cx="1524286" cy="15631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0" spc="20" dirty="0">
                <a:solidFill>
                  <a:srgbClr val="F6F3EC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github.com/BikS2013/llm-wiki</a:t>
            </a:r>
            <a:endParaRPr lang="en-US" kern="100" sz="800" b="0" spc="20" dirty="0">
              <a:solidFill>
                <a:srgbClr val="F6F3EC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9931837" y="6193688"/>
            <a:ext cx="1688663" cy="15631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sz="800" b="0" spc="20" dirty="0">
                <a:solidFill>
                  <a:srgbClr val="F6F3EC">
                    <a:alpha val="70000"/>
                  </a:srgbClr>
                </a:solidFill>
                <a:latin typeface="Avenir Next"/>
                <a:ea typeface="Avenir Next"/>
                <a:cs typeface="Avenir Next"/>
              </a:rPr>
              <a:t>Pattern: Karpathy, LLM Wiki, 2026</a:t>
            </a:r>
            <a:endParaRPr lang="en-US" kern="100" sz="800" b="0" spc="20" dirty="0">
              <a:solidFill>
                <a:srgbClr val="F6F3EC">
                  <a:alpha val="70000"/>
                </a:srgbClr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BG Design">
  <a:themeElements>
    <a:clrScheme name="NBG Design">
      <a:dk1>
        <a:srgbClr val="111316"/>
      </a:dk1>
      <a:lt1>
        <a:srgbClr val="FFFFFF"/>
      </a:lt1>
      <a:dk2>
        <a:srgbClr val="1B1D21"/>
      </a:dk2>
      <a:lt2>
        <a:srgbClr val="F6F3EC"/>
      </a:lt2>
      <a:accent1>
        <a:srgbClr val="C8623A"/>
      </a:accent1>
      <a:accent2>
        <a:srgbClr val="1B1D21"/>
      </a:accent2>
      <a:accent3>
        <a:srgbClr val="E08A5E"/>
      </a:accent3>
      <a:accent4>
        <a:srgbClr val="E3A64A"/>
      </a:accent4>
      <a:accent5>
        <a:srgbClr val="6E7379"/>
      </a:accent5>
      <a:accent6>
        <a:srgbClr val="111316"/>
      </a:accent6>
      <a:hlink>
        <a:srgbClr val="C8623A"/>
      </a:hlink>
      <a:folHlink>
        <a:srgbClr val="1B1D21"/>
      </a:folHlink>
    </a:clrScheme>
    <a:fontScheme name="NBG Design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BG Design">
  <a:themeElements>
    <a:clrScheme name="NBG Design">
      <a:dk1>
        <a:srgbClr val="111316"/>
      </a:dk1>
      <a:lt1>
        <a:srgbClr val="FFFFFF"/>
      </a:lt1>
      <a:dk2>
        <a:srgbClr val="1B1D21"/>
      </a:dk2>
      <a:lt2>
        <a:srgbClr val="F6F3EC"/>
      </a:lt2>
      <a:accent1>
        <a:srgbClr val="C8623A"/>
      </a:accent1>
      <a:accent2>
        <a:srgbClr val="1B1D21"/>
      </a:accent2>
      <a:accent3>
        <a:srgbClr val="E08A5E"/>
      </a:accent3>
      <a:accent4>
        <a:srgbClr val="E3A64A"/>
      </a:accent4>
      <a:accent5>
        <a:srgbClr val="6E7379"/>
      </a:accent5>
      <a:accent6>
        <a:srgbClr val="111316"/>
      </a:accent6>
      <a:hlink>
        <a:srgbClr val="C8623A"/>
      </a:hlink>
      <a:folHlink>
        <a:srgbClr val="1B1D21"/>
      </a:folHlink>
    </a:clrScheme>
    <a:fontScheme name="NBG Design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NBG Design export-pptx</Application>
  <Slides>29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 — User guide</dc:title>
  <dc:creator>NBG Design</dc:creator>
  <dcterms:created xsi:type="dcterms:W3CDTF">2026-10-17T02:43:49Z</dcterms:created>
  <dcterms:modified xsi:type="dcterms:W3CDTF">2026-10-17T02:43:49Z</dcterms:modified>
</cp:coreProperties>
</file>